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12343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1234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SalesGenie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Installation Guide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install — from zero to running.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822960" cy="822960"/>
          </a:xfrm>
          <a:prstGeom prst="ellipse">
            <a:avLst/>
          </a:prstGeom>
          <a:solidFill>
            <a:srgbClr val="12343B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36168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14600" y="4160520"/>
            <a:ext cx="822960" cy="822960"/>
          </a:xfrm>
          <a:prstGeom prst="ellipse">
            <a:avLst/>
          </a:prstGeom>
          <a:solidFill>
            <a:srgbClr val="12343B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436168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06240" y="4160520"/>
            <a:ext cx="822960" cy="822960"/>
          </a:xfrm>
          <a:prstGeom prst="ellipse">
            <a:avLst/>
          </a:prstGeom>
          <a:solidFill>
            <a:srgbClr val="12343B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43616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7764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897880" y="4160520"/>
            <a:ext cx="822960" cy="822960"/>
          </a:xfrm>
          <a:prstGeom prst="ellipse">
            <a:avLst/>
          </a:prstGeom>
          <a:solidFill>
            <a:srgbClr val="12343B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436168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589520" y="4160520"/>
            <a:ext cx="822960" cy="822960"/>
          </a:xfrm>
          <a:prstGeom prst="ellipse">
            <a:avLst/>
          </a:prstGeom>
          <a:solidFill>
            <a:srgbClr val="12343B"/>
          </a:solidFill>
          <a:ln w="15875">
            <a:solidFill>
              <a:srgbClr val="02809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4361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6092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packages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2296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student-friendly walkthrough for Python, VS Code, PostgreSQL, Git &amp; the OpenAI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Install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tools, installed once, used for the whole project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20624" y="160020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60704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121408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20824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57784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03504" y="3429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 we use to write all the logic.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24912" y="160020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64992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1214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25112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862072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907792" y="3429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 where we write and run our code.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0" y="160020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669280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12140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294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16636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212080" y="3429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that stores all of our application's data.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33488" y="160020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973568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2121408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3368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470648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516368" y="3429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and lets us upload our code to GitHub.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9637776" y="1600200"/>
            <a:ext cx="2103120" cy="4114800"/>
          </a:xfrm>
          <a:prstGeom prst="roundRect">
            <a:avLst>
              <a:gd name="adj" fmla="val 434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277856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24" y="2121408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237976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774936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 packages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9820656" y="3429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that power the AI, the API, and the UI.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Install Python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 behind SalesGenie AI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Python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31546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python.org/downloads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yellow "Download Python 3.11" button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downloads (~25 MB)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6002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312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45312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65192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Python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221992"/>
            <a:ext cx="31546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downloaded file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"Add Python to PATH" — do this BEFORE clicking Install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"Install Now" and wait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Close when finished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16002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4788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24788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9952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 Worked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47888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Win + R, type cmd, press Enter, then run: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47888" y="2788920"/>
            <a:ext cx="3200400" cy="1417320"/>
          </a:xfrm>
          <a:prstGeom prst="roundRect">
            <a:avLst>
              <a:gd name="adj" fmla="val 3871"/>
            </a:avLst>
          </a:prstGeom>
          <a:solidFill>
            <a:srgbClr val="0B2027"/>
          </a:solidFill>
          <a:ln/>
        </p:spPr>
      </p:sp>
      <p:sp>
        <p:nvSpPr>
          <p:cNvPr id="22" name="Shape 19"/>
          <p:cNvSpPr/>
          <p:nvPr/>
        </p:nvSpPr>
        <p:spPr>
          <a:xfrm>
            <a:off x="8412480" y="291693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3" name="Shape 20"/>
          <p:cNvSpPr/>
          <p:nvPr/>
        </p:nvSpPr>
        <p:spPr>
          <a:xfrm>
            <a:off x="8613648" y="291693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4" name="Shape 21"/>
          <p:cNvSpPr/>
          <p:nvPr/>
        </p:nvSpPr>
        <p:spPr>
          <a:xfrm>
            <a:off x="8814816" y="291693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2"/>
          <p:cNvSpPr/>
          <p:nvPr/>
        </p:nvSpPr>
        <p:spPr>
          <a:xfrm>
            <a:off x="8449056" y="3136392"/>
            <a:ext cx="2798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--version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3.11.5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4434840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641080" y="4434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that — Python is installed!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Install VS Code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 where we'll write every line of code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VS Code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320040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code.visualstudio.com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"Download for Windows"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downloaded file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160020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312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45312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65192" y="17830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VS Code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221992"/>
            <a:ext cx="320040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Next on every screen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"Select Additional Tasks" — tick ALL boxes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Install, then Finish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opens automatically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16002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4788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24788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9952" y="1783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Python Extension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21040" y="2221992"/>
            <a:ext cx="31546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4-squares Extensions icon (left sidebar)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Python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first result (by Microsoft)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 — Install PostgreSQL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that stores all of SalesGenie's data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PostgreSQL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31089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postgresql.org/download/windows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"Download the installer"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version 15 or 16, Windows x86-64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6052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36168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73752" y="1783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PostgreSQL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34840" y="2221992"/>
            <a:ext cx="31089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file, click Next each screen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password: admin123 — remember it!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port as 5432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Install, wait 2–3 min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 "Stack Builder" → Finish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160020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E6F5F3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6500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0650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77072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Database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138160" y="2221992"/>
            <a:ext cx="33375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pgAdmin 4 (search from Windows key)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Servers → PostgreSQL 15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password: admin123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Databases → Create → Database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it: salesgenie → Save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 — Install Git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and uploads our code to GitHub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Git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22402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git-scm.com/download/win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download link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downloaded file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600200"/>
            <a:ext cx="2743200" cy="4206240"/>
          </a:xfrm>
          <a:prstGeom prst="roundRect">
            <a:avLst>
              <a:gd name="adj" fmla="val 2667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3872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353872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50792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Git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11880" y="2221992"/>
            <a:ext cx="22402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Next on every screen (defaults are fine)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Finish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1908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641908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372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It Worked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19088" y="2331720"/>
            <a:ext cx="2286000" cy="1417320"/>
          </a:xfrm>
          <a:prstGeom prst="roundRect">
            <a:avLst>
              <a:gd name="adj" fmla="val 3871"/>
            </a:avLst>
          </a:prstGeom>
          <a:solidFill>
            <a:srgbClr val="0B2027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0" y="245973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2" name="Shape 19"/>
          <p:cNvSpPr/>
          <p:nvPr/>
        </p:nvSpPr>
        <p:spPr>
          <a:xfrm>
            <a:off x="6784848" y="245973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3" name="Shape 20"/>
          <p:cNvSpPr/>
          <p:nvPr/>
        </p:nvSpPr>
        <p:spPr>
          <a:xfrm>
            <a:off x="6986016" y="245973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6620256" y="2679192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2.43.0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393192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48272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installed!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9052560" y="16002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E6F5F3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925372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5"/>
          <p:cNvSpPr/>
          <p:nvPr/>
        </p:nvSpPr>
        <p:spPr>
          <a:xfrm>
            <a:off x="925372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765792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Setup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9326880" y="2221992"/>
            <a:ext cx="21488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Command Prompt, set your identity: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9189720" y="2926080"/>
            <a:ext cx="2377440" cy="2651760"/>
          </a:xfrm>
          <a:prstGeom prst="roundRect">
            <a:avLst>
              <a:gd name="adj" fmla="val 2308"/>
            </a:avLst>
          </a:prstGeom>
          <a:solidFill>
            <a:srgbClr val="0B2027"/>
          </a:solidFill>
          <a:ln/>
        </p:spPr>
      </p:sp>
      <p:sp>
        <p:nvSpPr>
          <p:cNvPr id="33" name="Shape 29"/>
          <p:cNvSpPr/>
          <p:nvPr/>
        </p:nvSpPr>
        <p:spPr>
          <a:xfrm>
            <a:off x="9354312" y="305409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4" name="Shape 30"/>
          <p:cNvSpPr/>
          <p:nvPr/>
        </p:nvSpPr>
        <p:spPr>
          <a:xfrm>
            <a:off x="9555480" y="305409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5" name="Shape 31"/>
          <p:cNvSpPr/>
          <p:nvPr/>
        </p:nvSpPr>
        <p:spPr>
          <a:xfrm>
            <a:off x="9756648" y="305409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2"/>
          <p:cNvSpPr/>
          <p:nvPr/>
        </p:nvSpPr>
        <p:spPr>
          <a:xfrm>
            <a:off x="9390888" y="3273552"/>
            <a:ext cx="1975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user.name "Your Name"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user.email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"you@gmail.com"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5 &amp; 6 — Project Folder &amp; Virtual Env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clean, isolated workspace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14–15 · Create the Project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2240280"/>
            <a:ext cx="4937760" cy="2103120"/>
          </a:xfrm>
          <a:prstGeom prst="roundRect">
            <a:avLst>
              <a:gd name="adj" fmla="val 2609"/>
            </a:avLst>
          </a:prstGeom>
          <a:solidFill>
            <a:srgbClr val="0B2027"/>
          </a:solidFill>
          <a:ln/>
        </p:spPr>
      </p:sp>
      <p:sp>
        <p:nvSpPr>
          <p:cNvPr id="9" name="Shape 6"/>
          <p:cNvSpPr/>
          <p:nvPr/>
        </p:nvSpPr>
        <p:spPr>
          <a:xfrm>
            <a:off x="850392" y="236829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236829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Shape 8"/>
          <p:cNvSpPr/>
          <p:nvPr/>
        </p:nvSpPr>
        <p:spPr>
          <a:xfrm>
            <a:off x="1252728" y="236829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86968" y="2587752"/>
            <a:ext cx="45354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Desktop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salesgenie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salesgenie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code 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opens with your project folder ready to go.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6002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E6F5F3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16–18 · Virtual Environment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63640" y="21945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separate clean room just for this project — packages stay contained and your computer stays organized.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63640" y="2880360"/>
            <a:ext cx="5212080" cy="1188720"/>
          </a:xfrm>
          <a:prstGeom prst="roundRect">
            <a:avLst>
              <a:gd name="adj" fmla="val 4615"/>
            </a:avLst>
          </a:prstGeom>
          <a:solidFill>
            <a:srgbClr val="0B20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428232" y="300837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9" name="Shape 16"/>
          <p:cNvSpPr/>
          <p:nvPr/>
        </p:nvSpPr>
        <p:spPr>
          <a:xfrm>
            <a:off x="6629400" y="300837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0" name="Shape 17"/>
          <p:cNvSpPr/>
          <p:nvPr/>
        </p:nvSpPr>
        <p:spPr>
          <a:xfrm>
            <a:off x="6830568" y="300837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3227832"/>
            <a:ext cx="4809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venv venv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4187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it: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63640" y="448056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0B2027"/>
          </a:solidFill>
          <a:ln/>
        </p:spPr>
      </p:sp>
      <p:sp>
        <p:nvSpPr>
          <p:cNvPr id="24" name="Shape 21"/>
          <p:cNvSpPr/>
          <p:nvPr/>
        </p:nvSpPr>
        <p:spPr>
          <a:xfrm>
            <a:off x="6428232" y="460857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5" name="Shape 22"/>
          <p:cNvSpPr/>
          <p:nvPr/>
        </p:nvSpPr>
        <p:spPr>
          <a:xfrm>
            <a:off x="6629400" y="460857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6" name="Shape 23"/>
          <p:cNvSpPr/>
          <p:nvPr/>
        </p:nvSpPr>
        <p:spPr>
          <a:xfrm>
            <a:off x="6830568" y="460857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6464808" y="482803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\activate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961120" y="448056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0B2027"/>
          </a:solidFill>
          <a:ln/>
        </p:spPr>
      </p:sp>
      <p:sp>
        <p:nvSpPr>
          <p:cNvPr id="29" name="Shape 26"/>
          <p:cNvSpPr/>
          <p:nvPr/>
        </p:nvSpPr>
        <p:spPr>
          <a:xfrm>
            <a:off x="9125712" y="460857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0" name="Shape 27"/>
          <p:cNvSpPr/>
          <p:nvPr/>
        </p:nvSpPr>
        <p:spPr>
          <a:xfrm>
            <a:off x="9326880" y="460857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1" name="Shape 28"/>
          <p:cNvSpPr/>
          <p:nvPr/>
        </p:nvSpPr>
        <p:spPr>
          <a:xfrm>
            <a:off x="9528048" y="460857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9"/>
          <p:cNvSpPr/>
          <p:nvPr/>
        </p:nvSpPr>
        <p:spPr>
          <a:xfrm>
            <a:off x="9162288" y="4828032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Mac/Linux: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bin/activate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7 — Install Python Packages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installs every library the app needs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19 · Make sure (venv) is active in your terminal, then run: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0B2027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209397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09397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Shape 7"/>
          <p:cNvSpPr/>
          <p:nvPr/>
        </p:nvSpPr>
        <p:spPr>
          <a:xfrm>
            <a:off x="1024128" y="209397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313432"/>
            <a:ext cx="10844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(venv) $ pip install fastapi uvicorn sqlalchemy psycopg2-binary python-dotenv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openai langchain langgraph streamlit pandas requests pydantic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python-multipart httpx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2–5 minutes. Step 20 · Verify with pip list — look for these key packages: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38862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012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41833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11480" y="49651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our backend API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267712" y="38862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907792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092" y="418338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67712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359152" y="49651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FastAPI server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215384" y="38862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55464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41833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15384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306824" y="49651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PostgreSQL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163056" y="38862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03136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436" y="418338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63056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254496" y="49651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GPT models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110728" y="38862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750808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418338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110728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8202168" y="49651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frontend UI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10058400" y="388620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69848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2780" y="4183380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058400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10149840" y="49651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AI logic together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8 — Get Your OpenAI API Key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credential that lets our app talk to GPT models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 OpenAI Account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48920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platform.openai.com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Up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with your email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160020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3620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2362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48272" y="1783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the API Key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63640" y="228600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profile icon (top right)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"API Keys"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"Create new secret key"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it: salesgenie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39776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BEDE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16052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key NOW — you can only see it once!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46520" y="4709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looks like: sk-proj-xxxxxxxxxxxxxxxxxxxx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9 — Create the .env File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secrets like API keys out of your code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File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36118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Code, right-click the file explorer panel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File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exactly: .env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your secrets (next panel)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46320" y="1600200"/>
            <a:ext cx="6858000" cy="4206240"/>
          </a:xfrm>
          <a:prstGeom prst="roundRect">
            <a:avLst>
              <a:gd name="adj" fmla="val 1739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749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  contents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74920" y="2286000"/>
            <a:ext cx="6400800" cy="1508760"/>
          </a:xfrm>
          <a:prstGeom prst="roundRect">
            <a:avLst>
              <a:gd name="adj" fmla="val 3636"/>
            </a:avLst>
          </a:prstGeom>
          <a:solidFill>
            <a:srgbClr val="0B2027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512" y="241401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40680" y="241401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6" name="Shape 13"/>
          <p:cNvSpPr/>
          <p:nvPr/>
        </p:nvSpPr>
        <p:spPr>
          <a:xfrm>
            <a:off x="5641848" y="241401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5276088" y="2633472"/>
            <a:ext cx="5998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OPENAI_API_KEY=sk-proj-your-key-here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DATABASE_URL=postgresql://postgres:admin123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@localhost:5432/salesgenie</a:t>
            </a:r>
            <a:endParaRPr lang="en-US" sz="12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97764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3959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sk-proj-your-key-here with your real OpenAI key.</a:t>
            </a:r>
            <a:endParaRPr lang="en-US" sz="11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37083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86400" y="43525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admin123 with your PostgreSQL password, if different.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074920" y="48463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file should never be uploaded to GitHub — it holds your secrets.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10 — Project Structure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24 · Building the folders and files with the terminal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these in the VS Code terminal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4663440" cy="3566160"/>
          </a:xfrm>
          <a:prstGeom prst="roundRect">
            <a:avLst>
              <a:gd name="adj" fmla="val 1538"/>
            </a:avLst>
          </a:prstGeom>
          <a:solidFill>
            <a:srgbClr val="0B2027"/>
          </a:solidFill>
          <a:ln/>
        </p:spPr>
      </p:sp>
      <p:sp>
        <p:nvSpPr>
          <p:cNvPr id="9" name="Shape 6"/>
          <p:cNvSpPr/>
          <p:nvPr/>
        </p:nvSpPr>
        <p:spPr>
          <a:xfrm>
            <a:off x="850392" y="232257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232257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Shape 8"/>
          <p:cNvSpPr/>
          <p:nvPr/>
        </p:nvSpPr>
        <p:spPr>
          <a:xfrm>
            <a:off x="1252728" y="232257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86968" y="2542032"/>
            <a:ext cx="42611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database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modules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main.py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app.py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run_all.py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database\models.py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database\connection.py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modules\module1_leads.py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modules\...(module 2–6)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database\__init__.py</a:t>
            </a:r>
            <a:endParaRPr lang="en-US" sz="10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type nul &gt; modules\__init__.py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760720" y="1600200"/>
            <a:ext cx="5943600" cy="4251960"/>
          </a:xfrm>
          <a:prstGeom prst="roundRect">
            <a:avLst>
              <a:gd name="adj" fmla="val 1720"/>
            </a:avLst>
          </a:prstGeom>
          <a:solidFill>
            <a:srgbClr val="E6F5F3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893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Resulting folder structure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89320" y="219456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salesgenie/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run_all.py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venv/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__init__.py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connection.py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modules/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__init__.py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module1_leads.py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module2_intelligence.py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module3_outreach.py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module4_scoring.py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module5_conversation.py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module6_dashboard.py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11 — Test Everything Is Working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25–26 · Confirm the database and OpenAI connections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1 · Database Connection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8580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test_connection.py, then run it: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85800" y="251460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B2027"/>
          </a:solidFill>
          <a:ln/>
        </p:spPr>
      </p:sp>
      <p:sp>
        <p:nvSpPr>
          <p:cNvPr id="11" name="Shape 7"/>
          <p:cNvSpPr/>
          <p:nvPr/>
        </p:nvSpPr>
        <p:spPr>
          <a:xfrm>
            <a:off x="850392" y="264261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2" name="Shape 8"/>
          <p:cNvSpPr/>
          <p:nvPr/>
        </p:nvSpPr>
        <p:spPr>
          <a:xfrm>
            <a:off x="1051560" y="264261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Shape 9"/>
          <p:cNvSpPr/>
          <p:nvPr/>
        </p:nvSpPr>
        <p:spPr>
          <a:xfrm>
            <a:off x="1252728" y="264261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886968" y="2862072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test_connection.py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3383280"/>
            <a:ext cx="5029200" cy="731520"/>
          </a:xfrm>
          <a:prstGeom prst="roundRect">
            <a:avLst>
              <a:gd name="adj" fmla="val 7500"/>
            </a:avLst>
          </a:prstGeom>
          <a:solidFill>
            <a:srgbClr val="0B2027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392" y="351129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7" name="Shape 13"/>
          <p:cNvSpPr/>
          <p:nvPr/>
        </p:nvSpPr>
        <p:spPr>
          <a:xfrm>
            <a:off x="1051560" y="351129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8" name="Shape 14"/>
          <p:cNvSpPr/>
          <p:nvPr/>
        </p:nvSpPr>
        <p:spPr>
          <a:xfrm>
            <a:off x="1252728" y="351129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5"/>
          <p:cNvSpPr/>
          <p:nvPr/>
        </p:nvSpPr>
        <p:spPr>
          <a:xfrm>
            <a:off x="886968" y="373075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Database connected successfully!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85800" y="4297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uses SQLAlchemy to open a connection using DATABASE_URL from your .env file.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17920" y="160020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E6F5F3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8308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2 · OpenAI API Key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4652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test_openai.py, then run it: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46520" y="251460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B2027"/>
          </a:solidFill>
          <a:ln/>
        </p:spPr>
      </p:sp>
      <p:sp>
        <p:nvSpPr>
          <p:cNvPr id="26" name="Shape 21"/>
          <p:cNvSpPr/>
          <p:nvPr/>
        </p:nvSpPr>
        <p:spPr>
          <a:xfrm>
            <a:off x="6611112" y="264261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7" name="Shape 22"/>
          <p:cNvSpPr/>
          <p:nvPr/>
        </p:nvSpPr>
        <p:spPr>
          <a:xfrm>
            <a:off x="6812280" y="264261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8" name="Shape 23"/>
          <p:cNvSpPr/>
          <p:nvPr/>
        </p:nvSpPr>
        <p:spPr>
          <a:xfrm>
            <a:off x="7013448" y="264261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4"/>
          <p:cNvSpPr/>
          <p:nvPr/>
        </p:nvSpPr>
        <p:spPr>
          <a:xfrm>
            <a:off x="6647688" y="2862072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test_openai.py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446520" y="338328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0B2027"/>
          </a:solidFill>
          <a:ln/>
        </p:spPr>
      </p:sp>
      <p:sp>
        <p:nvSpPr>
          <p:cNvPr id="31" name="Shape 26"/>
          <p:cNvSpPr/>
          <p:nvPr/>
        </p:nvSpPr>
        <p:spPr>
          <a:xfrm>
            <a:off x="6611112" y="351129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2" name="Shape 27"/>
          <p:cNvSpPr/>
          <p:nvPr/>
        </p:nvSpPr>
        <p:spPr>
          <a:xfrm>
            <a:off x="6812280" y="351129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33" name="Shape 28"/>
          <p:cNvSpPr/>
          <p:nvPr/>
        </p:nvSpPr>
        <p:spPr>
          <a:xfrm>
            <a:off x="7013448" y="351129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9"/>
          <p:cNvSpPr/>
          <p:nvPr/>
        </p:nvSpPr>
        <p:spPr>
          <a:xfrm>
            <a:off x="6647688" y="3730752"/>
            <a:ext cx="4626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OpenAI API working!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Hello! How can I help you today?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446520" y="4572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sends a tiny "Say hello" prompt to gpt-3.5-turbo to confirm your key works.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12 — GitHub Setup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27–29 · Back up and version-control your code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783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GitHub Account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221992"/>
            <a:ext cx="31089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github.com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Up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6052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36168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73752" y="1783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Repository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34840" y="2221992"/>
            <a:ext cx="310896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+ button (top right)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Repository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it: salesgenie-ai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Private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Repository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160020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2F8F7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65008" y="18013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80650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549640" y="1783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Push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065008" y="2286000"/>
            <a:ext cx="3429000" cy="3429000"/>
          </a:xfrm>
          <a:prstGeom prst="roundRect">
            <a:avLst>
              <a:gd name="adj" fmla="val 1600"/>
            </a:avLst>
          </a:prstGeom>
          <a:solidFill>
            <a:srgbClr val="0B2027"/>
          </a:solidFill>
          <a:ln/>
        </p:spPr>
      </p:sp>
      <p:sp>
        <p:nvSpPr>
          <p:cNvPr id="21" name="Shape 18"/>
          <p:cNvSpPr/>
          <p:nvPr/>
        </p:nvSpPr>
        <p:spPr>
          <a:xfrm>
            <a:off x="8229600" y="241401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2" name="Shape 19"/>
          <p:cNvSpPr/>
          <p:nvPr/>
        </p:nvSpPr>
        <p:spPr>
          <a:xfrm>
            <a:off x="8430768" y="2414016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23" name="Shape 20"/>
          <p:cNvSpPr/>
          <p:nvPr/>
        </p:nvSpPr>
        <p:spPr>
          <a:xfrm>
            <a:off x="8631936" y="2414016"/>
            <a:ext cx="100584" cy="10058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8266176" y="2633472"/>
            <a:ext cx="30266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"Initial setup"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&lt;your-repo-url&gt;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03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13 — Run the Project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30 · The routine every time you open your project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9496" y="16916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07592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20482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0936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Terminal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76656" y="301752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Prompt or VS Code Terminal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2628900" y="28346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788920" y="16916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E6F5F3"/>
          </a:solidFill>
          <a:ln/>
          <a:effectLst>
            <a:outerShdw sx="100000" sy="100000" kx="0" ky="0" algn="bl" rotWithShape="0" blurRad="508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57016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20482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803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880360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Project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01752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Desktop\salesgenie</a:t>
            </a:r>
            <a:endParaRPr lang="en-US" sz="930" dirty="0"/>
          </a:p>
        </p:txBody>
      </p:sp>
      <p:sp>
        <p:nvSpPr>
          <p:cNvPr id="19" name="Text 14"/>
          <p:cNvSpPr/>
          <p:nvPr/>
        </p:nvSpPr>
        <p:spPr>
          <a:xfrm>
            <a:off x="4878324" y="28346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5038344" y="16916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80644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204825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29784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129784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venv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175504" y="301752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endParaRPr lang="en-US" sz="930" dirty="0"/>
          </a:p>
        </p:txBody>
      </p:sp>
      <p:sp>
        <p:nvSpPr>
          <p:cNvPr id="26" name="Text 20"/>
          <p:cNvSpPr/>
          <p:nvPr/>
        </p:nvSpPr>
        <p:spPr>
          <a:xfrm>
            <a:off x="7127748" y="28346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287768" y="16916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E6F5F3"/>
          </a:solidFill>
          <a:ln/>
          <a:effectLst>
            <a:outerShdw sx="100000" sy="100000" kx="0" ky="0" algn="bl" rotWithShape="0" blurRad="50800" dist="25400" dir="2700000">
              <a:srgbClr val="000000">
                <a:alpha val="9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055864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048256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79208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379208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Backend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424928" y="301752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930" dirty="0"/>
          </a:p>
        </p:txBody>
      </p:sp>
      <p:sp>
        <p:nvSpPr>
          <p:cNvPr id="33" name="Text 26"/>
          <p:cNvSpPr/>
          <p:nvPr/>
        </p:nvSpPr>
        <p:spPr>
          <a:xfrm>
            <a:off x="9377172" y="28346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9537192" y="1691640"/>
            <a:ext cx="2084832" cy="2743200"/>
          </a:xfrm>
          <a:prstGeom prst="roundRect">
            <a:avLst>
              <a:gd name="adj" fmla="val 4386"/>
            </a:avLst>
          </a:prstGeom>
          <a:solidFill>
            <a:srgbClr val="F2F8F7"/>
          </a:solidFill>
          <a:ln/>
          <a:effectLst>
            <a:outerShdw sx="100000" sy="100000" kx="0" ky="0" algn="bl" rotWithShape="0" blurRad="508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305288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3304" y="2048256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628632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9628632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Frontend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674352" y="3017520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3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 (2nd terminal)</a:t>
            </a:r>
            <a:endParaRPr lang="en-US" sz="930" dirty="0"/>
          </a:p>
        </p:txBody>
      </p:sp>
      <p:sp>
        <p:nvSpPr>
          <p:cNvPr id="40" name="Shape 32"/>
          <p:cNvSpPr/>
          <p:nvPr/>
        </p:nvSpPr>
        <p:spPr>
          <a:xfrm>
            <a:off x="1737360" y="4709160"/>
            <a:ext cx="8686800" cy="1097280"/>
          </a:xfrm>
          <a:prstGeom prst="roundRect">
            <a:avLst>
              <a:gd name="adj" fmla="val 6667"/>
            </a:avLst>
          </a:prstGeom>
          <a:solidFill>
            <a:srgbClr val="0B2027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4937760"/>
            <a:ext cx="292608" cy="29260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377440" y="4892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UI: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http://localhost:8501</a:t>
            </a:r>
            <a:endParaRPr lang="en-US" sz="1300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5960" y="5349240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377440" y="5349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Docs: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http://localhost:8000/docs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Checklist — Before Every Session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this before you start coding each day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2F8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83664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173736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installed (python --version)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217920" y="173736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2F8F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883664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39712" y="173736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installed (project folder opens)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251460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2F8F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660904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25146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running (pgAdmin shows salesgenie database)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217920" y="251460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2F8F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660904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39712" y="25146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 activated — you see (venv) in the terminal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457200" y="329184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2F8F7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438144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78992" y="32918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.env file has OPENAI_API_KEY and DATABASE_URL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6217920" y="329184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2F8F7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438144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39712" y="329184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running (uvicorn main:app --reload)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457200" y="4069080"/>
            <a:ext cx="5486400" cy="621792"/>
          </a:xfrm>
          <a:prstGeom prst="roundRect">
            <a:avLst>
              <a:gd name="adj" fmla="val 11765"/>
            </a:avLst>
          </a:prstGeom>
          <a:solidFill>
            <a:srgbClr val="F2F8F7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215384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78992" y="406908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running (streamlit run app.py)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48640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and Fixes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863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panic — most errors have a one-line solution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206240"/>
        </p:xfrm>
        <a:graphic>
          <a:graphicData uri="http://schemas.openxmlformats.org/drawingml/2006/table">
            <a:tbl>
              <a:tblPr/>
              <a:tblGrid>
                <a:gridCol w="5029200"/>
                <a:gridCol w="58521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is not recognized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Reinstall Python and tick "Add to PATH"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module named 'fastapi'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sure venv is active, run pip install again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refused (PostgreSQL)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pgAdmin and check PostgreSQL is running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API Key (OpenAI)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your .env file has the correct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ModuleNotFoundError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sure you are inside the salesgenie folder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already in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Another app is using port 8000 — restart 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Installation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steps, start to finish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51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PostgreSQL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1181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685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folder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virtual env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86460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8188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virtual env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7960" y="14630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pip packages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7960" y="20299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OpenAI API key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37960" y="259689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2551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.env file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537960" y="316382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31181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files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537960" y="373075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40880" y="3685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connections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537960" y="42976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40880" y="4251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GitHub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537960" y="486460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40880" y="48188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project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  •  Installation Guide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12343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1234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146304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580" y="17602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 to Build!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VS Code  •  PostgreSQL  •  Git  •  OpenAI  •  GitHub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Re-check the Common Errors table before asking for help.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SalesGenie AI - Complete Installation Guide</dc:title>
  <dc:subject>PptxGenJS Presentation</dc:subject>
  <dc:creator>SalesGenie AI</dc:creator>
  <cp:lastModifiedBy>SalesGenie AI</cp:lastModifiedBy>
  <cp:revision>1</cp:revision>
  <dcterms:created xsi:type="dcterms:W3CDTF">2026-07-06T06:09:56Z</dcterms:created>
  <dcterms:modified xsi:type="dcterms:W3CDTF">2026-07-06T06:09:56Z</dcterms:modified>
</cp:coreProperties>
</file>