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Calibri (MS) Bold" charset="1" panose="020F0702030404030204"/>
      <p:regular r:id="rId20"/>
    </p:embeddedFont>
    <p:embeddedFont>
      <p:font typeface="Cambria Bold" charset="1" panose="02040803050406030204"/>
      <p:regular r:id="rId21"/>
    </p:embeddedFont>
    <p:embeddedFont>
      <p:font typeface="Calibri (MS)" charset="1" panose="020F0502020204030204"/>
      <p:regular r:id="rId22"/>
    </p:embeddedFont>
    <p:embeddedFont>
      <p:font typeface="Courier New Bold" charset="1" panose="02070609020205020404"/>
      <p:regular r:id="rId25"/>
    </p:embeddedFont>
    <p:embeddedFont>
      <p:font typeface="Courier New" charset="1" panose="02070309020205020404"/>
      <p:regular r:id="rId28"/>
    </p:embeddedFont>
    <p:embeddedFont>
      <p:font typeface="Calibri (MS) Italics" charset="1" panose="020F05020202040A0204"/>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fonts/font25.fntdata" Type="http://schemas.openxmlformats.org/officeDocument/2006/relationships/font"/><Relationship Id="rId26" Target="notesSlides/notesSlide4.xml" Type="http://schemas.openxmlformats.org/officeDocument/2006/relationships/notesSlide"/><Relationship Id="rId27" Target="notesSlides/notesSlide5.xml" Type="http://schemas.openxmlformats.org/officeDocument/2006/relationships/notesSlide"/><Relationship Id="rId28" Target="fonts/font28.fntdata" Type="http://schemas.openxmlformats.org/officeDocument/2006/relationships/font"/><Relationship Id="rId29" Target="notesSlides/notesSlide6.xml" Type="http://schemas.openxmlformats.org/officeDocument/2006/relationships/notesSlide"/><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fonts/font33.fntdata" Type="http://schemas.openxmlformats.org/officeDocument/2006/relationships/font"/><Relationship Id="rId34" Target="notesSlides/notesSlide10.xml" Type="http://schemas.openxmlformats.org/officeDocument/2006/relationships/notesSlide"/><Relationship Id="rId35" Target="notesSlides/notesSlide11.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Welcome slide for the Day 7 / Milestone 1 review. Introduce yourself as the Backend Developer for SalesGenie and state that today's presentation covers Module 1: the Prospect CRUD API built with FastAPI, SQLAlchemy and PostgreSQL. Keep this brief — 20 to 30 seconds — and set expectations that you'll walk through the design, the APIs, and what's ready for the next module.</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Explain the objective in two parts. First, why prospect management matters: it's the foundational data every other module — analysis, scoring, email outreach, dashboard — depends on. Second, why we specifically need CRUD APIs rather than just a database table: the frontend and other backend modules need a controlled, validated way to create, read, update and delete records over HTTP, rather than touching the database directly.</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Walk through the Prospect table structure, which lives in the leads table in PostgreSQL. Point out that id is auto-generated, email is checked for duplicates before every insert or update, status defaults to New and is used for filtering elsewhere in the app, and created_at is stamped automatically by the database rather than the application. This table is defined once as a SQLAlchemy model and reused by every CRUD endpoint, which keeps the schema consistent across the whole module.</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diagram shows the layered architecture: the Client — Swagger UI during testing, or the Streamlit frontend in production — sends an HTTP request to FastAPI. FastAPI routes it to the correct CRUD function. Pydantic validates the request body. SQLAlchemy's ORM converts Python objects into SQL statements executed against PostgreSQL. The response travels back up the same path as validated JSON. Emphasize that each layer has one responsibility, which is why the code stays maintainable as the project grows.</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Walk through the five REST endpoints as a set before diving into JSON examples. Note the consistent pattern: POST and PUT both validate against duplicate emails; GET supports optional query parameters for name, company and status filtering plus pagination; DELETE simply removes the record and returns a confirmation message. All five live in modules/module1_leads.py behind a single APIRouter with the /leads prefix.</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Show a concrete example end to end. The request body matches the LeadCreate Pydantic schema — only name is required, everything else is optional. The response matches LeadResponse and includes two fields the client never sends: id, auto-generated by PostgreSQL, and created_at, stamped by the database default. If the email already existed, this same endpoint would instead return a 400 error with a clear message naming the conflicting lead's id.</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Give a quick tour of the repo layout. The database folder isolates connection and model logic so every module reuses the same engine and table definitions instead of duplicating them. Each business capability gets its own file under modules — Module 1 is leads, later modules handle analysis, email outreach, scoring, summaries and the dashboard. main.py is intentionally thin: it just wires the FastAPI app together and includes each module's router.</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same request lifecycle from the architecture slide, but from the code's point of view. Emphasize step 2: Pydantic validation happens before any database interaction, so bad data never reaches PostgreSQL. Step 4 highlights that after commit, we call db.refresh() so the returned object includes the database-generated id and created_at before we serialize it in step 5.</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Frame each row as problem then solution. These are real issues encountered while building Module 1, not hypothetical ones — for example, the duplicate email check was added specifically because early testing showed the same lead could be inserted twice. Speak to one or two of these in more depth if asked, particularly duplicate handling and error handling, since those come up most often in review questions.</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Close with a clear statement of what's done: the Prospect CRUD module is complete and has been tested through Swagger, including edge cases like duplicate emails and missing records. This module now underpins the Lead Import feature, which reuses the same Lead model and duplicate-detection logic for CSV bulk uploads — set up the natural transition to whatever module comes next in the roadmap.</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Closing slide. Invite questions from the reviewer or team about the Prospect CRUD implementation, the database design, or how it connects to the upcoming Lead Import and scoring modules.</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1B4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3428" cy="10287000"/>
            <a:chOff x="0" y="0"/>
            <a:chExt cx="24377904" cy="13716000"/>
          </a:xfrm>
        </p:grpSpPr>
        <p:sp>
          <p:nvSpPr>
            <p:cNvPr name="Freeform 3" id="3"/>
            <p:cNvSpPr/>
            <p:nvPr/>
          </p:nvSpPr>
          <p:spPr>
            <a:xfrm flipH="false" flipV="false" rot="0">
              <a:off x="0" y="0"/>
              <a:ext cx="24377904" cy="13716000"/>
            </a:xfrm>
            <a:custGeom>
              <a:avLst/>
              <a:gdLst/>
              <a:ahLst/>
              <a:cxnLst/>
              <a:rect r="r" b="b" t="t" l="l"/>
              <a:pathLst>
                <a:path h="13716000" w="24377904">
                  <a:moveTo>
                    <a:pt x="0" y="0"/>
                  </a:moveTo>
                  <a:lnTo>
                    <a:pt x="24377904" y="0"/>
                  </a:lnTo>
                  <a:lnTo>
                    <a:pt x="24377904" y="13716000"/>
                  </a:lnTo>
                  <a:lnTo>
                    <a:pt x="0" y="13716000"/>
                  </a:lnTo>
                  <a:close/>
                </a:path>
              </a:pathLst>
            </a:custGeom>
            <a:solidFill>
              <a:srgbClr val="141B4D"/>
            </a:solidFill>
          </p:spPr>
        </p:sp>
      </p:grpSp>
      <p:grpSp>
        <p:nvGrpSpPr>
          <p:cNvPr name="Group 4" id="4"/>
          <p:cNvGrpSpPr/>
          <p:nvPr/>
        </p:nvGrpSpPr>
        <p:grpSpPr>
          <a:xfrm rot="0">
            <a:off x="13167360" y="-3017520"/>
            <a:ext cx="8229600" cy="8229600"/>
            <a:chOff x="0" y="0"/>
            <a:chExt cx="10972800" cy="10972800"/>
          </a:xfrm>
        </p:grpSpPr>
        <p:sp>
          <p:nvSpPr>
            <p:cNvPr name="Freeform 5" id="5"/>
            <p:cNvSpPr/>
            <p:nvPr/>
          </p:nvSpPr>
          <p:spPr>
            <a:xfrm flipH="false" flipV="false" rot="0">
              <a:off x="0" y="0"/>
              <a:ext cx="10972800" cy="10972800"/>
            </a:xfrm>
            <a:custGeom>
              <a:avLst/>
              <a:gdLst/>
              <a:ahLst/>
              <a:cxnLst/>
              <a:rect r="r" b="b" t="t" l="l"/>
              <a:pathLst>
                <a:path h="10972800" w="10972800">
                  <a:moveTo>
                    <a:pt x="0" y="5486400"/>
                  </a:moveTo>
                  <a:cubicBezTo>
                    <a:pt x="0" y="2456307"/>
                    <a:pt x="2456307" y="0"/>
                    <a:pt x="5486400" y="0"/>
                  </a:cubicBezTo>
                  <a:cubicBezTo>
                    <a:pt x="8516493" y="0"/>
                    <a:pt x="10972800" y="2456307"/>
                    <a:pt x="10972800" y="5486400"/>
                  </a:cubicBezTo>
                  <a:cubicBezTo>
                    <a:pt x="10972800" y="8516493"/>
                    <a:pt x="8516493" y="10972800"/>
                    <a:pt x="5486400" y="10972800"/>
                  </a:cubicBezTo>
                  <a:cubicBezTo>
                    <a:pt x="2456307" y="10972800"/>
                    <a:pt x="0" y="8516493"/>
                    <a:pt x="0" y="5486400"/>
                  </a:cubicBezTo>
                  <a:close/>
                </a:path>
              </a:pathLst>
            </a:custGeom>
            <a:solidFill>
              <a:srgbClr val="1E2761"/>
            </a:solidFill>
          </p:spPr>
        </p:sp>
      </p:grpSp>
      <p:grpSp>
        <p:nvGrpSpPr>
          <p:cNvPr name="Group 6" id="6"/>
          <p:cNvGrpSpPr/>
          <p:nvPr/>
        </p:nvGrpSpPr>
        <p:grpSpPr>
          <a:xfrm rot="0">
            <a:off x="14813280" y="6309360"/>
            <a:ext cx="5486400" cy="5486400"/>
            <a:chOff x="0" y="0"/>
            <a:chExt cx="7315200" cy="7315200"/>
          </a:xfrm>
        </p:grpSpPr>
        <p:sp>
          <p:nvSpPr>
            <p:cNvPr name="Freeform 7" id="7"/>
            <p:cNvSpPr/>
            <p:nvPr/>
          </p:nvSpPr>
          <p:spPr>
            <a:xfrm flipH="false" flipV="false" rot="0">
              <a:off x="0" y="0"/>
              <a:ext cx="7315200" cy="7315200"/>
            </a:xfrm>
            <a:custGeom>
              <a:avLst/>
              <a:gdLst/>
              <a:ahLst/>
              <a:cxnLst/>
              <a:rect r="r" b="b" t="t" l="l"/>
              <a:pathLst>
                <a:path h="7315200" w="7315200">
                  <a:moveTo>
                    <a:pt x="0" y="3657600"/>
                  </a:moveTo>
                  <a:cubicBezTo>
                    <a:pt x="0" y="1637538"/>
                    <a:pt x="1637538" y="0"/>
                    <a:pt x="3657600" y="0"/>
                  </a:cubicBezTo>
                  <a:cubicBezTo>
                    <a:pt x="5677662" y="0"/>
                    <a:pt x="7315200" y="1637538"/>
                    <a:pt x="7315200" y="3657600"/>
                  </a:cubicBezTo>
                  <a:cubicBezTo>
                    <a:pt x="7315200" y="5677662"/>
                    <a:pt x="5677662" y="7315200"/>
                    <a:pt x="3657600" y="7315200"/>
                  </a:cubicBezTo>
                  <a:cubicBezTo>
                    <a:pt x="1637538" y="7315200"/>
                    <a:pt x="0" y="5677662"/>
                    <a:pt x="0" y="3657600"/>
                  </a:cubicBezTo>
                  <a:close/>
                </a:path>
              </a:pathLst>
            </a:custGeom>
            <a:solidFill>
              <a:srgbClr val="3A4066"/>
            </a:solidFill>
          </p:spPr>
        </p:sp>
      </p:grpSp>
      <p:grpSp>
        <p:nvGrpSpPr>
          <p:cNvPr name="Group 8" id="8"/>
          <p:cNvGrpSpPr/>
          <p:nvPr/>
        </p:nvGrpSpPr>
        <p:grpSpPr>
          <a:xfrm rot="0">
            <a:off x="960120" y="822960"/>
            <a:ext cx="754380" cy="754380"/>
            <a:chOff x="0" y="0"/>
            <a:chExt cx="1005840" cy="1005840"/>
          </a:xfrm>
        </p:grpSpPr>
        <p:sp>
          <p:nvSpPr>
            <p:cNvPr name="Freeform 9" id="9"/>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3D5AFE"/>
            </a:solidFill>
          </p:spPr>
        </p:sp>
      </p:grpSp>
      <p:grpSp>
        <p:nvGrpSpPr>
          <p:cNvPr name="Group 10" id="10"/>
          <p:cNvGrpSpPr/>
          <p:nvPr/>
        </p:nvGrpSpPr>
        <p:grpSpPr>
          <a:xfrm rot="0">
            <a:off x="960120" y="822960"/>
            <a:ext cx="754380" cy="754380"/>
            <a:chOff x="0" y="0"/>
            <a:chExt cx="1005840" cy="1005840"/>
          </a:xfrm>
        </p:grpSpPr>
        <p:sp>
          <p:nvSpPr>
            <p:cNvPr name="Freeform 11" id="11"/>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12" id="12"/>
            <p:cNvSpPr txBox="true"/>
            <p:nvPr/>
          </p:nvSpPr>
          <p:spPr>
            <a:xfrm>
              <a:off x="0" y="-57150"/>
              <a:ext cx="1005840" cy="106299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SG</a:t>
              </a:r>
            </a:p>
          </p:txBody>
        </p:sp>
      </p:grpSp>
      <p:grpSp>
        <p:nvGrpSpPr>
          <p:cNvPr name="Group 13" id="13"/>
          <p:cNvGrpSpPr/>
          <p:nvPr/>
        </p:nvGrpSpPr>
        <p:grpSpPr>
          <a:xfrm rot="0">
            <a:off x="1851660" y="822960"/>
            <a:ext cx="5486400" cy="2202396"/>
            <a:chOff x="0" y="0"/>
            <a:chExt cx="7315200" cy="2936528"/>
          </a:xfrm>
        </p:grpSpPr>
        <p:sp>
          <p:nvSpPr>
            <p:cNvPr name="Freeform 14" id="14"/>
            <p:cNvSpPr/>
            <p:nvPr/>
          </p:nvSpPr>
          <p:spPr>
            <a:xfrm flipH="false" flipV="false" rot="0">
              <a:off x="0" y="0"/>
              <a:ext cx="7315200" cy="2936528"/>
            </a:xfrm>
            <a:custGeom>
              <a:avLst/>
              <a:gdLst/>
              <a:ahLst/>
              <a:cxnLst/>
              <a:rect r="r" b="b" t="t" l="l"/>
              <a:pathLst>
                <a:path h="2936528" w="7315200">
                  <a:moveTo>
                    <a:pt x="0" y="0"/>
                  </a:moveTo>
                  <a:lnTo>
                    <a:pt x="7315200" y="0"/>
                  </a:lnTo>
                  <a:lnTo>
                    <a:pt x="7315200" y="2936528"/>
                  </a:lnTo>
                  <a:lnTo>
                    <a:pt x="0" y="2936528"/>
                  </a:lnTo>
                  <a:close/>
                </a:path>
              </a:pathLst>
            </a:custGeom>
            <a:blipFill>
              <a:blip r:embed="rId3">
                <a:alphaModFix amt="0"/>
              </a:blip>
              <a:stretch>
                <a:fillRect l="0" t="-31412" r="0" b="34334"/>
              </a:stretch>
            </a:blipFill>
          </p:spPr>
        </p:sp>
        <p:sp>
          <p:nvSpPr>
            <p:cNvPr name="TextBox 15" id="15"/>
            <p:cNvSpPr txBox="true"/>
            <p:nvPr/>
          </p:nvSpPr>
          <p:spPr>
            <a:xfrm>
              <a:off x="0" y="-19050"/>
              <a:ext cx="7315200" cy="2955578"/>
            </a:xfrm>
            <a:prstGeom prst="rect">
              <a:avLst/>
            </a:prstGeom>
          </p:spPr>
          <p:txBody>
            <a:bodyPr anchor="ctr" rtlCol="false" tIns="0" lIns="0" bIns="0" rIns="0"/>
            <a:lstStyle/>
            <a:p>
              <a:pPr algn="l">
                <a:lnSpc>
                  <a:spcPts val="3600"/>
                </a:lnSpc>
              </a:pPr>
              <a:r>
                <a:rPr lang="en-US" sz="3000" b="true">
                  <a:solidFill>
                    <a:srgbClr val="FFFFFF"/>
                  </a:solidFill>
                  <a:latin typeface="Cambria Bold"/>
                  <a:ea typeface="Cambria Bold"/>
                  <a:cs typeface="Cambria Bold"/>
                  <a:sym typeface="Cambria Bold"/>
                </a:rPr>
                <a:t>SalesGenie AI</a:t>
              </a:r>
            </a:p>
          </p:txBody>
        </p:sp>
      </p:grpSp>
      <p:grpSp>
        <p:nvGrpSpPr>
          <p:cNvPr name="Group 16" id="16"/>
          <p:cNvGrpSpPr/>
          <p:nvPr/>
        </p:nvGrpSpPr>
        <p:grpSpPr>
          <a:xfrm rot="0">
            <a:off x="960120" y="3429000"/>
            <a:ext cx="10972800" cy="548640"/>
            <a:chOff x="0" y="0"/>
            <a:chExt cx="14630400" cy="731520"/>
          </a:xfrm>
        </p:grpSpPr>
        <p:sp>
          <p:nvSpPr>
            <p:cNvPr name="Freeform 17" id="17"/>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3">
                <a:alphaModFix amt="0"/>
              </a:blip>
              <a:stretch>
                <a:fillRect l="0" t="-339700" r="0" b="-339700"/>
              </a:stretch>
            </a:blipFill>
          </p:spPr>
        </p:sp>
        <p:sp>
          <p:nvSpPr>
            <p:cNvPr name="TextBox 18" id="18"/>
            <p:cNvSpPr txBox="true"/>
            <p:nvPr/>
          </p:nvSpPr>
          <p:spPr>
            <a:xfrm>
              <a:off x="0" y="-47625"/>
              <a:ext cx="14630400" cy="779145"/>
            </a:xfrm>
            <a:prstGeom prst="rect">
              <a:avLst/>
            </a:prstGeom>
          </p:spPr>
          <p:txBody>
            <a:bodyPr anchor="ctr" rtlCol="false" tIns="0" lIns="0" bIns="0" rIns="0"/>
            <a:lstStyle/>
            <a:p>
              <a:pPr algn="l">
                <a:lnSpc>
                  <a:spcPts val="2520"/>
                </a:lnSpc>
              </a:pPr>
              <a:r>
                <a:rPr lang="en-US" b="true" sz="2100" spc="300">
                  <a:solidFill>
                    <a:srgbClr val="CADCFC"/>
                  </a:solidFill>
                  <a:latin typeface="Calibri (MS) Bold"/>
                  <a:ea typeface="Calibri (MS) Bold"/>
                  <a:cs typeface="Calibri (MS) Bold"/>
                  <a:sym typeface="Calibri (MS) Bold"/>
                </a:rPr>
                <a:t>MILESTONE 1  ·  MODULE 1</a:t>
              </a:r>
            </a:p>
          </p:txBody>
        </p:sp>
      </p:grpSp>
      <p:grpSp>
        <p:nvGrpSpPr>
          <p:cNvPr name="Group 19" id="19"/>
          <p:cNvGrpSpPr/>
          <p:nvPr/>
        </p:nvGrpSpPr>
        <p:grpSpPr>
          <a:xfrm rot="0">
            <a:off x="932688" y="3977640"/>
            <a:ext cx="14401800" cy="1783080"/>
            <a:chOff x="0" y="0"/>
            <a:chExt cx="19202400" cy="2377440"/>
          </a:xfrm>
        </p:grpSpPr>
        <p:sp>
          <p:nvSpPr>
            <p:cNvPr name="Freeform 20" id="20"/>
            <p:cNvSpPr/>
            <p:nvPr/>
          </p:nvSpPr>
          <p:spPr>
            <a:xfrm flipH="false" flipV="false" rot="0">
              <a:off x="0" y="0"/>
              <a:ext cx="19202400" cy="2377440"/>
            </a:xfrm>
            <a:custGeom>
              <a:avLst/>
              <a:gdLst/>
              <a:ahLst/>
              <a:cxnLst/>
              <a:rect r="r" b="b" t="t" l="l"/>
              <a:pathLst>
                <a:path h="2377440" w="19202400">
                  <a:moveTo>
                    <a:pt x="0" y="0"/>
                  </a:moveTo>
                  <a:lnTo>
                    <a:pt x="19202400" y="0"/>
                  </a:lnTo>
                  <a:lnTo>
                    <a:pt x="19202400" y="2377440"/>
                  </a:lnTo>
                  <a:lnTo>
                    <a:pt x="0" y="2377440"/>
                  </a:lnTo>
                  <a:close/>
                </a:path>
              </a:pathLst>
            </a:custGeom>
            <a:blipFill>
              <a:blip r:embed="rId3">
                <a:alphaModFix amt="0"/>
              </a:blip>
              <a:stretch>
                <a:fillRect l="0" t="-107379" r="0" b="-107379"/>
              </a:stretch>
            </a:blipFill>
          </p:spPr>
        </p:sp>
        <p:sp>
          <p:nvSpPr>
            <p:cNvPr name="TextBox 21" id="21"/>
            <p:cNvSpPr txBox="true"/>
            <p:nvPr/>
          </p:nvSpPr>
          <p:spPr>
            <a:xfrm>
              <a:off x="0" y="-9525"/>
              <a:ext cx="19202400" cy="2386965"/>
            </a:xfrm>
            <a:prstGeom prst="rect">
              <a:avLst/>
            </a:prstGeom>
          </p:spPr>
          <p:txBody>
            <a:bodyPr anchor="ctr" rtlCol="false" tIns="0" lIns="0" bIns="0" rIns="0"/>
            <a:lstStyle/>
            <a:p>
              <a:pPr algn="l">
                <a:lnSpc>
                  <a:spcPts val="8280"/>
                </a:lnSpc>
              </a:pPr>
              <a:r>
                <a:rPr lang="en-US" sz="6900" b="true">
                  <a:solidFill>
                    <a:srgbClr val="FFFFFF"/>
                  </a:solidFill>
                  <a:latin typeface="Cambria Bold"/>
                  <a:ea typeface="Cambria Bold"/>
                  <a:cs typeface="Cambria Bold"/>
                  <a:sym typeface="Cambria Bold"/>
                </a:rPr>
                <a:t>Prospect CRUD API</a:t>
              </a:r>
            </a:p>
          </p:txBody>
        </p:sp>
      </p:grpSp>
      <p:grpSp>
        <p:nvGrpSpPr>
          <p:cNvPr name="Group 22" id="22"/>
          <p:cNvGrpSpPr/>
          <p:nvPr/>
        </p:nvGrpSpPr>
        <p:grpSpPr>
          <a:xfrm rot="0">
            <a:off x="960120" y="5554980"/>
            <a:ext cx="12344400" cy="822960"/>
            <a:chOff x="0" y="0"/>
            <a:chExt cx="16459200" cy="1097280"/>
          </a:xfrm>
        </p:grpSpPr>
        <p:sp>
          <p:nvSpPr>
            <p:cNvPr name="Freeform 23" id="23"/>
            <p:cNvSpPr/>
            <p:nvPr/>
          </p:nvSpPr>
          <p:spPr>
            <a:xfrm flipH="false" flipV="false" rot="0">
              <a:off x="0" y="0"/>
              <a:ext cx="16459200" cy="1097280"/>
            </a:xfrm>
            <a:custGeom>
              <a:avLst/>
              <a:gdLst/>
              <a:ahLst/>
              <a:cxnLst/>
              <a:rect r="r" b="b" t="t" l="l"/>
              <a:pathLst>
                <a:path h="1097280" w="16459200">
                  <a:moveTo>
                    <a:pt x="0" y="0"/>
                  </a:moveTo>
                  <a:lnTo>
                    <a:pt x="16459200" y="0"/>
                  </a:lnTo>
                  <a:lnTo>
                    <a:pt x="16459200" y="1097280"/>
                  </a:lnTo>
                  <a:lnTo>
                    <a:pt x="0" y="1097280"/>
                  </a:lnTo>
                  <a:close/>
                </a:path>
              </a:pathLst>
            </a:custGeom>
            <a:blipFill>
              <a:blip r:embed="rId3">
                <a:alphaModFix amt="0"/>
              </a:blip>
              <a:stretch>
                <a:fillRect l="0" t="-242275" r="0" b="-242275"/>
              </a:stretch>
            </a:blipFill>
          </p:spPr>
        </p:sp>
        <p:sp>
          <p:nvSpPr>
            <p:cNvPr name="TextBox 24" id="24"/>
            <p:cNvSpPr txBox="true"/>
            <p:nvPr/>
          </p:nvSpPr>
          <p:spPr>
            <a:xfrm>
              <a:off x="0" y="-38100"/>
              <a:ext cx="16459200" cy="1135380"/>
            </a:xfrm>
            <a:prstGeom prst="rect">
              <a:avLst/>
            </a:prstGeom>
          </p:spPr>
          <p:txBody>
            <a:bodyPr anchor="ctr" rtlCol="false" tIns="0" lIns="0" bIns="0" rIns="0"/>
            <a:lstStyle/>
            <a:p>
              <a:pPr algn="l">
                <a:lnSpc>
                  <a:spcPts val="2879"/>
                </a:lnSpc>
              </a:pPr>
              <a:r>
                <a:rPr lang="en-US" sz="2400">
                  <a:solidFill>
                    <a:srgbClr val="C7CCEE"/>
                  </a:solidFill>
                  <a:latin typeface="Calibri (MS)"/>
                  <a:ea typeface="Calibri (MS)"/>
                  <a:cs typeface="Calibri (MS)"/>
                  <a:sym typeface="Calibri (MS)"/>
                </a:rPr>
                <a:t>Implementing Lead / Prospect Database Models and CRUD APIs with FastAPI</a:t>
              </a:r>
            </a:p>
          </p:txBody>
        </p:sp>
      </p:grpSp>
      <p:grpSp>
        <p:nvGrpSpPr>
          <p:cNvPr name="Group 25" id="25"/>
          <p:cNvGrpSpPr/>
          <p:nvPr/>
        </p:nvGrpSpPr>
        <p:grpSpPr>
          <a:xfrm rot="0">
            <a:off x="936307" y="6902768"/>
            <a:ext cx="3065145" cy="47625"/>
            <a:chOff x="0" y="0"/>
            <a:chExt cx="4086860" cy="63500"/>
          </a:xfrm>
        </p:grpSpPr>
        <p:sp>
          <p:nvSpPr>
            <p:cNvPr name="Freeform 26" id="26"/>
            <p:cNvSpPr/>
            <p:nvPr/>
          </p:nvSpPr>
          <p:spPr>
            <a:xfrm flipH="false" flipV="false" rot="0">
              <a:off x="0" y="0"/>
              <a:ext cx="4086860" cy="63500"/>
            </a:xfrm>
            <a:custGeom>
              <a:avLst/>
              <a:gdLst/>
              <a:ahLst/>
              <a:cxnLst/>
              <a:rect r="r" b="b" t="t" l="l"/>
              <a:pathLst>
                <a:path h="63500" w="4086860">
                  <a:moveTo>
                    <a:pt x="0" y="0"/>
                  </a:moveTo>
                  <a:lnTo>
                    <a:pt x="4086860" y="63500"/>
                  </a:lnTo>
                </a:path>
              </a:pathLst>
            </a:custGeom>
            <a:blipFill>
              <a:blip r:embed="rId3">
                <a:alphaModFix amt="0"/>
              </a:blip>
              <a:stretch>
                <a:fillRect l="0" t="-1204057" r="0" b="-1204057"/>
              </a:stretch>
            </a:blipFill>
            <a:ln w="47625" cap="sq">
              <a:solidFill>
                <a:srgbClr val="3D5AFE"/>
              </a:solidFill>
              <a:prstDash val="solid"/>
              <a:miter/>
            </a:ln>
          </p:spPr>
        </p:sp>
      </p:grpSp>
      <p:grpSp>
        <p:nvGrpSpPr>
          <p:cNvPr name="Group 27" id="27"/>
          <p:cNvGrpSpPr/>
          <p:nvPr/>
        </p:nvGrpSpPr>
        <p:grpSpPr>
          <a:xfrm rot="0">
            <a:off x="960120" y="9189720"/>
            <a:ext cx="15087600" cy="480060"/>
            <a:chOff x="0" y="0"/>
            <a:chExt cx="20116800" cy="640080"/>
          </a:xfrm>
        </p:grpSpPr>
        <p:sp>
          <p:nvSpPr>
            <p:cNvPr name="Freeform 28" id="28"/>
            <p:cNvSpPr/>
            <p:nvPr/>
          </p:nvSpPr>
          <p:spPr>
            <a:xfrm flipH="false" flipV="false" rot="0">
              <a:off x="0" y="0"/>
              <a:ext cx="20116800" cy="640080"/>
            </a:xfrm>
            <a:custGeom>
              <a:avLst/>
              <a:gdLst/>
              <a:ahLst/>
              <a:cxnLst/>
              <a:rect r="r" b="b" t="t" l="l"/>
              <a:pathLst>
                <a:path h="640080" w="20116800">
                  <a:moveTo>
                    <a:pt x="0" y="0"/>
                  </a:moveTo>
                  <a:lnTo>
                    <a:pt x="20116800" y="0"/>
                  </a:lnTo>
                  <a:lnTo>
                    <a:pt x="20116800" y="640080"/>
                  </a:lnTo>
                  <a:lnTo>
                    <a:pt x="0" y="640080"/>
                  </a:lnTo>
                  <a:close/>
                </a:path>
              </a:pathLst>
            </a:custGeom>
            <a:blipFill>
              <a:blip r:embed="rId3">
                <a:alphaModFix amt="0"/>
              </a:blip>
              <a:stretch>
                <a:fillRect l="0" t="-562386" r="0" b="-562386"/>
              </a:stretch>
            </a:blipFill>
          </p:spPr>
        </p:sp>
        <p:sp>
          <p:nvSpPr>
            <p:cNvPr name="TextBox 29" id="29"/>
            <p:cNvSpPr txBox="true"/>
            <p:nvPr/>
          </p:nvSpPr>
          <p:spPr>
            <a:xfrm>
              <a:off x="0" y="-28575"/>
              <a:ext cx="20116800" cy="668655"/>
            </a:xfrm>
            <a:prstGeom prst="rect">
              <a:avLst/>
            </a:prstGeom>
          </p:spPr>
          <p:txBody>
            <a:bodyPr anchor="ctr" rtlCol="false" tIns="0" lIns="0" bIns="0" rIns="0"/>
            <a:lstStyle/>
            <a:p>
              <a:pPr algn="l">
                <a:lnSpc>
                  <a:spcPts val="1980"/>
                </a:lnSpc>
              </a:pPr>
              <a:r>
                <a:rPr lang="en-US" sz="1650">
                  <a:solidFill>
                    <a:srgbClr val="6E76A8"/>
                  </a:solidFill>
                  <a:latin typeface="Calibri (MS)"/>
                  <a:ea typeface="Calibri (MS)"/>
                  <a:cs typeface="Calibri (MS)"/>
                  <a:sym typeface="Calibri (MS)"/>
                </a:rPr>
                <a:t>FastAPI   ·   Python   ·   SQLAlchemy   ·   PostgreSQL   ·   Pydantic   ·   Uvicorn</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15773400" cy="960120"/>
            <a:chOff x="0" y="0"/>
            <a:chExt cx="21031200" cy="1280160"/>
          </a:xfrm>
        </p:grpSpPr>
        <p:sp>
          <p:nvSpPr>
            <p:cNvPr name="Freeform 3" id="3"/>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4" id="4"/>
            <p:cNvSpPr txBox="true"/>
            <p:nvPr/>
          </p:nvSpPr>
          <p:spPr>
            <a:xfrm>
              <a:off x="0" y="-19050"/>
              <a:ext cx="21031200" cy="1299210"/>
            </a:xfrm>
            <a:prstGeom prst="rect">
              <a:avLst/>
            </a:prstGeom>
          </p:spPr>
          <p:txBody>
            <a:bodyPr anchor="ctr" rtlCol="false" tIns="0" lIns="0" bIns="0" rIns="0"/>
            <a:lstStyle/>
            <a:p>
              <a:pPr algn="l">
                <a:lnSpc>
                  <a:spcPts val="5400"/>
                </a:lnSpc>
              </a:pPr>
              <a:r>
                <a:rPr lang="en-US" sz="4500" b="true">
                  <a:solidFill>
                    <a:srgbClr val="1E2761"/>
                  </a:solidFill>
                  <a:latin typeface="Cambria Bold"/>
                  <a:ea typeface="Cambria Bold"/>
                  <a:cs typeface="Cambria Bold"/>
                  <a:sym typeface="Cambria Bold"/>
                </a:rPr>
                <a:t>Objective</a:t>
              </a:r>
            </a:p>
          </p:txBody>
        </p:sp>
      </p:grpSp>
      <p:grpSp>
        <p:nvGrpSpPr>
          <p:cNvPr name="Group 5" id="5"/>
          <p:cNvGrpSpPr/>
          <p:nvPr/>
        </p:nvGrpSpPr>
        <p:grpSpPr>
          <a:xfrm rot="0">
            <a:off x="822960" y="2331720"/>
            <a:ext cx="8092440" cy="6720840"/>
            <a:chOff x="0" y="0"/>
            <a:chExt cx="10789920" cy="8961120"/>
          </a:xfrm>
        </p:grpSpPr>
        <p:sp>
          <p:nvSpPr>
            <p:cNvPr name="Freeform 6" id="6"/>
            <p:cNvSpPr/>
            <p:nvPr/>
          </p:nvSpPr>
          <p:spPr>
            <a:xfrm flipH="false" flipV="false" rot="0">
              <a:off x="0" y="0"/>
              <a:ext cx="10789920" cy="8961120"/>
            </a:xfrm>
            <a:custGeom>
              <a:avLst/>
              <a:gdLst/>
              <a:ahLst/>
              <a:cxnLst/>
              <a:rect r="r" b="b" t="t" l="l"/>
              <a:pathLst>
                <a:path h="8961120" w="10789920">
                  <a:moveTo>
                    <a:pt x="0" y="219456"/>
                  </a:moveTo>
                  <a:cubicBezTo>
                    <a:pt x="0" y="98298"/>
                    <a:pt x="98298" y="0"/>
                    <a:pt x="219456" y="0"/>
                  </a:cubicBezTo>
                  <a:lnTo>
                    <a:pt x="10570464" y="0"/>
                  </a:lnTo>
                  <a:cubicBezTo>
                    <a:pt x="10691622" y="0"/>
                    <a:pt x="10789920" y="98298"/>
                    <a:pt x="10789920" y="219456"/>
                  </a:cubicBezTo>
                  <a:lnTo>
                    <a:pt x="10789920" y="8741664"/>
                  </a:lnTo>
                  <a:cubicBezTo>
                    <a:pt x="10789920" y="8862822"/>
                    <a:pt x="10691622" y="8961120"/>
                    <a:pt x="10570464" y="8961120"/>
                  </a:cubicBezTo>
                  <a:lnTo>
                    <a:pt x="219456" y="8961120"/>
                  </a:lnTo>
                  <a:cubicBezTo>
                    <a:pt x="98298" y="8961120"/>
                    <a:pt x="0" y="8862822"/>
                    <a:pt x="0" y="8741664"/>
                  </a:cubicBezTo>
                  <a:close/>
                </a:path>
              </a:pathLst>
            </a:custGeom>
            <a:solidFill>
              <a:srgbClr val="F4F6FC"/>
            </a:solidFill>
          </p:spPr>
        </p:sp>
      </p:grpSp>
      <p:grpSp>
        <p:nvGrpSpPr>
          <p:cNvPr name="Group 7" id="7"/>
          <p:cNvGrpSpPr/>
          <p:nvPr/>
        </p:nvGrpSpPr>
        <p:grpSpPr>
          <a:xfrm rot="0">
            <a:off x="1371600" y="2880360"/>
            <a:ext cx="822960" cy="822960"/>
            <a:chOff x="0" y="0"/>
            <a:chExt cx="1097280" cy="1097280"/>
          </a:xfrm>
        </p:grpSpPr>
        <p:sp>
          <p:nvSpPr>
            <p:cNvPr name="Freeform 8" id="8"/>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1E2761"/>
            </a:solidFill>
          </p:spPr>
        </p:sp>
      </p:grpSp>
      <p:grpSp>
        <p:nvGrpSpPr>
          <p:cNvPr name="Group 9" id="9"/>
          <p:cNvGrpSpPr/>
          <p:nvPr/>
        </p:nvGrpSpPr>
        <p:grpSpPr>
          <a:xfrm rot="0">
            <a:off x="1371600" y="2880360"/>
            <a:ext cx="822960" cy="822960"/>
            <a:chOff x="0" y="0"/>
            <a:chExt cx="1097280" cy="1097280"/>
          </a:xfrm>
        </p:grpSpPr>
        <p:sp>
          <p:nvSpPr>
            <p:cNvPr name="Freeform 10" id="10"/>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11" id="11"/>
            <p:cNvSpPr txBox="true"/>
            <p:nvPr/>
          </p:nvSpPr>
          <p:spPr>
            <a:xfrm>
              <a:off x="0" y="-66675"/>
              <a:ext cx="1097280" cy="1163955"/>
            </a:xfrm>
            <a:prstGeom prst="rect">
              <a:avLst/>
            </a:prstGeom>
          </p:spPr>
          <p:txBody>
            <a:bodyPr anchor="ctr" rtlCol="false" tIns="0" lIns="0" bIns="0" rIns="0"/>
            <a:lstStyle/>
            <a:p>
              <a:pPr algn="ctr">
                <a:lnSpc>
                  <a:spcPts val="3960"/>
                </a:lnSpc>
              </a:pPr>
              <a:r>
                <a:rPr lang="en-US" sz="3300" b="true">
                  <a:solidFill>
                    <a:srgbClr val="FFFFFF"/>
                  </a:solidFill>
                  <a:latin typeface="Calibri (MS) Bold"/>
                  <a:ea typeface="Calibri (MS) Bold"/>
                  <a:cs typeface="Calibri (MS) Bold"/>
                  <a:sym typeface="Calibri (MS) Bold"/>
                </a:rPr>
                <a:t>◎</a:t>
              </a:r>
            </a:p>
          </p:txBody>
        </p:sp>
      </p:grpSp>
      <p:grpSp>
        <p:nvGrpSpPr>
          <p:cNvPr name="Group 12" id="12"/>
          <p:cNvGrpSpPr/>
          <p:nvPr/>
        </p:nvGrpSpPr>
        <p:grpSpPr>
          <a:xfrm rot="0">
            <a:off x="2400300" y="2880360"/>
            <a:ext cx="6172200" cy="822960"/>
            <a:chOff x="0" y="0"/>
            <a:chExt cx="8229600" cy="1097280"/>
          </a:xfrm>
        </p:grpSpPr>
        <p:sp>
          <p:nvSpPr>
            <p:cNvPr name="Freeform 13" id="13"/>
            <p:cNvSpPr/>
            <p:nvPr/>
          </p:nvSpPr>
          <p:spPr>
            <a:xfrm flipH="false" flipV="false" rot="0">
              <a:off x="0" y="0"/>
              <a:ext cx="8229600" cy="1097280"/>
            </a:xfrm>
            <a:custGeom>
              <a:avLst/>
              <a:gdLst/>
              <a:ahLst/>
              <a:cxnLst/>
              <a:rect r="r" b="b" t="t" l="l"/>
              <a:pathLst>
                <a:path h="1097280" w="8229600">
                  <a:moveTo>
                    <a:pt x="0" y="0"/>
                  </a:moveTo>
                  <a:lnTo>
                    <a:pt x="8229600" y="0"/>
                  </a:lnTo>
                  <a:lnTo>
                    <a:pt x="8229600" y="1097280"/>
                  </a:lnTo>
                  <a:lnTo>
                    <a:pt x="0" y="1097280"/>
                  </a:lnTo>
                  <a:close/>
                </a:path>
              </a:pathLst>
            </a:custGeom>
            <a:blipFill>
              <a:blip r:embed="rId3">
                <a:alphaModFix amt="0"/>
              </a:blip>
              <a:stretch>
                <a:fillRect l="0" t="-96137" r="0" b="-96137"/>
              </a:stretch>
            </a:blipFill>
          </p:spPr>
        </p:sp>
        <p:sp>
          <p:nvSpPr>
            <p:cNvPr name="TextBox 14" id="14"/>
            <p:cNvSpPr txBox="true"/>
            <p:nvPr/>
          </p:nvSpPr>
          <p:spPr>
            <a:xfrm>
              <a:off x="0" y="-38100"/>
              <a:ext cx="8229600" cy="1135380"/>
            </a:xfrm>
            <a:prstGeom prst="rect">
              <a:avLst/>
            </a:prstGeom>
          </p:spPr>
          <p:txBody>
            <a:bodyPr anchor="ctr" rtlCol="false" tIns="0" lIns="0" bIns="0" rIns="0"/>
            <a:lstStyle/>
            <a:p>
              <a:pPr algn="l">
                <a:lnSpc>
                  <a:spcPts val="2879"/>
                </a:lnSpc>
              </a:pPr>
              <a:r>
                <a:rPr lang="en-US" sz="2400" b="true">
                  <a:solidFill>
                    <a:srgbClr val="1E2761"/>
                  </a:solidFill>
                  <a:latin typeface="Calibri (MS) Bold"/>
                  <a:ea typeface="Calibri (MS) Bold"/>
                  <a:cs typeface="Calibri (MS) Bold"/>
                  <a:sym typeface="Calibri (MS) Bold"/>
                </a:rPr>
                <a:t>Purpose of Prospect Management</a:t>
              </a:r>
            </a:p>
          </p:txBody>
        </p:sp>
      </p:grpSp>
      <p:grpSp>
        <p:nvGrpSpPr>
          <p:cNvPr name="Group 15" id="15"/>
          <p:cNvGrpSpPr/>
          <p:nvPr/>
        </p:nvGrpSpPr>
        <p:grpSpPr>
          <a:xfrm rot="0">
            <a:off x="1371600" y="3909060"/>
            <a:ext cx="7063740" cy="4800600"/>
            <a:chOff x="0" y="0"/>
            <a:chExt cx="9418320" cy="6400800"/>
          </a:xfrm>
        </p:grpSpPr>
        <p:sp>
          <p:nvSpPr>
            <p:cNvPr name="Freeform 16" id="16"/>
            <p:cNvSpPr/>
            <p:nvPr/>
          </p:nvSpPr>
          <p:spPr>
            <a:xfrm flipH="false" flipV="false" rot="0">
              <a:off x="0" y="0"/>
              <a:ext cx="9418320" cy="6400800"/>
            </a:xfrm>
            <a:custGeom>
              <a:avLst/>
              <a:gdLst/>
              <a:ahLst/>
              <a:cxnLst/>
              <a:rect r="r" b="b" t="t" l="l"/>
              <a:pathLst>
                <a:path h="6400800" w="9418320">
                  <a:moveTo>
                    <a:pt x="0" y="0"/>
                  </a:moveTo>
                  <a:lnTo>
                    <a:pt x="9418320" y="0"/>
                  </a:lnTo>
                  <a:lnTo>
                    <a:pt x="9418320" y="6400800"/>
                  </a:lnTo>
                  <a:lnTo>
                    <a:pt x="0" y="6400800"/>
                  </a:lnTo>
                  <a:close/>
                </a:path>
              </a:pathLst>
            </a:custGeom>
            <a:blipFill>
              <a:blip r:embed="rId3">
                <a:alphaModFix amt="0"/>
              </a:blip>
              <a:stretch>
                <a:fillRect l="-37196" t="0" r="-37196" b="0"/>
              </a:stretch>
            </a:blipFill>
          </p:spPr>
        </p:sp>
        <p:sp>
          <p:nvSpPr>
            <p:cNvPr name="TextBox 17" id="17"/>
            <p:cNvSpPr txBox="true"/>
            <p:nvPr/>
          </p:nvSpPr>
          <p:spPr>
            <a:xfrm>
              <a:off x="0" y="-95250"/>
              <a:ext cx="9418320" cy="6496050"/>
            </a:xfrm>
            <a:prstGeom prst="rect">
              <a:avLst/>
            </a:prstGeom>
          </p:spPr>
          <p:txBody>
            <a:bodyPr anchor="ctr" rtlCol="false" tIns="0" lIns="0" bIns="0" rIns="0"/>
            <a:lstStyle/>
            <a:p>
              <a:pPr algn="l" marL="366474" indent="-183237" lvl="1">
                <a:lnSpc>
                  <a:spcPts val="3000"/>
                </a:lnSpc>
                <a:buFont typeface="Arial"/>
                <a:buChar char="•"/>
              </a:pPr>
              <a:r>
                <a:rPr lang="en-US" sz="2025">
                  <a:solidFill>
                    <a:srgbClr val="3A4066"/>
                  </a:solidFill>
                  <a:latin typeface="Calibri (MS)"/>
                  <a:ea typeface="Calibri (MS)"/>
                  <a:cs typeface="Calibri (MS)"/>
                  <a:sym typeface="Calibri (MS)"/>
                </a:rPr>
                <a:t>Every sales conversation starts with a prospect record — name, company, contact details, and where they stand in the pipeline.</a:t>
              </a:r>
            </a:p>
            <a:p>
              <a:pPr algn="l" marL="366474" indent="-183237" lvl="1">
                <a:lnSpc>
                  <a:spcPts val="3000"/>
                </a:lnSpc>
                <a:buFont typeface="Arial"/>
                <a:buChar char="•"/>
              </a:pPr>
              <a:r>
                <a:rPr lang="en-US" sz="2025">
                  <a:solidFill>
                    <a:srgbClr val="3A4066"/>
                  </a:solidFill>
                  <a:latin typeface="Calibri (MS)"/>
                  <a:ea typeface="Calibri (MS)"/>
                  <a:cs typeface="Calibri (MS)"/>
                  <a:sym typeface="Calibri (MS)"/>
                </a:rPr>
                <a:t>SalesGenie needs a single, reliable source of truth for this data before AI scoring, outreach, or analytics can run on top of it.</a:t>
              </a:r>
            </a:p>
            <a:p>
              <a:pPr algn="l" marL="366474" indent="-183237" lvl="1">
                <a:lnSpc>
                  <a:spcPts val="3000"/>
                </a:lnSpc>
                <a:buFont typeface="Arial"/>
                <a:buChar char="•"/>
              </a:pPr>
              <a:r>
                <a:rPr lang="en-US" sz="2025">
                  <a:solidFill>
                    <a:srgbClr val="3A4066"/>
                  </a:solidFill>
                  <a:latin typeface="Calibri (MS)"/>
                  <a:ea typeface="Calibri (MS)"/>
                  <a:cs typeface="Calibri (MS)"/>
                  <a:sym typeface="Calibri (MS)"/>
                </a:rPr>
                <a:t>Module 1 builds that foundation: a structured Prospect table and the APIs to manage it.</a:t>
              </a:r>
            </a:p>
          </p:txBody>
        </p:sp>
      </p:grpSp>
      <p:grpSp>
        <p:nvGrpSpPr>
          <p:cNvPr name="Group 18" id="18"/>
          <p:cNvGrpSpPr/>
          <p:nvPr/>
        </p:nvGrpSpPr>
        <p:grpSpPr>
          <a:xfrm rot="0">
            <a:off x="9326880" y="2331720"/>
            <a:ext cx="8092440" cy="6720840"/>
            <a:chOff x="0" y="0"/>
            <a:chExt cx="10789920" cy="8961120"/>
          </a:xfrm>
        </p:grpSpPr>
        <p:sp>
          <p:nvSpPr>
            <p:cNvPr name="Freeform 19" id="19"/>
            <p:cNvSpPr/>
            <p:nvPr/>
          </p:nvSpPr>
          <p:spPr>
            <a:xfrm flipH="false" flipV="false" rot="0">
              <a:off x="0" y="0"/>
              <a:ext cx="10789920" cy="8961120"/>
            </a:xfrm>
            <a:custGeom>
              <a:avLst/>
              <a:gdLst/>
              <a:ahLst/>
              <a:cxnLst/>
              <a:rect r="r" b="b" t="t" l="l"/>
              <a:pathLst>
                <a:path h="8961120" w="10789920">
                  <a:moveTo>
                    <a:pt x="0" y="219456"/>
                  </a:moveTo>
                  <a:cubicBezTo>
                    <a:pt x="0" y="98298"/>
                    <a:pt x="98298" y="0"/>
                    <a:pt x="219456" y="0"/>
                  </a:cubicBezTo>
                  <a:lnTo>
                    <a:pt x="10570464" y="0"/>
                  </a:lnTo>
                  <a:cubicBezTo>
                    <a:pt x="10691622" y="0"/>
                    <a:pt x="10789920" y="98298"/>
                    <a:pt x="10789920" y="219456"/>
                  </a:cubicBezTo>
                  <a:lnTo>
                    <a:pt x="10789920" y="8741664"/>
                  </a:lnTo>
                  <a:cubicBezTo>
                    <a:pt x="10789920" y="8862822"/>
                    <a:pt x="10691622" y="8961120"/>
                    <a:pt x="10570464" y="8961120"/>
                  </a:cubicBezTo>
                  <a:lnTo>
                    <a:pt x="219456" y="8961120"/>
                  </a:lnTo>
                  <a:cubicBezTo>
                    <a:pt x="98298" y="8961120"/>
                    <a:pt x="0" y="8862822"/>
                    <a:pt x="0" y="8741664"/>
                  </a:cubicBezTo>
                  <a:close/>
                </a:path>
              </a:pathLst>
            </a:custGeom>
            <a:solidFill>
              <a:srgbClr val="1E2761"/>
            </a:solidFill>
          </p:spPr>
        </p:sp>
      </p:grpSp>
      <p:grpSp>
        <p:nvGrpSpPr>
          <p:cNvPr name="Group 20" id="20"/>
          <p:cNvGrpSpPr/>
          <p:nvPr/>
        </p:nvGrpSpPr>
        <p:grpSpPr>
          <a:xfrm rot="0">
            <a:off x="9875520" y="2880360"/>
            <a:ext cx="822960" cy="822960"/>
            <a:chOff x="0" y="0"/>
            <a:chExt cx="1097280" cy="1097280"/>
          </a:xfrm>
        </p:grpSpPr>
        <p:sp>
          <p:nvSpPr>
            <p:cNvPr name="Freeform 21" id="21"/>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D5AFE"/>
            </a:solidFill>
          </p:spPr>
        </p:sp>
      </p:grpSp>
      <p:grpSp>
        <p:nvGrpSpPr>
          <p:cNvPr name="Group 22" id="22"/>
          <p:cNvGrpSpPr/>
          <p:nvPr/>
        </p:nvGrpSpPr>
        <p:grpSpPr>
          <a:xfrm rot="0">
            <a:off x="9875520" y="2880360"/>
            <a:ext cx="822960" cy="822960"/>
            <a:chOff x="0" y="0"/>
            <a:chExt cx="1097280" cy="1097280"/>
          </a:xfrm>
        </p:grpSpPr>
        <p:sp>
          <p:nvSpPr>
            <p:cNvPr name="Freeform 23" id="2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24" id="24"/>
            <p:cNvSpPr txBox="true"/>
            <p:nvPr/>
          </p:nvSpPr>
          <p:spPr>
            <a:xfrm>
              <a:off x="0" y="-66675"/>
              <a:ext cx="1097280" cy="1163955"/>
            </a:xfrm>
            <a:prstGeom prst="rect">
              <a:avLst/>
            </a:prstGeom>
          </p:spPr>
          <p:txBody>
            <a:bodyPr anchor="ctr" rtlCol="false" tIns="0" lIns="0" bIns="0" rIns="0"/>
            <a:lstStyle/>
            <a:p>
              <a:pPr algn="ctr">
                <a:lnSpc>
                  <a:spcPts val="3960"/>
                </a:lnSpc>
              </a:pPr>
              <a:r>
                <a:rPr lang="en-US" sz="3300" b="true">
                  <a:solidFill>
                    <a:srgbClr val="FFFFFF"/>
                  </a:solidFill>
                  <a:latin typeface="Calibri (MS) Bold"/>
                  <a:ea typeface="Calibri (MS) Bold"/>
                  <a:cs typeface="Calibri (MS) Bold"/>
                  <a:sym typeface="Calibri (MS) Bold"/>
                </a:rPr>
                <a:t>⇄</a:t>
              </a:r>
            </a:p>
          </p:txBody>
        </p:sp>
      </p:grpSp>
      <p:grpSp>
        <p:nvGrpSpPr>
          <p:cNvPr name="Group 25" id="25"/>
          <p:cNvGrpSpPr/>
          <p:nvPr/>
        </p:nvGrpSpPr>
        <p:grpSpPr>
          <a:xfrm rot="0">
            <a:off x="10904220" y="2880360"/>
            <a:ext cx="6172200" cy="822960"/>
            <a:chOff x="0" y="0"/>
            <a:chExt cx="8229600" cy="1097280"/>
          </a:xfrm>
        </p:grpSpPr>
        <p:sp>
          <p:nvSpPr>
            <p:cNvPr name="Freeform 26" id="26"/>
            <p:cNvSpPr/>
            <p:nvPr/>
          </p:nvSpPr>
          <p:spPr>
            <a:xfrm flipH="false" flipV="false" rot="0">
              <a:off x="0" y="0"/>
              <a:ext cx="8229600" cy="1097280"/>
            </a:xfrm>
            <a:custGeom>
              <a:avLst/>
              <a:gdLst/>
              <a:ahLst/>
              <a:cxnLst/>
              <a:rect r="r" b="b" t="t" l="l"/>
              <a:pathLst>
                <a:path h="1097280" w="8229600">
                  <a:moveTo>
                    <a:pt x="0" y="0"/>
                  </a:moveTo>
                  <a:lnTo>
                    <a:pt x="8229600" y="0"/>
                  </a:lnTo>
                  <a:lnTo>
                    <a:pt x="8229600" y="1097280"/>
                  </a:lnTo>
                  <a:lnTo>
                    <a:pt x="0" y="1097280"/>
                  </a:lnTo>
                  <a:close/>
                </a:path>
              </a:pathLst>
            </a:custGeom>
            <a:blipFill>
              <a:blip r:embed="rId3">
                <a:alphaModFix amt="0"/>
              </a:blip>
              <a:stretch>
                <a:fillRect l="0" t="-96137" r="0" b="-96137"/>
              </a:stretch>
            </a:blipFill>
          </p:spPr>
        </p:sp>
        <p:sp>
          <p:nvSpPr>
            <p:cNvPr name="TextBox 27" id="27"/>
            <p:cNvSpPr txBox="true"/>
            <p:nvPr/>
          </p:nvSpPr>
          <p:spPr>
            <a:xfrm>
              <a:off x="0" y="-38100"/>
              <a:ext cx="8229600" cy="113538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Why CRUD APIs Are Needed</a:t>
              </a:r>
            </a:p>
          </p:txBody>
        </p:sp>
      </p:grpSp>
      <p:grpSp>
        <p:nvGrpSpPr>
          <p:cNvPr name="Group 28" id="28"/>
          <p:cNvGrpSpPr/>
          <p:nvPr/>
        </p:nvGrpSpPr>
        <p:grpSpPr>
          <a:xfrm rot="0">
            <a:off x="9875520" y="3909060"/>
            <a:ext cx="7063740" cy="4800600"/>
            <a:chOff x="0" y="0"/>
            <a:chExt cx="9418320" cy="6400800"/>
          </a:xfrm>
        </p:grpSpPr>
        <p:sp>
          <p:nvSpPr>
            <p:cNvPr name="Freeform 29" id="29"/>
            <p:cNvSpPr/>
            <p:nvPr/>
          </p:nvSpPr>
          <p:spPr>
            <a:xfrm flipH="false" flipV="false" rot="0">
              <a:off x="0" y="0"/>
              <a:ext cx="9418320" cy="6400800"/>
            </a:xfrm>
            <a:custGeom>
              <a:avLst/>
              <a:gdLst/>
              <a:ahLst/>
              <a:cxnLst/>
              <a:rect r="r" b="b" t="t" l="l"/>
              <a:pathLst>
                <a:path h="6400800" w="9418320">
                  <a:moveTo>
                    <a:pt x="0" y="0"/>
                  </a:moveTo>
                  <a:lnTo>
                    <a:pt x="9418320" y="0"/>
                  </a:lnTo>
                  <a:lnTo>
                    <a:pt x="9418320" y="6400800"/>
                  </a:lnTo>
                  <a:lnTo>
                    <a:pt x="0" y="6400800"/>
                  </a:lnTo>
                  <a:close/>
                </a:path>
              </a:pathLst>
            </a:custGeom>
            <a:blipFill>
              <a:blip r:embed="rId3">
                <a:alphaModFix amt="0"/>
              </a:blip>
              <a:stretch>
                <a:fillRect l="-37196" t="0" r="-37196" b="0"/>
              </a:stretch>
            </a:blipFill>
          </p:spPr>
        </p:sp>
        <p:sp>
          <p:nvSpPr>
            <p:cNvPr name="TextBox 30" id="30"/>
            <p:cNvSpPr txBox="true"/>
            <p:nvPr/>
          </p:nvSpPr>
          <p:spPr>
            <a:xfrm>
              <a:off x="0" y="-95250"/>
              <a:ext cx="9418320" cy="6496050"/>
            </a:xfrm>
            <a:prstGeom prst="rect">
              <a:avLst/>
            </a:prstGeom>
          </p:spPr>
          <p:txBody>
            <a:bodyPr anchor="ctr" rtlCol="false" tIns="0" lIns="0" bIns="0" rIns="0"/>
            <a:lstStyle/>
            <a:p>
              <a:pPr algn="l" marL="366474" indent="-183237" lvl="1">
                <a:lnSpc>
                  <a:spcPts val="3000"/>
                </a:lnSpc>
                <a:buFont typeface="Arial"/>
                <a:buChar char="•"/>
              </a:pPr>
              <a:r>
                <a:rPr lang="en-US" sz="2025">
                  <a:solidFill>
                    <a:srgbClr val="D8DEFA"/>
                  </a:solidFill>
                  <a:latin typeface="Calibri (MS)"/>
                  <a:ea typeface="Calibri (MS)"/>
                  <a:cs typeface="Calibri (MS)"/>
                  <a:sym typeface="Calibri (MS)"/>
                </a:rPr>
                <a:t>Create — capture new prospects as they enter the pipeline (manual entry or CSV import).</a:t>
              </a:r>
            </a:p>
            <a:p>
              <a:pPr algn="l" marL="366474" indent="-183237" lvl="1">
                <a:lnSpc>
                  <a:spcPts val="3000"/>
                </a:lnSpc>
                <a:buFont typeface="Arial"/>
                <a:buChar char="•"/>
              </a:pPr>
              <a:r>
                <a:rPr lang="en-US" sz="2025">
                  <a:solidFill>
                    <a:srgbClr val="D8DEFA"/>
                  </a:solidFill>
                  <a:latin typeface="Calibri (MS)"/>
                  <a:ea typeface="Calibri (MS)"/>
                  <a:cs typeface="Calibri (MS)"/>
                  <a:sym typeface="Calibri (MS)"/>
                </a:rPr>
                <a:t>Read — retrieve all prospects or a single record for the dashboard and other modules.</a:t>
              </a:r>
            </a:p>
            <a:p>
              <a:pPr algn="l" marL="366474" indent="-183237" lvl="1">
                <a:lnSpc>
                  <a:spcPts val="3000"/>
                </a:lnSpc>
                <a:buFont typeface="Arial"/>
                <a:buChar char="•"/>
              </a:pPr>
              <a:r>
                <a:rPr lang="en-US" sz="2025">
                  <a:solidFill>
                    <a:srgbClr val="D8DEFA"/>
                  </a:solidFill>
                  <a:latin typeface="Calibri (MS)"/>
                  <a:ea typeface="Calibri (MS)"/>
                  <a:cs typeface="Calibri (MS)"/>
                  <a:sym typeface="Calibri (MS)"/>
                </a:rPr>
                <a:t>Update — keep status, notes, and contact details current as deals progress.</a:t>
              </a:r>
            </a:p>
            <a:p>
              <a:pPr algn="l" marL="366474" indent="-183237" lvl="1">
                <a:lnSpc>
                  <a:spcPts val="3000"/>
                </a:lnSpc>
                <a:buFont typeface="Arial"/>
                <a:buChar char="•"/>
              </a:pPr>
              <a:r>
                <a:rPr lang="en-US" sz="2025">
                  <a:solidFill>
                    <a:srgbClr val="D8DEFA"/>
                  </a:solidFill>
                  <a:latin typeface="Calibri (MS)"/>
                  <a:ea typeface="Calibri (MS)"/>
                  <a:cs typeface="Calibri (MS)"/>
                  <a:sym typeface="Calibri (MS)"/>
                </a:rPr>
                <a:t>Delete — remove invalid or unwanted records cleanly.</a:t>
              </a:r>
            </a:p>
          </p:txBody>
        </p:sp>
      </p:grpSp>
      <p:grpSp>
        <p:nvGrpSpPr>
          <p:cNvPr name="Group 31" id="31"/>
          <p:cNvGrpSpPr/>
          <p:nvPr/>
        </p:nvGrpSpPr>
        <p:grpSpPr>
          <a:xfrm rot="0">
            <a:off x="685800" y="9710928"/>
            <a:ext cx="9601200" cy="411480"/>
            <a:chOff x="0" y="0"/>
            <a:chExt cx="12801600" cy="548640"/>
          </a:xfrm>
        </p:grpSpPr>
        <p:sp>
          <p:nvSpPr>
            <p:cNvPr name="Freeform 32" id="32"/>
            <p:cNvSpPr/>
            <p:nvPr/>
          </p:nvSpPr>
          <p:spPr>
            <a:xfrm flipH="false" flipV="false" rot="0">
              <a:off x="0" y="0"/>
              <a:ext cx="12801600" cy="548640"/>
            </a:xfrm>
            <a:custGeom>
              <a:avLst/>
              <a:gdLst/>
              <a:ahLst/>
              <a:cxnLst/>
              <a:rect r="r" b="b" t="t" l="l"/>
              <a:pathLst>
                <a:path h="548640" w="12801600">
                  <a:moveTo>
                    <a:pt x="0" y="0"/>
                  </a:moveTo>
                  <a:lnTo>
                    <a:pt x="12801600" y="0"/>
                  </a:lnTo>
                  <a:lnTo>
                    <a:pt x="12801600" y="548640"/>
                  </a:lnTo>
                  <a:lnTo>
                    <a:pt x="0" y="548640"/>
                  </a:lnTo>
                  <a:close/>
                </a:path>
              </a:pathLst>
            </a:custGeom>
            <a:blipFill>
              <a:blip r:embed="rId3">
                <a:alphaModFix amt="0"/>
              </a:blip>
              <a:stretch>
                <a:fillRect l="0" t="-404650" r="0" b="-404650"/>
              </a:stretch>
            </a:blipFill>
          </p:spPr>
        </p:sp>
        <p:sp>
          <p:nvSpPr>
            <p:cNvPr name="TextBox 33" id="33"/>
            <p:cNvSpPr txBox="true"/>
            <p:nvPr/>
          </p:nvSpPr>
          <p:spPr>
            <a:xfrm>
              <a:off x="0" y="-38100"/>
              <a:ext cx="12801600" cy="586740"/>
            </a:xfrm>
            <a:prstGeom prst="rect">
              <a:avLst/>
            </a:prstGeom>
          </p:spPr>
          <p:txBody>
            <a:bodyPr anchor="ctr" rtlCol="false" tIns="0" lIns="0" bIns="0" rIns="0"/>
            <a:lstStyle/>
            <a:p>
              <a:pPr algn="l">
                <a:lnSpc>
                  <a:spcPts val="1800"/>
                </a:lnSpc>
              </a:pPr>
              <a:r>
                <a:rPr lang="en-US" sz="1500">
                  <a:solidFill>
                    <a:srgbClr val="6B7290"/>
                  </a:solidFill>
                  <a:latin typeface="Calibri (MS)"/>
                  <a:ea typeface="Calibri (MS)"/>
                  <a:cs typeface="Calibri (MS)"/>
                  <a:sym typeface="Calibri (MS)"/>
                </a:rPr>
                <a:t>SalesGenie  |  Module 1 – Prospect CRUD API</a:t>
              </a:r>
            </a:p>
          </p:txBody>
        </p:sp>
      </p:grpSp>
      <p:grpSp>
        <p:nvGrpSpPr>
          <p:cNvPr name="Group 34" id="34"/>
          <p:cNvGrpSpPr/>
          <p:nvPr/>
        </p:nvGrpSpPr>
        <p:grpSpPr>
          <a:xfrm rot="0">
            <a:off x="16911828" y="9710928"/>
            <a:ext cx="685800" cy="411480"/>
            <a:chOff x="0" y="0"/>
            <a:chExt cx="914400" cy="548640"/>
          </a:xfrm>
        </p:grpSpPr>
        <p:sp>
          <p:nvSpPr>
            <p:cNvPr name="Freeform 35" id="3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6" id="36"/>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90"/>
                  </a:solidFill>
                  <a:latin typeface="Calibri (MS)"/>
                  <a:ea typeface="Calibri (MS)"/>
                  <a:cs typeface="Calibri (MS)"/>
                  <a:sym typeface="Calibri (MS)"/>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15773400" cy="960120"/>
            <a:chOff x="0" y="0"/>
            <a:chExt cx="21031200" cy="1280160"/>
          </a:xfrm>
        </p:grpSpPr>
        <p:sp>
          <p:nvSpPr>
            <p:cNvPr name="Freeform 3" id="3"/>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4" id="4"/>
            <p:cNvSpPr txBox="true"/>
            <p:nvPr/>
          </p:nvSpPr>
          <p:spPr>
            <a:xfrm>
              <a:off x="0" y="-19050"/>
              <a:ext cx="21031200" cy="1299210"/>
            </a:xfrm>
            <a:prstGeom prst="rect">
              <a:avLst/>
            </a:prstGeom>
          </p:spPr>
          <p:txBody>
            <a:bodyPr anchor="ctr" rtlCol="false" tIns="0" lIns="0" bIns="0" rIns="0"/>
            <a:lstStyle/>
            <a:p>
              <a:pPr algn="l">
                <a:lnSpc>
                  <a:spcPts val="5400"/>
                </a:lnSpc>
              </a:pPr>
              <a:r>
                <a:rPr lang="en-US" sz="4500" b="true">
                  <a:solidFill>
                    <a:srgbClr val="1E2761"/>
                  </a:solidFill>
                  <a:latin typeface="Cambria Bold"/>
                  <a:ea typeface="Cambria Bold"/>
                  <a:cs typeface="Cambria Bold"/>
                  <a:sym typeface="Cambria Bold"/>
                </a:rPr>
                <a:t>Database Design</a:t>
              </a:r>
            </a:p>
          </p:txBody>
        </p:sp>
      </p:grpSp>
      <p:grpSp>
        <p:nvGrpSpPr>
          <p:cNvPr name="Group 5" id="5"/>
          <p:cNvGrpSpPr/>
          <p:nvPr/>
        </p:nvGrpSpPr>
        <p:grpSpPr>
          <a:xfrm rot="0">
            <a:off x="822960" y="1371600"/>
            <a:ext cx="15773400" cy="548640"/>
            <a:chOff x="0" y="0"/>
            <a:chExt cx="21031200" cy="731520"/>
          </a:xfrm>
        </p:grpSpPr>
        <p:sp>
          <p:nvSpPr>
            <p:cNvPr name="Freeform 6" id="6"/>
            <p:cNvSpPr/>
            <p:nvPr/>
          </p:nvSpPr>
          <p:spPr>
            <a:xfrm flipH="false" flipV="false" rot="0">
              <a:off x="0" y="0"/>
              <a:ext cx="21031200" cy="731520"/>
            </a:xfrm>
            <a:custGeom>
              <a:avLst/>
              <a:gdLst/>
              <a:ahLst/>
              <a:cxnLst/>
              <a:rect r="r" b="b" t="t" l="l"/>
              <a:pathLst>
                <a:path h="731520" w="21031200">
                  <a:moveTo>
                    <a:pt x="0" y="0"/>
                  </a:moveTo>
                  <a:lnTo>
                    <a:pt x="21031200" y="0"/>
                  </a:lnTo>
                  <a:lnTo>
                    <a:pt x="21031200" y="731520"/>
                  </a:lnTo>
                  <a:lnTo>
                    <a:pt x="0" y="731520"/>
                  </a:lnTo>
                  <a:close/>
                </a:path>
              </a:pathLst>
            </a:custGeom>
            <a:blipFill>
              <a:blip r:embed="rId3">
                <a:alphaModFix amt="0"/>
              </a:blip>
              <a:stretch>
                <a:fillRect l="0" t="-510194" r="0" b="-510194"/>
              </a:stretch>
            </a:blipFill>
          </p:spPr>
        </p:sp>
        <p:sp>
          <p:nvSpPr>
            <p:cNvPr name="TextBox 7" id="7"/>
            <p:cNvSpPr txBox="true"/>
            <p:nvPr/>
          </p:nvSpPr>
          <p:spPr>
            <a:xfrm>
              <a:off x="0" y="-47625"/>
              <a:ext cx="21031200" cy="779145"/>
            </a:xfrm>
            <a:prstGeom prst="rect">
              <a:avLst/>
            </a:prstGeom>
          </p:spPr>
          <p:txBody>
            <a:bodyPr anchor="ctr" rtlCol="false" tIns="0" lIns="0" bIns="0" rIns="0"/>
            <a:lstStyle/>
            <a:p>
              <a:pPr algn="l">
                <a:lnSpc>
                  <a:spcPts val="2520"/>
                </a:lnSpc>
              </a:pPr>
              <a:r>
                <a:rPr lang="en-US" sz="2100">
                  <a:solidFill>
                    <a:srgbClr val="6B7290"/>
                  </a:solidFill>
                  <a:latin typeface="Calibri (MS)"/>
                  <a:ea typeface="Calibri (MS)"/>
                  <a:cs typeface="Calibri (MS)"/>
                  <a:sym typeface="Calibri (MS)"/>
                </a:rPr>
                <a:t>Prospect (Lead) table schema</a:t>
              </a:r>
            </a:p>
          </p:txBody>
        </p:sp>
      </p:grpSp>
      <p:grpSp>
        <p:nvGrpSpPr>
          <p:cNvPr name="Group 8" id="8"/>
          <p:cNvGrpSpPr/>
          <p:nvPr/>
        </p:nvGrpSpPr>
        <p:grpSpPr>
          <a:xfrm rot="0">
            <a:off x="822960" y="2400300"/>
            <a:ext cx="7680960" cy="6858000"/>
            <a:chOff x="0" y="0"/>
            <a:chExt cx="10241280" cy="9144000"/>
          </a:xfrm>
        </p:grpSpPr>
        <p:sp>
          <p:nvSpPr>
            <p:cNvPr name="Freeform 9" id="9"/>
            <p:cNvSpPr/>
            <p:nvPr/>
          </p:nvSpPr>
          <p:spPr>
            <a:xfrm flipH="false" flipV="false" rot="0">
              <a:off x="0" y="0"/>
              <a:ext cx="10241280" cy="9144000"/>
            </a:xfrm>
            <a:custGeom>
              <a:avLst/>
              <a:gdLst/>
              <a:ahLst/>
              <a:cxnLst/>
              <a:rect r="r" b="b" t="t" l="l"/>
              <a:pathLst>
                <a:path h="9144000" w="10241280">
                  <a:moveTo>
                    <a:pt x="0" y="182880"/>
                  </a:moveTo>
                  <a:cubicBezTo>
                    <a:pt x="0" y="81915"/>
                    <a:pt x="81915" y="0"/>
                    <a:pt x="182880" y="0"/>
                  </a:cubicBezTo>
                  <a:lnTo>
                    <a:pt x="10058400" y="0"/>
                  </a:lnTo>
                  <a:cubicBezTo>
                    <a:pt x="10159365" y="0"/>
                    <a:pt x="10241280" y="81915"/>
                    <a:pt x="10241280" y="182880"/>
                  </a:cubicBezTo>
                  <a:lnTo>
                    <a:pt x="10241280" y="8961120"/>
                  </a:lnTo>
                  <a:cubicBezTo>
                    <a:pt x="10241280" y="9062085"/>
                    <a:pt x="10159365" y="9144000"/>
                    <a:pt x="10058400" y="9144000"/>
                  </a:cubicBezTo>
                  <a:lnTo>
                    <a:pt x="182880" y="9144000"/>
                  </a:lnTo>
                  <a:cubicBezTo>
                    <a:pt x="81915" y="9144000"/>
                    <a:pt x="0" y="9062085"/>
                    <a:pt x="0" y="8961120"/>
                  </a:cubicBezTo>
                  <a:close/>
                </a:path>
              </a:pathLst>
            </a:custGeom>
            <a:solidFill>
              <a:srgbClr val="1E2761"/>
            </a:solidFill>
          </p:spPr>
        </p:sp>
      </p:grpSp>
      <p:grpSp>
        <p:nvGrpSpPr>
          <p:cNvPr name="Group 10" id="10"/>
          <p:cNvGrpSpPr/>
          <p:nvPr/>
        </p:nvGrpSpPr>
        <p:grpSpPr>
          <a:xfrm rot="0">
            <a:off x="1303020" y="2880360"/>
            <a:ext cx="6720840" cy="754380"/>
            <a:chOff x="0" y="0"/>
            <a:chExt cx="8961120" cy="1005840"/>
          </a:xfrm>
        </p:grpSpPr>
        <p:sp>
          <p:nvSpPr>
            <p:cNvPr name="Freeform 11" id="11"/>
            <p:cNvSpPr/>
            <p:nvPr/>
          </p:nvSpPr>
          <p:spPr>
            <a:xfrm flipH="false" flipV="false" rot="0">
              <a:off x="0" y="0"/>
              <a:ext cx="8961120" cy="1005840"/>
            </a:xfrm>
            <a:custGeom>
              <a:avLst/>
              <a:gdLst/>
              <a:ahLst/>
              <a:cxnLst/>
              <a:rect r="r" b="b" t="t" l="l"/>
              <a:pathLst>
                <a:path h="1005840" w="8961120">
                  <a:moveTo>
                    <a:pt x="0" y="109728"/>
                  </a:moveTo>
                  <a:cubicBezTo>
                    <a:pt x="0" y="49149"/>
                    <a:pt x="49149" y="0"/>
                    <a:pt x="109728" y="0"/>
                  </a:cubicBezTo>
                  <a:lnTo>
                    <a:pt x="8851392" y="0"/>
                  </a:lnTo>
                  <a:cubicBezTo>
                    <a:pt x="8911972" y="0"/>
                    <a:pt x="8961120" y="49149"/>
                    <a:pt x="8961120" y="109728"/>
                  </a:cubicBezTo>
                  <a:lnTo>
                    <a:pt x="8961120" y="896112"/>
                  </a:lnTo>
                  <a:cubicBezTo>
                    <a:pt x="8961120" y="956691"/>
                    <a:pt x="8911972" y="1005840"/>
                    <a:pt x="8851392" y="1005840"/>
                  </a:cubicBezTo>
                  <a:lnTo>
                    <a:pt x="109728" y="1005840"/>
                  </a:lnTo>
                  <a:cubicBezTo>
                    <a:pt x="49149" y="1005840"/>
                    <a:pt x="0" y="956691"/>
                    <a:pt x="0" y="896112"/>
                  </a:cubicBezTo>
                  <a:close/>
                </a:path>
              </a:pathLst>
            </a:custGeom>
            <a:solidFill>
              <a:srgbClr val="3D5AFE"/>
            </a:solidFill>
          </p:spPr>
        </p:sp>
      </p:grpSp>
      <p:grpSp>
        <p:nvGrpSpPr>
          <p:cNvPr name="Group 12" id="12"/>
          <p:cNvGrpSpPr/>
          <p:nvPr/>
        </p:nvGrpSpPr>
        <p:grpSpPr>
          <a:xfrm rot="0">
            <a:off x="1303020" y="2880360"/>
            <a:ext cx="6720840" cy="754380"/>
            <a:chOff x="0" y="0"/>
            <a:chExt cx="8961120" cy="1005840"/>
          </a:xfrm>
        </p:grpSpPr>
        <p:sp>
          <p:nvSpPr>
            <p:cNvPr name="Freeform 13" id="13"/>
            <p:cNvSpPr/>
            <p:nvPr/>
          </p:nvSpPr>
          <p:spPr>
            <a:xfrm flipH="false" flipV="false" rot="0">
              <a:off x="0" y="0"/>
              <a:ext cx="8961120" cy="1005840"/>
            </a:xfrm>
            <a:custGeom>
              <a:avLst/>
              <a:gdLst/>
              <a:ahLst/>
              <a:cxnLst/>
              <a:rect r="r" b="b" t="t" l="l"/>
              <a:pathLst>
                <a:path h="1005840" w="8961120">
                  <a:moveTo>
                    <a:pt x="0" y="0"/>
                  </a:moveTo>
                  <a:lnTo>
                    <a:pt x="8961120" y="0"/>
                  </a:lnTo>
                  <a:lnTo>
                    <a:pt x="8961120" y="1005840"/>
                  </a:lnTo>
                  <a:lnTo>
                    <a:pt x="0" y="1005840"/>
                  </a:lnTo>
                  <a:close/>
                </a:path>
              </a:pathLst>
            </a:custGeom>
            <a:blipFill>
              <a:blip r:embed="rId3">
                <a:alphaModFix amt="0"/>
              </a:blip>
              <a:stretch>
                <a:fillRect l="0" t="-123593" r="0" b="-123593"/>
              </a:stretch>
            </a:blipFill>
          </p:spPr>
        </p:sp>
        <p:sp>
          <p:nvSpPr>
            <p:cNvPr name="TextBox 14" id="14"/>
            <p:cNvSpPr txBox="true"/>
            <p:nvPr/>
          </p:nvSpPr>
          <p:spPr>
            <a:xfrm>
              <a:off x="0" y="-38100"/>
              <a:ext cx="8961120" cy="104394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PROSPECT</a:t>
              </a:r>
            </a:p>
          </p:txBody>
        </p:sp>
      </p:grpSp>
      <p:grpSp>
        <p:nvGrpSpPr>
          <p:cNvPr name="Group 15" id="15"/>
          <p:cNvGrpSpPr/>
          <p:nvPr/>
        </p:nvGrpSpPr>
        <p:grpSpPr>
          <a:xfrm rot="0">
            <a:off x="1303020" y="3840480"/>
            <a:ext cx="6720840" cy="576072"/>
            <a:chOff x="0" y="0"/>
            <a:chExt cx="8961120" cy="768096"/>
          </a:xfrm>
        </p:grpSpPr>
        <p:sp>
          <p:nvSpPr>
            <p:cNvPr name="Freeform 16" id="16"/>
            <p:cNvSpPr/>
            <p:nvPr/>
          </p:nvSpPr>
          <p:spPr>
            <a:xfrm flipH="false" flipV="false" rot="0">
              <a:off x="0" y="0"/>
              <a:ext cx="8961120" cy="768096"/>
            </a:xfrm>
            <a:custGeom>
              <a:avLst/>
              <a:gdLst/>
              <a:ahLst/>
              <a:cxnLst/>
              <a:rect r="r" b="b" t="t" l="l"/>
              <a:pathLst>
                <a:path h="768096" w="8961120">
                  <a:moveTo>
                    <a:pt x="0" y="0"/>
                  </a:moveTo>
                  <a:lnTo>
                    <a:pt x="8961120" y="0"/>
                  </a:lnTo>
                  <a:lnTo>
                    <a:pt x="8961120" y="768096"/>
                  </a:lnTo>
                  <a:lnTo>
                    <a:pt x="0" y="768096"/>
                  </a:lnTo>
                  <a:close/>
                </a:path>
              </a:pathLst>
            </a:custGeom>
            <a:solidFill>
              <a:srgbClr val="222B66"/>
            </a:solidFill>
          </p:spPr>
        </p:sp>
      </p:grpSp>
      <p:grpSp>
        <p:nvGrpSpPr>
          <p:cNvPr name="Group 17" id="17"/>
          <p:cNvGrpSpPr/>
          <p:nvPr/>
        </p:nvGrpSpPr>
        <p:grpSpPr>
          <a:xfrm rot="0">
            <a:off x="1508760" y="3840480"/>
            <a:ext cx="2743200" cy="576072"/>
            <a:chOff x="0" y="0"/>
            <a:chExt cx="3657600" cy="768096"/>
          </a:xfrm>
        </p:grpSpPr>
        <p:sp>
          <p:nvSpPr>
            <p:cNvPr name="Freeform 18" id="18"/>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3">
                <a:alphaModFix amt="0"/>
              </a:blip>
              <a:stretch>
                <a:fillRect l="0" t="-42785" r="0" b="-42785"/>
              </a:stretch>
            </a:blipFill>
          </p:spPr>
        </p:sp>
        <p:sp>
          <p:nvSpPr>
            <p:cNvPr name="TextBox 19" id="19"/>
            <p:cNvSpPr txBox="true"/>
            <p:nvPr/>
          </p:nvSpPr>
          <p:spPr>
            <a:xfrm>
              <a:off x="0" y="-9525"/>
              <a:ext cx="3657600" cy="777621"/>
            </a:xfrm>
            <a:prstGeom prst="rect">
              <a:avLst/>
            </a:prstGeom>
          </p:spPr>
          <p:txBody>
            <a:bodyPr anchor="ctr" rtlCol="false" tIns="0" lIns="0" bIns="0" rIns="0"/>
            <a:lstStyle/>
            <a:p>
              <a:pPr algn="l">
                <a:lnSpc>
                  <a:spcPts val="2160"/>
                </a:lnSpc>
              </a:pPr>
              <a:r>
                <a:rPr lang="en-US" sz="1800" b="true">
                  <a:solidFill>
                    <a:srgbClr val="CADCFC"/>
                  </a:solidFill>
                  <a:latin typeface="Courier New Bold"/>
                  <a:ea typeface="Courier New Bold"/>
                  <a:cs typeface="Courier New Bold"/>
                  <a:sym typeface="Courier New Bold"/>
                </a:rPr>
                <a:t>id</a:t>
              </a:r>
            </a:p>
          </p:txBody>
        </p:sp>
      </p:grpSp>
      <p:grpSp>
        <p:nvGrpSpPr>
          <p:cNvPr name="Group 20" id="20"/>
          <p:cNvGrpSpPr/>
          <p:nvPr/>
        </p:nvGrpSpPr>
        <p:grpSpPr>
          <a:xfrm rot="0">
            <a:off x="4251960" y="3840480"/>
            <a:ext cx="3566160" cy="576072"/>
            <a:chOff x="0" y="0"/>
            <a:chExt cx="4754880" cy="768096"/>
          </a:xfrm>
        </p:grpSpPr>
        <p:sp>
          <p:nvSpPr>
            <p:cNvPr name="Freeform 21" id="21"/>
            <p:cNvSpPr/>
            <p:nvPr/>
          </p:nvSpPr>
          <p:spPr>
            <a:xfrm flipH="false" flipV="false" rot="0">
              <a:off x="0" y="0"/>
              <a:ext cx="4754880" cy="768096"/>
            </a:xfrm>
            <a:custGeom>
              <a:avLst/>
              <a:gdLst/>
              <a:ahLst/>
              <a:cxnLst/>
              <a:rect r="r" b="b" t="t" l="l"/>
              <a:pathLst>
                <a:path h="768096" w="4754880">
                  <a:moveTo>
                    <a:pt x="0" y="0"/>
                  </a:moveTo>
                  <a:lnTo>
                    <a:pt x="4754880" y="0"/>
                  </a:lnTo>
                  <a:lnTo>
                    <a:pt x="4754880" y="768096"/>
                  </a:lnTo>
                  <a:lnTo>
                    <a:pt x="0" y="768096"/>
                  </a:lnTo>
                  <a:close/>
                </a:path>
              </a:pathLst>
            </a:custGeom>
            <a:blipFill>
              <a:blip r:embed="rId3">
                <a:alphaModFix amt="0"/>
              </a:blip>
              <a:stretch>
                <a:fillRect l="0" t="-70621" r="0" b="-70621"/>
              </a:stretch>
            </a:blipFill>
          </p:spPr>
        </p:sp>
        <p:sp>
          <p:nvSpPr>
            <p:cNvPr name="TextBox 22" id="22"/>
            <p:cNvSpPr txBox="true"/>
            <p:nvPr/>
          </p:nvSpPr>
          <p:spPr>
            <a:xfrm>
              <a:off x="0" y="-28575"/>
              <a:ext cx="4754880" cy="796671"/>
            </a:xfrm>
            <a:prstGeom prst="rect">
              <a:avLst/>
            </a:prstGeom>
          </p:spPr>
          <p:txBody>
            <a:bodyPr anchor="ctr" rtlCol="false" tIns="0" lIns="0" bIns="0" rIns="0"/>
            <a:lstStyle/>
            <a:p>
              <a:pPr algn="l">
                <a:lnSpc>
                  <a:spcPts val="1980"/>
                </a:lnSpc>
              </a:pPr>
              <a:r>
                <a:rPr lang="en-US" sz="1650">
                  <a:solidFill>
                    <a:srgbClr val="AAB3E8"/>
                  </a:solidFill>
                  <a:latin typeface="Calibri (MS)"/>
                  <a:ea typeface="Calibri (MS)"/>
                  <a:cs typeface="Calibri (MS)"/>
                  <a:sym typeface="Calibri (MS)"/>
                </a:rPr>
                <a:t>INTEGER  ·  PK</a:t>
              </a:r>
            </a:p>
          </p:txBody>
        </p:sp>
      </p:grpSp>
      <p:grpSp>
        <p:nvGrpSpPr>
          <p:cNvPr name="Group 23" id="23"/>
          <p:cNvGrpSpPr/>
          <p:nvPr/>
        </p:nvGrpSpPr>
        <p:grpSpPr>
          <a:xfrm rot="0">
            <a:off x="1508760" y="4416552"/>
            <a:ext cx="2743200" cy="576072"/>
            <a:chOff x="0" y="0"/>
            <a:chExt cx="3657600" cy="768096"/>
          </a:xfrm>
        </p:grpSpPr>
        <p:sp>
          <p:nvSpPr>
            <p:cNvPr name="Freeform 24" id="24"/>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3">
                <a:alphaModFix amt="0"/>
              </a:blip>
              <a:stretch>
                <a:fillRect l="0" t="-42785" r="0" b="-42785"/>
              </a:stretch>
            </a:blipFill>
          </p:spPr>
        </p:sp>
        <p:sp>
          <p:nvSpPr>
            <p:cNvPr name="TextBox 25" id="25"/>
            <p:cNvSpPr txBox="true"/>
            <p:nvPr/>
          </p:nvSpPr>
          <p:spPr>
            <a:xfrm>
              <a:off x="0" y="-9525"/>
              <a:ext cx="3657600" cy="777621"/>
            </a:xfrm>
            <a:prstGeom prst="rect">
              <a:avLst/>
            </a:prstGeom>
          </p:spPr>
          <p:txBody>
            <a:bodyPr anchor="ctr" rtlCol="false" tIns="0" lIns="0" bIns="0" rIns="0"/>
            <a:lstStyle/>
            <a:p>
              <a:pPr algn="l">
                <a:lnSpc>
                  <a:spcPts val="2160"/>
                </a:lnSpc>
              </a:pPr>
              <a:r>
                <a:rPr lang="en-US" sz="1800" b="true">
                  <a:solidFill>
                    <a:srgbClr val="CADCFC"/>
                  </a:solidFill>
                  <a:latin typeface="Courier New Bold"/>
                  <a:ea typeface="Courier New Bold"/>
                  <a:cs typeface="Courier New Bold"/>
                  <a:sym typeface="Courier New Bold"/>
                </a:rPr>
                <a:t>name</a:t>
              </a:r>
            </a:p>
          </p:txBody>
        </p:sp>
      </p:grpSp>
      <p:grpSp>
        <p:nvGrpSpPr>
          <p:cNvPr name="Group 26" id="26"/>
          <p:cNvGrpSpPr/>
          <p:nvPr/>
        </p:nvGrpSpPr>
        <p:grpSpPr>
          <a:xfrm rot="0">
            <a:off x="4251960" y="4416552"/>
            <a:ext cx="3566160" cy="576072"/>
            <a:chOff x="0" y="0"/>
            <a:chExt cx="4754880" cy="768096"/>
          </a:xfrm>
        </p:grpSpPr>
        <p:sp>
          <p:nvSpPr>
            <p:cNvPr name="Freeform 27" id="27"/>
            <p:cNvSpPr/>
            <p:nvPr/>
          </p:nvSpPr>
          <p:spPr>
            <a:xfrm flipH="false" flipV="false" rot="0">
              <a:off x="0" y="0"/>
              <a:ext cx="4754880" cy="768096"/>
            </a:xfrm>
            <a:custGeom>
              <a:avLst/>
              <a:gdLst/>
              <a:ahLst/>
              <a:cxnLst/>
              <a:rect r="r" b="b" t="t" l="l"/>
              <a:pathLst>
                <a:path h="768096" w="4754880">
                  <a:moveTo>
                    <a:pt x="0" y="0"/>
                  </a:moveTo>
                  <a:lnTo>
                    <a:pt x="4754880" y="0"/>
                  </a:lnTo>
                  <a:lnTo>
                    <a:pt x="4754880" y="768096"/>
                  </a:lnTo>
                  <a:lnTo>
                    <a:pt x="0" y="768096"/>
                  </a:lnTo>
                  <a:close/>
                </a:path>
              </a:pathLst>
            </a:custGeom>
            <a:blipFill>
              <a:blip r:embed="rId3">
                <a:alphaModFix amt="0"/>
              </a:blip>
              <a:stretch>
                <a:fillRect l="0" t="-70621" r="0" b="-70621"/>
              </a:stretch>
            </a:blipFill>
          </p:spPr>
        </p:sp>
        <p:sp>
          <p:nvSpPr>
            <p:cNvPr name="TextBox 28" id="28"/>
            <p:cNvSpPr txBox="true"/>
            <p:nvPr/>
          </p:nvSpPr>
          <p:spPr>
            <a:xfrm>
              <a:off x="0" y="-28575"/>
              <a:ext cx="4754880" cy="796671"/>
            </a:xfrm>
            <a:prstGeom prst="rect">
              <a:avLst/>
            </a:prstGeom>
          </p:spPr>
          <p:txBody>
            <a:bodyPr anchor="ctr" rtlCol="false" tIns="0" lIns="0" bIns="0" rIns="0"/>
            <a:lstStyle/>
            <a:p>
              <a:pPr algn="l">
                <a:lnSpc>
                  <a:spcPts val="1980"/>
                </a:lnSpc>
              </a:pPr>
              <a:r>
                <a:rPr lang="en-US" sz="1650">
                  <a:solidFill>
                    <a:srgbClr val="AAB3E8"/>
                  </a:solidFill>
                  <a:latin typeface="Calibri (MS)"/>
                  <a:ea typeface="Calibri (MS)"/>
                  <a:cs typeface="Calibri (MS)"/>
                  <a:sym typeface="Calibri (MS)"/>
                </a:rPr>
                <a:t>VARCHAR  ·  NOT NULL</a:t>
              </a:r>
            </a:p>
          </p:txBody>
        </p:sp>
      </p:grpSp>
      <p:grpSp>
        <p:nvGrpSpPr>
          <p:cNvPr name="Group 29" id="29"/>
          <p:cNvGrpSpPr/>
          <p:nvPr/>
        </p:nvGrpSpPr>
        <p:grpSpPr>
          <a:xfrm rot="0">
            <a:off x="1303020" y="4992624"/>
            <a:ext cx="6720840" cy="576072"/>
            <a:chOff x="0" y="0"/>
            <a:chExt cx="8961120" cy="768096"/>
          </a:xfrm>
        </p:grpSpPr>
        <p:sp>
          <p:nvSpPr>
            <p:cNvPr name="Freeform 30" id="30"/>
            <p:cNvSpPr/>
            <p:nvPr/>
          </p:nvSpPr>
          <p:spPr>
            <a:xfrm flipH="false" flipV="false" rot="0">
              <a:off x="0" y="0"/>
              <a:ext cx="8961120" cy="768096"/>
            </a:xfrm>
            <a:custGeom>
              <a:avLst/>
              <a:gdLst/>
              <a:ahLst/>
              <a:cxnLst/>
              <a:rect r="r" b="b" t="t" l="l"/>
              <a:pathLst>
                <a:path h="768096" w="8961120">
                  <a:moveTo>
                    <a:pt x="0" y="0"/>
                  </a:moveTo>
                  <a:lnTo>
                    <a:pt x="8961120" y="0"/>
                  </a:lnTo>
                  <a:lnTo>
                    <a:pt x="8961120" y="768096"/>
                  </a:lnTo>
                  <a:lnTo>
                    <a:pt x="0" y="768096"/>
                  </a:lnTo>
                  <a:close/>
                </a:path>
              </a:pathLst>
            </a:custGeom>
            <a:solidFill>
              <a:srgbClr val="222B66"/>
            </a:solidFill>
          </p:spPr>
        </p:sp>
      </p:grpSp>
      <p:grpSp>
        <p:nvGrpSpPr>
          <p:cNvPr name="Group 31" id="31"/>
          <p:cNvGrpSpPr/>
          <p:nvPr/>
        </p:nvGrpSpPr>
        <p:grpSpPr>
          <a:xfrm rot="0">
            <a:off x="1508760" y="4992624"/>
            <a:ext cx="2743200" cy="576072"/>
            <a:chOff x="0" y="0"/>
            <a:chExt cx="3657600" cy="768096"/>
          </a:xfrm>
        </p:grpSpPr>
        <p:sp>
          <p:nvSpPr>
            <p:cNvPr name="Freeform 32" id="32"/>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3">
                <a:alphaModFix amt="0"/>
              </a:blip>
              <a:stretch>
                <a:fillRect l="0" t="-42785" r="0" b="-42785"/>
              </a:stretch>
            </a:blipFill>
          </p:spPr>
        </p:sp>
        <p:sp>
          <p:nvSpPr>
            <p:cNvPr name="TextBox 33" id="33"/>
            <p:cNvSpPr txBox="true"/>
            <p:nvPr/>
          </p:nvSpPr>
          <p:spPr>
            <a:xfrm>
              <a:off x="0" y="-9525"/>
              <a:ext cx="3657600" cy="777621"/>
            </a:xfrm>
            <a:prstGeom prst="rect">
              <a:avLst/>
            </a:prstGeom>
          </p:spPr>
          <p:txBody>
            <a:bodyPr anchor="ctr" rtlCol="false" tIns="0" lIns="0" bIns="0" rIns="0"/>
            <a:lstStyle/>
            <a:p>
              <a:pPr algn="l">
                <a:lnSpc>
                  <a:spcPts val="2160"/>
                </a:lnSpc>
              </a:pPr>
              <a:r>
                <a:rPr lang="en-US" sz="1800" b="true">
                  <a:solidFill>
                    <a:srgbClr val="CADCFC"/>
                  </a:solidFill>
                  <a:latin typeface="Courier New Bold"/>
                  <a:ea typeface="Courier New Bold"/>
                  <a:cs typeface="Courier New Bold"/>
                  <a:sym typeface="Courier New Bold"/>
                </a:rPr>
                <a:t>company</a:t>
              </a:r>
            </a:p>
          </p:txBody>
        </p:sp>
      </p:grpSp>
      <p:grpSp>
        <p:nvGrpSpPr>
          <p:cNvPr name="Group 34" id="34"/>
          <p:cNvGrpSpPr/>
          <p:nvPr/>
        </p:nvGrpSpPr>
        <p:grpSpPr>
          <a:xfrm rot="0">
            <a:off x="4251960" y="4992624"/>
            <a:ext cx="3566160" cy="576072"/>
            <a:chOff x="0" y="0"/>
            <a:chExt cx="4754880" cy="768096"/>
          </a:xfrm>
        </p:grpSpPr>
        <p:sp>
          <p:nvSpPr>
            <p:cNvPr name="Freeform 35" id="35"/>
            <p:cNvSpPr/>
            <p:nvPr/>
          </p:nvSpPr>
          <p:spPr>
            <a:xfrm flipH="false" flipV="false" rot="0">
              <a:off x="0" y="0"/>
              <a:ext cx="4754880" cy="768096"/>
            </a:xfrm>
            <a:custGeom>
              <a:avLst/>
              <a:gdLst/>
              <a:ahLst/>
              <a:cxnLst/>
              <a:rect r="r" b="b" t="t" l="l"/>
              <a:pathLst>
                <a:path h="768096" w="4754880">
                  <a:moveTo>
                    <a:pt x="0" y="0"/>
                  </a:moveTo>
                  <a:lnTo>
                    <a:pt x="4754880" y="0"/>
                  </a:lnTo>
                  <a:lnTo>
                    <a:pt x="4754880" y="768096"/>
                  </a:lnTo>
                  <a:lnTo>
                    <a:pt x="0" y="768096"/>
                  </a:lnTo>
                  <a:close/>
                </a:path>
              </a:pathLst>
            </a:custGeom>
            <a:blipFill>
              <a:blip r:embed="rId3">
                <a:alphaModFix amt="0"/>
              </a:blip>
              <a:stretch>
                <a:fillRect l="0" t="-70621" r="0" b="-70621"/>
              </a:stretch>
            </a:blipFill>
          </p:spPr>
        </p:sp>
        <p:sp>
          <p:nvSpPr>
            <p:cNvPr name="TextBox 36" id="36"/>
            <p:cNvSpPr txBox="true"/>
            <p:nvPr/>
          </p:nvSpPr>
          <p:spPr>
            <a:xfrm>
              <a:off x="0" y="-28575"/>
              <a:ext cx="4754880" cy="796671"/>
            </a:xfrm>
            <a:prstGeom prst="rect">
              <a:avLst/>
            </a:prstGeom>
          </p:spPr>
          <p:txBody>
            <a:bodyPr anchor="ctr" rtlCol="false" tIns="0" lIns="0" bIns="0" rIns="0"/>
            <a:lstStyle/>
            <a:p>
              <a:pPr algn="l">
                <a:lnSpc>
                  <a:spcPts val="1980"/>
                </a:lnSpc>
              </a:pPr>
              <a:r>
                <a:rPr lang="en-US" sz="1650">
                  <a:solidFill>
                    <a:srgbClr val="AAB3E8"/>
                  </a:solidFill>
                  <a:latin typeface="Calibri (MS)"/>
                  <a:ea typeface="Calibri (MS)"/>
                  <a:cs typeface="Calibri (MS)"/>
                  <a:sym typeface="Calibri (MS)"/>
                </a:rPr>
                <a:t>VARCHAR</a:t>
              </a:r>
            </a:p>
          </p:txBody>
        </p:sp>
      </p:grpSp>
      <p:grpSp>
        <p:nvGrpSpPr>
          <p:cNvPr name="Group 37" id="37"/>
          <p:cNvGrpSpPr/>
          <p:nvPr/>
        </p:nvGrpSpPr>
        <p:grpSpPr>
          <a:xfrm rot="0">
            <a:off x="1508760" y="5568696"/>
            <a:ext cx="2743200" cy="576072"/>
            <a:chOff x="0" y="0"/>
            <a:chExt cx="3657600" cy="768096"/>
          </a:xfrm>
        </p:grpSpPr>
        <p:sp>
          <p:nvSpPr>
            <p:cNvPr name="Freeform 38" id="38"/>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3">
                <a:alphaModFix amt="0"/>
              </a:blip>
              <a:stretch>
                <a:fillRect l="0" t="-42785" r="0" b="-42785"/>
              </a:stretch>
            </a:blipFill>
          </p:spPr>
        </p:sp>
        <p:sp>
          <p:nvSpPr>
            <p:cNvPr name="TextBox 39" id="39"/>
            <p:cNvSpPr txBox="true"/>
            <p:nvPr/>
          </p:nvSpPr>
          <p:spPr>
            <a:xfrm>
              <a:off x="0" y="-9525"/>
              <a:ext cx="3657600" cy="777621"/>
            </a:xfrm>
            <a:prstGeom prst="rect">
              <a:avLst/>
            </a:prstGeom>
          </p:spPr>
          <p:txBody>
            <a:bodyPr anchor="ctr" rtlCol="false" tIns="0" lIns="0" bIns="0" rIns="0"/>
            <a:lstStyle/>
            <a:p>
              <a:pPr algn="l">
                <a:lnSpc>
                  <a:spcPts val="2160"/>
                </a:lnSpc>
              </a:pPr>
              <a:r>
                <a:rPr lang="en-US" sz="1800" b="true">
                  <a:solidFill>
                    <a:srgbClr val="CADCFC"/>
                  </a:solidFill>
                  <a:latin typeface="Courier New Bold"/>
                  <a:ea typeface="Courier New Bold"/>
                  <a:cs typeface="Courier New Bold"/>
                  <a:sym typeface="Courier New Bold"/>
                </a:rPr>
                <a:t>email</a:t>
              </a:r>
            </a:p>
          </p:txBody>
        </p:sp>
      </p:grpSp>
      <p:grpSp>
        <p:nvGrpSpPr>
          <p:cNvPr name="Group 40" id="40"/>
          <p:cNvGrpSpPr/>
          <p:nvPr/>
        </p:nvGrpSpPr>
        <p:grpSpPr>
          <a:xfrm rot="0">
            <a:off x="4251960" y="5568696"/>
            <a:ext cx="3566160" cy="576072"/>
            <a:chOff x="0" y="0"/>
            <a:chExt cx="4754880" cy="768096"/>
          </a:xfrm>
        </p:grpSpPr>
        <p:sp>
          <p:nvSpPr>
            <p:cNvPr name="Freeform 41" id="41"/>
            <p:cNvSpPr/>
            <p:nvPr/>
          </p:nvSpPr>
          <p:spPr>
            <a:xfrm flipH="false" flipV="false" rot="0">
              <a:off x="0" y="0"/>
              <a:ext cx="4754880" cy="768096"/>
            </a:xfrm>
            <a:custGeom>
              <a:avLst/>
              <a:gdLst/>
              <a:ahLst/>
              <a:cxnLst/>
              <a:rect r="r" b="b" t="t" l="l"/>
              <a:pathLst>
                <a:path h="768096" w="4754880">
                  <a:moveTo>
                    <a:pt x="0" y="0"/>
                  </a:moveTo>
                  <a:lnTo>
                    <a:pt x="4754880" y="0"/>
                  </a:lnTo>
                  <a:lnTo>
                    <a:pt x="4754880" y="768096"/>
                  </a:lnTo>
                  <a:lnTo>
                    <a:pt x="0" y="768096"/>
                  </a:lnTo>
                  <a:close/>
                </a:path>
              </a:pathLst>
            </a:custGeom>
            <a:blipFill>
              <a:blip r:embed="rId3">
                <a:alphaModFix amt="0"/>
              </a:blip>
              <a:stretch>
                <a:fillRect l="0" t="-70621" r="0" b="-70621"/>
              </a:stretch>
            </a:blipFill>
          </p:spPr>
        </p:sp>
        <p:sp>
          <p:nvSpPr>
            <p:cNvPr name="TextBox 42" id="42"/>
            <p:cNvSpPr txBox="true"/>
            <p:nvPr/>
          </p:nvSpPr>
          <p:spPr>
            <a:xfrm>
              <a:off x="0" y="-28575"/>
              <a:ext cx="4754880" cy="796671"/>
            </a:xfrm>
            <a:prstGeom prst="rect">
              <a:avLst/>
            </a:prstGeom>
          </p:spPr>
          <p:txBody>
            <a:bodyPr anchor="ctr" rtlCol="false" tIns="0" lIns="0" bIns="0" rIns="0"/>
            <a:lstStyle/>
            <a:p>
              <a:pPr algn="l">
                <a:lnSpc>
                  <a:spcPts val="1980"/>
                </a:lnSpc>
              </a:pPr>
              <a:r>
                <a:rPr lang="en-US" sz="1650">
                  <a:solidFill>
                    <a:srgbClr val="AAB3E8"/>
                  </a:solidFill>
                  <a:latin typeface="Calibri (MS)"/>
                  <a:ea typeface="Calibri (MS)"/>
                  <a:cs typeface="Calibri (MS)"/>
                  <a:sym typeface="Calibri (MS)"/>
                </a:rPr>
                <a:t>VARCHAR  ·  UNIQUE</a:t>
              </a:r>
            </a:p>
          </p:txBody>
        </p:sp>
      </p:grpSp>
      <p:grpSp>
        <p:nvGrpSpPr>
          <p:cNvPr name="Group 43" id="43"/>
          <p:cNvGrpSpPr/>
          <p:nvPr/>
        </p:nvGrpSpPr>
        <p:grpSpPr>
          <a:xfrm rot="0">
            <a:off x="1303020" y="6144768"/>
            <a:ext cx="6720840" cy="576072"/>
            <a:chOff x="0" y="0"/>
            <a:chExt cx="8961120" cy="768096"/>
          </a:xfrm>
        </p:grpSpPr>
        <p:sp>
          <p:nvSpPr>
            <p:cNvPr name="Freeform 44" id="44"/>
            <p:cNvSpPr/>
            <p:nvPr/>
          </p:nvSpPr>
          <p:spPr>
            <a:xfrm flipH="false" flipV="false" rot="0">
              <a:off x="0" y="0"/>
              <a:ext cx="8961120" cy="768096"/>
            </a:xfrm>
            <a:custGeom>
              <a:avLst/>
              <a:gdLst/>
              <a:ahLst/>
              <a:cxnLst/>
              <a:rect r="r" b="b" t="t" l="l"/>
              <a:pathLst>
                <a:path h="768096" w="8961120">
                  <a:moveTo>
                    <a:pt x="0" y="0"/>
                  </a:moveTo>
                  <a:lnTo>
                    <a:pt x="8961120" y="0"/>
                  </a:lnTo>
                  <a:lnTo>
                    <a:pt x="8961120" y="768096"/>
                  </a:lnTo>
                  <a:lnTo>
                    <a:pt x="0" y="768096"/>
                  </a:lnTo>
                  <a:close/>
                </a:path>
              </a:pathLst>
            </a:custGeom>
            <a:solidFill>
              <a:srgbClr val="222B66"/>
            </a:solidFill>
          </p:spPr>
        </p:sp>
      </p:grpSp>
      <p:grpSp>
        <p:nvGrpSpPr>
          <p:cNvPr name="Group 45" id="45"/>
          <p:cNvGrpSpPr/>
          <p:nvPr/>
        </p:nvGrpSpPr>
        <p:grpSpPr>
          <a:xfrm rot="0">
            <a:off x="1508760" y="6144768"/>
            <a:ext cx="2743200" cy="576072"/>
            <a:chOff x="0" y="0"/>
            <a:chExt cx="3657600" cy="768096"/>
          </a:xfrm>
        </p:grpSpPr>
        <p:sp>
          <p:nvSpPr>
            <p:cNvPr name="Freeform 46" id="46"/>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3">
                <a:alphaModFix amt="0"/>
              </a:blip>
              <a:stretch>
                <a:fillRect l="0" t="-42785" r="0" b="-42785"/>
              </a:stretch>
            </a:blipFill>
          </p:spPr>
        </p:sp>
        <p:sp>
          <p:nvSpPr>
            <p:cNvPr name="TextBox 47" id="47"/>
            <p:cNvSpPr txBox="true"/>
            <p:nvPr/>
          </p:nvSpPr>
          <p:spPr>
            <a:xfrm>
              <a:off x="0" y="-9525"/>
              <a:ext cx="3657600" cy="777621"/>
            </a:xfrm>
            <a:prstGeom prst="rect">
              <a:avLst/>
            </a:prstGeom>
          </p:spPr>
          <p:txBody>
            <a:bodyPr anchor="ctr" rtlCol="false" tIns="0" lIns="0" bIns="0" rIns="0"/>
            <a:lstStyle/>
            <a:p>
              <a:pPr algn="l">
                <a:lnSpc>
                  <a:spcPts val="2160"/>
                </a:lnSpc>
              </a:pPr>
              <a:r>
                <a:rPr lang="en-US" sz="1800" b="true">
                  <a:solidFill>
                    <a:srgbClr val="CADCFC"/>
                  </a:solidFill>
                  <a:latin typeface="Courier New Bold"/>
                  <a:ea typeface="Courier New Bold"/>
                  <a:cs typeface="Courier New Bold"/>
                  <a:sym typeface="Courier New Bold"/>
                </a:rPr>
                <a:t>phone</a:t>
              </a:r>
            </a:p>
          </p:txBody>
        </p:sp>
      </p:grpSp>
      <p:grpSp>
        <p:nvGrpSpPr>
          <p:cNvPr name="Group 48" id="48"/>
          <p:cNvGrpSpPr/>
          <p:nvPr/>
        </p:nvGrpSpPr>
        <p:grpSpPr>
          <a:xfrm rot="0">
            <a:off x="4251960" y="6144768"/>
            <a:ext cx="3566160" cy="576072"/>
            <a:chOff x="0" y="0"/>
            <a:chExt cx="4754880" cy="768096"/>
          </a:xfrm>
        </p:grpSpPr>
        <p:sp>
          <p:nvSpPr>
            <p:cNvPr name="Freeform 49" id="49"/>
            <p:cNvSpPr/>
            <p:nvPr/>
          </p:nvSpPr>
          <p:spPr>
            <a:xfrm flipH="false" flipV="false" rot="0">
              <a:off x="0" y="0"/>
              <a:ext cx="4754880" cy="768096"/>
            </a:xfrm>
            <a:custGeom>
              <a:avLst/>
              <a:gdLst/>
              <a:ahLst/>
              <a:cxnLst/>
              <a:rect r="r" b="b" t="t" l="l"/>
              <a:pathLst>
                <a:path h="768096" w="4754880">
                  <a:moveTo>
                    <a:pt x="0" y="0"/>
                  </a:moveTo>
                  <a:lnTo>
                    <a:pt x="4754880" y="0"/>
                  </a:lnTo>
                  <a:lnTo>
                    <a:pt x="4754880" y="768096"/>
                  </a:lnTo>
                  <a:lnTo>
                    <a:pt x="0" y="768096"/>
                  </a:lnTo>
                  <a:close/>
                </a:path>
              </a:pathLst>
            </a:custGeom>
            <a:blipFill>
              <a:blip r:embed="rId3">
                <a:alphaModFix amt="0"/>
              </a:blip>
              <a:stretch>
                <a:fillRect l="0" t="-70621" r="0" b="-70621"/>
              </a:stretch>
            </a:blipFill>
          </p:spPr>
        </p:sp>
        <p:sp>
          <p:nvSpPr>
            <p:cNvPr name="TextBox 50" id="50"/>
            <p:cNvSpPr txBox="true"/>
            <p:nvPr/>
          </p:nvSpPr>
          <p:spPr>
            <a:xfrm>
              <a:off x="0" y="-28575"/>
              <a:ext cx="4754880" cy="796671"/>
            </a:xfrm>
            <a:prstGeom prst="rect">
              <a:avLst/>
            </a:prstGeom>
          </p:spPr>
          <p:txBody>
            <a:bodyPr anchor="ctr" rtlCol="false" tIns="0" lIns="0" bIns="0" rIns="0"/>
            <a:lstStyle/>
            <a:p>
              <a:pPr algn="l">
                <a:lnSpc>
                  <a:spcPts val="1980"/>
                </a:lnSpc>
              </a:pPr>
              <a:r>
                <a:rPr lang="en-US" sz="1650">
                  <a:solidFill>
                    <a:srgbClr val="AAB3E8"/>
                  </a:solidFill>
                  <a:latin typeface="Calibri (MS)"/>
                  <a:ea typeface="Calibri (MS)"/>
                  <a:cs typeface="Calibri (MS)"/>
                  <a:sym typeface="Calibri (MS)"/>
                </a:rPr>
                <a:t>VARCHAR</a:t>
              </a:r>
            </a:p>
          </p:txBody>
        </p:sp>
      </p:grpSp>
      <p:grpSp>
        <p:nvGrpSpPr>
          <p:cNvPr name="Group 51" id="51"/>
          <p:cNvGrpSpPr/>
          <p:nvPr/>
        </p:nvGrpSpPr>
        <p:grpSpPr>
          <a:xfrm rot="0">
            <a:off x="1508760" y="6720840"/>
            <a:ext cx="2743200" cy="576072"/>
            <a:chOff x="0" y="0"/>
            <a:chExt cx="3657600" cy="768096"/>
          </a:xfrm>
        </p:grpSpPr>
        <p:sp>
          <p:nvSpPr>
            <p:cNvPr name="Freeform 52" id="52"/>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3">
                <a:alphaModFix amt="0"/>
              </a:blip>
              <a:stretch>
                <a:fillRect l="0" t="-42785" r="0" b="-42785"/>
              </a:stretch>
            </a:blipFill>
          </p:spPr>
        </p:sp>
        <p:sp>
          <p:nvSpPr>
            <p:cNvPr name="TextBox 53" id="53"/>
            <p:cNvSpPr txBox="true"/>
            <p:nvPr/>
          </p:nvSpPr>
          <p:spPr>
            <a:xfrm>
              <a:off x="0" y="-9525"/>
              <a:ext cx="3657600" cy="777621"/>
            </a:xfrm>
            <a:prstGeom prst="rect">
              <a:avLst/>
            </a:prstGeom>
          </p:spPr>
          <p:txBody>
            <a:bodyPr anchor="ctr" rtlCol="false" tIns="0" lIns="0" bIns="0" rIns="0"/>
            <a:lstStyle/>
            <a:p>
              <a:pPr algn="l">
                <a:lnSpc>
                  <a:spcPts val="2160"/>
                </a:lnSpc>
              </a:pPr>
              <a:r>
                <a:rPr lang="en-US" sz="1800" b="true">
                  <a:solidFill>
                    <a:srgbClr val="CADCFC"/>
                  </a:solidFill>
                  <a:latin typeface="Courier New Bold"/>
                  <a:ea typeface="Courier New Bold"/>
                  <a:cs typeface="Courier New Bold"/>
                  <a:sym typeface="Courier New Bold"/>
                </a:rPr>
                <a:t>status</a:t>
              </a:r>
            </a:p>
          </p:txBody>
        </p:sp>
      </p:grpSp>
      <p:grpSp>
        <p:nvGrpSpPr>
          <p:cNvPr name="Group 54" id="54"/>
          <p:cNvGrpSpPr/>
          <p:nvPr/>
        </p:nvGrpSpPr>
        <p:grpSpPr>
          <a:xfrm rot="0">
            <a:off x="4251960" y="6720840"/>
            <a:ext cx="3566160" cy="576072"/>
            <a:chOff x="0" y="0"/>
            <a:chExt cx="4754880" cy="768096"/>
          </a:xfrm>
        </p:grpSpPr>
        <p:sp>
          <p:nvSpPr>
            <p:cNvPr name="Freeform 55" id="55"/>
            <p:cNvSpPr/>
            <p:nvPr/>
          </p:nvSpPr>
          <p:spPr>
            <a:xfrm flipH="false" flipV="false" rot="0">
              <a:off x="0" y="0"/>
              <a:ext cx="4754880" cy="768096"/>
            </a:xfrm>
            <a:custGeom>
              <a:avLst/>
              <a:gdLst/>
              <a:ahLst/>
              <a:cxnLst/>
              <a:rect r="r" b="b" t="t" l="l"/>
              <a:pathLst>
                <a:path h="768096" w="4754880">
                  <a:moveTo>
                    <a:pt x="0" y="0"/>
                  </a:moveTo>
                  <a:lnTo>
                    <a:pt x="4754880" y="0"/>
                  </a:lnTo>
                  <a:lnTo>
                    <a:pt x="4754880" y="768096"/>
                  </a:lnTo>
                  <a:lnTo>
                    <a:pt x="0" y="768096"/>
                  </a:lnTo>
                  <a:close/>
                </a:path>
              </a:pathLst>
            </a:custGeom>
            <a:blipFill>
              <a:blip r:embed="rId3">
                <a:alphaModFix amt="0"/>
              </a:blip>
              <a:stretch>
                <a:fillRect l="0" t="-70621" r="0" b="-70621"/>
              </a:stretch>
            </a:blipFill>
          </p:spPr>
        </p:sp>
        <p:sp>
          <p:nvSpPr>
            <p:cNvPr name="TextBox 56" id="56"/>
            <p:cNvSpPr txBox="true"/>
            <p:nvPr/>
          </p:nvSpPr>
          <p:spPr>
            <a:xfrm>
              <a:off x="0" y="-28575"/>
              <a:ext cx="4754880" cy="796671"/>
            </a:xfrm>
            <a:prstGeom prst="rect">
              <a:avLst/>
            </a:prstGeom>
          </p:spPr>
          <p:txBody>
            <a:bodyPr anchor="ctr" rtlCol="false" tIns="0" lIns="0" bIns="0" rIns="0"/>
            <a:lstStyle/>
            <a:p>
              <a:pPr algn="l">
                <a:lnSpc>
                  <a:spcPts val="1980"/>
                </a:lnSpc>
              </a:pPr>
              <a:r>
                <a:rPr lang="en-US" sz="1650">
                  <a:solidFill>
                    <a:srgbClr val="AAB3E8"/>
                  </a:solidFill>
                  <a:latin typeface="Calibri (MS)"/>
                  <a:ea typeface="Calibri (MS)"/>
                  <a:cs typeface="Calibri (MS)"/>
                  <a:sym typeface="Calibri (MS)"/>
                </a:rPr>
                <a:t>VARCHAR  ·  default 'New'</a:t>
              </a:r>
            </a:p>
          </p:txBody>
        </p:sp>
      </p:grpSp>
      <p:grpSp>
        <p:nvGrpSpPr>
          <p:cNvPr name="Group 57" id="57"/>
          <p:cNvGrpSpPr/>
          <p:nvPr/>
        </p:nvGrpSpPr>
        <p:grpSpPr>
          <a:xfrm rot="0">
            <a:off x="1303020" y="7296912"/>
            <a:ext cx="6720840" cy="576072"/>
            <a:chOff x="0" y="0"/>
            <a:chExt cx="8961120" cy="768096"/>
          </a:xfrm>
        </p:grpSpPr>
        <p:sp>
          <p:nvSpPr>
            <p:cNvPr name="Freeform 58" id="58"/>
            <p:cNvSpPr/>
            <p:nvPr/>
          </p:nvSpPr>
          <p:spPr>
            <a:xfrm flipH="false" flipV="false" rot="0">
              <a:off x="0" y="0"/>
              <a:ext cx="8961120" cy="768096"/>
            </a:xfrm>
            <a:custGeom>
              <a:avLst/>
              <a:gdLst/>
              <a:ahLst/>
              <a:cxnLst/>
              <a:rect r="r" b="b" t="t" l="l"/>
              <a:pathLst>
                <a:path h="768096" w="8961120">
                  <a:moveTo>
                    <a:pt x="0" y="0"/>
                  </a:moveTo>
                  <a:lnTo>
                    <a:pt x="8961120" y="0"/>
                  </a:lnTo>
                  <a:lnTo>
                    <a:pt x="8961120" y="768096"/>
                  </a:lnTo>
                  <a:lnTo>
                    <a:pt x="0" y="768096"/>
                  </a:lnTo>
                  <a:close/>
                </a:path>
              </a:pathLst>
            </a:custGeom>
            <a:solidFill>
              <a:srgbClr val="222B66"/>
            </a:solidFill>
          </p:spPr>
        </p:sp>
      </p:grpSp>
      <p:grpSp>
        <p:nvGrpSpPr>
          <p:cNvPr name="Group 59" id="59"/>
          <p:cNvGrpSpPr/>
          <p:nvPr/>
        </p:nvGrpSpPr>
        <p:grpSpPr>
          <a:xfrm rot="0">
            <a:off x="1508760" y="7296912"/>
            <a:ext cx="2743200" cy="576072"/>
            <a:chOff x="0" y="0"/>
            <a:chExt cx="3657600" cy="768096"/>
          </a:xfrm>
        </p:grpSpPr>
        <p:sp>
          <p:nvSpPr>
            <p:cNvPr name="Freeform 60" id="60"/>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3">
                <a:alphaModFix amt="0"/>
              </a:blip>
              <a:stretch>
                <a:fillRect l="0" t="-42785" r="0" b="-42785"/>
              </a:stretch>
            </a:blipFill>
          </p:spPr>
        </p:sp>
        <p:sp>
          <p:nvSpPr>
            <p:cNvPr name="TextBox 61" id="61"/>
            <p:cNvSpPr txBox="true"/>
            <p:nvPr/>
          </p:nvSpPr>
          <p:spPr>
            <a:xfrm>
              <a:off x="0" y="-9525"/>
              <a:ext cx="3657600" cy="777621"/>
            </a:xfrm>
            <a:prstGeom prst="rect">
              <a:avLst/>
            </a:prstGeom>
          </p:spPr>
          <p:txBody>
            <a:bodyPr anchor="ctr" rtlCol="false" tIns="0" lIns="0" bIns="0" rIns="0"/>
            <a:lstStyle/>
            <a:p>
              <a:pPr algn="l">
                <a:lnSpc>
                  <a:spcPts val="2160"/>
                </a:lnSpc>
              </a:pPr>
              <a:r>
                <a:rPr lang="en-US" sz="1800" b="true">
                  <a:solidFill>
                    <a:srgbClr val="CADCFC"/>
                  </a:solidFill>
                  <a:latin typeface="Courier New Bold"/>
                  <a:ea typeface="Courier New Bold"/>
                  <a:cs typeface="Courier New Bold"/>
                  <a:sym typeface="Courier New Bold"/>
                </a:rPr>
                <a:t>source</a:t>
              </a:r>
            </a:p>
          </p:txBody>
        </p:sp>
      </p:grpSp>
      <p:grpSp>
        <p:nvGrpSpPr>
          <p:cNvPr name="Group 62" id="62"/>
          <p:cNvGrpSpPr/>
          <p:nvPr/>
        </p:nvGrpSpPr>
        <p:grpSpPr>
          <a:xfrm rot="0">
            <a:off x="4251960" y="7296912"/>
            <a:ext cx="3566160" cy="576072"/>
            <a:chOff x="0" y="0"/>
            <a:chExt cx="4754880" cy="768096"/>
          </a:xfrm>
        </p:grpSpPr>
        <p:sp>
          <p:nvSpPr>
            <p:cNvPr name="Freeform 63" id="63"/>
            <p:cNvSpPr/>
            <p:nvPr/>
          </p:nvSpPr>
          <p:spPr>
            <a:xfrm flipH="false" flipV="false" rot="0">
              <a:off x="0" y="0"/>
              <a:ext cx="4754880" cy="768096"/>
            </a:xfrm>
            <a:custGeom>
              <a:avLst/>
              <a:gdLst/>
              <a:ahLst/>
              <a:cxnLst/>
              <a:rect r="r" b="b" t="t" l="l"/>
              <a:pathLst>
                <a:path h="768096" w="4754880">
                  <a:moveTo>
                    <a:pt x="0" y="0"/>
                  </a:moveTo>
                  <a:lnTo>
                    <a:pt x="4754880" y="0"/>
                  </a:lnTo>
                  <a:lnTo>
                    <a:pt x="4754880" y="768096"/>
                  </a:lnTo>
                  <a:lnTo>
                    <a:pt x="0" y="768096"/>
                  </a:lnTo>
                  <a:close/>
                </a:path>
              </a:pathLst>
            </a:custGeom>
            <a:blipFill>
              <a:blip r:embed="rId3">
                <a:alphaModFix amt="0"/>
              </a:blip>
              <a:stretch>
                <a:fillRect l="0" t="-70621" r="0" b="-70621"/>
              </a:stretch>
            </a:blipFill>
          </p:spPr>
        </p:sp>
        <p:sp>
          <p:nvSpPr>
            <p:cNvPr name="TextBox 64" id="64"/>
            <p:cNvSpPr txBox="true"/>
            <p:nvPr/>
          </p:nvSpPr>
          <p:spPr>
            <a:xfrm>
              <a:off x="0" y="-28575"/>
              <a:ext cx="4754880" cy="796671"/>
            </a:xfrm>
            <a:prstGeom prst="rect">
              <a:avLst/>
            </a:prstGeom>
          </p:spPr>
          <p:txBody>
            <a:bodyPr anchor="ctr" rtlCol="false" tIns="0" lIns="0" bIns="0" rIns="0"/>
            <a:lstStyle/>
            <a:p>
              <a:pPr algn="l">
                <a:lnSpc>
                  <a:spcPts val="1980"/>
                </a:lnSpc>
              </a:pPr>
              <a:r>
                <a:rPr lang="en-US" sz="1650">
                  <a:solidFill>
                    <a:srgbClr val="AAB3E8"/>
                  </a:solidFill>
                  <a:latin typeface="Calibri (MS)"/>
                  <a:ea typeface="Calibri (MS)"/>
                  <a:cs typeface="Calibri (MS)"/>
                  <a:sym typeface="Calibri (MS)"/>
                </a:rPr>
                <a:t>VARCHAR</a:t>
              </a:r>
            </a:p>
          </p:txBody>
        </p:sp>
      </p:grpSp>
      <p:grpSp>
        <p:nvGrpSpPr>
          <p:cNvPr name="Group 65" id="65"/>
          <p:cNvGrpSpPr/>
          <p:nvPr/>
        </p:nvGrpSpPr>
        <p:grpSpPr>
          <a:xfrm rot="0">
            <a:off x="1508760" y="7872984"/>
            <a:ext cx="2743200" cy="576072"/>
            <a:chOff x="0" y="0"/>
            <a:chExt cx="3657600" cy="768096"/>
          </a:xfrm>
        </p:grpSpPr>
        <p:sp>
          <p:nvSpPr>
            <p:cNvPr name="Freeform 66" id="66"/>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3">
                <a:alphaModFix amt="0"/>
              </a:blip>
              <a:stretch>
                <a:fillRect l="0" t="-42785" r="0" b="-42785"/>
              </a:stretch>
            </a:blipFill>
          </p:spPr>
        </p:sp>
        <p:sp>
          <p:nvSpPr>
            <p:cNvPr name="TextBox 67" id="67"/>
            <p:cNvSpPr txBox="true"/>
            <p:nvPr/>
          </p:nvSpPr>
          <p:spPr>
            <a:xfrm>
              <a:off x="0" y="-9525"/>
              <a:ext cx="3657600" cy="777621"/>
            </a:xfrm>
            <a:prstGeom prst="rect">
              <a:avLst/>
            </a:prstGeom>
          </p:spPr>
          <p:txBody>
            <a:bodyPr anchor="ctr" rtlCol="false" tIns="0" lIns="0" bIns="0" rIns="0"/>
            <a:lstStyle/>
            <a:p>
              <a:pPr algn="l">
                <a:lnSpc>
                  <a:spcPts val="2160"/>
                </a:lnSpc>
              </a:pPr>
              <a:r>
                <a:rPr lang="en-US" sz="1800" b="true">
                  <a:solidFill>
                    <a:srgbClr val="CADCFC"/>
                  </a:solidFill>
                  <a:latin typeface="Courier New Bold"/>
                  <a:ea typeface="Courier New Bold"/>
                  <a:cs typeface="Courier New Bold"/>
                  <a:sym typeface="Courier New Bold"/>
                </a:rPr>
                <a:t>notes</a:t>
              </a:r>
            </a:p>
          </p:txBody>
        </p:sp>
      </p:grpSp>
      <p:grpSp>
        <p:nvGrpSpPr>
          <p:cNvPr name="Group 68" id="68"/>
          <p:cNvGrpSpPr/>
          <p:nvPr/>
        </p:nvGrpSpPr>
        <p:grpSpPr>
          <a:xfrm rot="0">
            <a:off x="4251960" y="7872984"/>
            <a:ext cx="3566160" cy="576072"/>
            <a:chOff x="0" y="0"/>
            <a:chExt cx="4754880" cy="768096"/>
          </a:xfrm>
        </p:grpSpPr>
        <p:sp>
          <p:nvSpPr>
            <p:cNvPr name="Freeform 69" id="69"/>
            <p:cNvSpPr/>
            <p:nvPr/>
          </p:nvSpPr>
          <p:spPr>
            <a:xfrm flipH="false" flipV="false" rot="0">
              <a:off x="0" y="0"/>
              <a:ext cx="4754880" cy="768096"/>
            </a:xfrm>
            <a:custGeom>
              <a:avLst/>
              <a:gdLst/>
              <a:ahLst/>
              <a:cxnLst/>
              <a:rect r="r" b="b" t="t" l="l"/>
              <a:pathLst>
                <a:path h="768096" w="4754880">
                  <a:moveTo>
                    <a:pt x="0" y="0"/>
                  </a:moveTo>
                  <a:lnTo>
                    <a:pt x="4754880" y="0"/>
                  </a:lnTo>
                  <a:lnTo>
                    <a:pt x="4754880" y="768096"/>
                  </a:lnTo>
                  <a:lnTo>
                    <a:pt x="0" y="768096"/>
                  </a:lnTo>
                  <a:close/>
                </a:path>
              </a:pathLst>
            </a:custGeom>
            <a:blipFill>
              <a:blip r:embed="rId3">
                <a:alphaModFix amt="0"/>
              </a:blip>
              <a:stretch>
                <a:fillRect l="0" t="-70621" r="0" b="-70621"/>
              </a:stretch>
            </a:blipFill>
          </p:spPr>
        </p:sp>
        <p:sp>
          <p:nvSpPr>
            <p:cNvPr name="TextBox 70" id="70"/>
            <p:cNvSpPr txBox="true"/>
            <p:nvPr/>
          </p:nvSpPr>
          <p:spPr>
            <a:xfrm>
              <a:off x="0" y="-28575"/>
              <a:ext cx="4754880" cy="796671"/>
            </a:xfrm>
            <a:prstGeom prst="rect">
              <a:avLst/>
            </a:prstGeom>
          </p:spPr>
          <p:txBody>
            <a:bodyPr anchor="ctr" rtlCol="false" tIns="0" lIns="0" bIns="0" rIns="0"/>
            <a:lstStyle/>
            <a:p>
              <a:pPr algn="l">
                <a:lnSpc>
                  <a:spcPts val="1980"/>
                </a:lnSpc>
              </a:pPr>
              <a:r>
                <a:rPr lang="en-US" sz="1650">
                  <a:solidFill>
                    <a:srgbClr val="AAB3E8"/>
                  </a:solidFill>
                  <a:latin typeface="Calibri (MS)"/>
                  <a:ea typeface="Calibri (MS)"/>
                  <a:cs typeface="Calibri (MS)"/>
                  <a:sym typeface="Calibri (MS)"/>
                </a:rPr>
                <a:t>TEXT</a:t>
              </a:r>
            </a:p>
          </p:txBody>
        </p:sp>
      </p:grpSp>
      <p:grpSp>
        <p:nvGrpSpPr>
          <p:cNvPr name="Group 71" id="71"/>
          <p:cNvGrpSpPr/>
          <p:nvPr/>
        </p:nvGrpSpPr>
        <p:grpSpPr>
          <a:xfrm rot="0">
            <a:off x="1303020" y="8449056"/>
            <a:ext cx="6720840" cy="576072"/>
            <a:chOff x="0" y="0"/>
            <a:chExt cx="8961120" cy="768096"/>
          </a:xfrm>
        </p:grpSpPr>
        <p:sp>
          <p:nvSpPr>
            <p:cNvPr name="Freeform 72" id="72"/>
            <p:cNvSpPr/>
            <p:nvPr/>
          </p:nvSpPr>
          <p:spPr>
            <a:xfrm flipH="false" flipV="false" rot="0">
              <a:off x="0" y="0"/>
              <a:ext cx="8961120" cy="768096"/>
            </a:xfrm>
            <a:custGeom>
              <a:avLst/>
              <a:gdLst/>
              <a:ahLst/>
              <a:cxnLst/>
              <a:rect r="r" b="b" t="t" l="l"/>
              <a:pathLst>
                <a:path h="768096" w="8961120">
                  <a:moveTo>
                    <a:pt x="0" y="0"/>
                  </a:moveTo>
                  <a:lnTo>
                    <a:pt x="8961120" y="0"/>
                  </a:lnTo>
                  <a:lnTo>
                    <a:pt x="8961120" y="768096"/>
                  </a:lnTo>
                  <a:lnTo>
                    <a:pt x="0" y="768096"/>
                  </a:lnTo>
                  <a:close/>
                </a:path>
              </a:pathLst>
            </a:custGeom>
            <a:solidFill>
              <a:srgbClr val="222B66"/>
            </a:solidFill>
          </p:spPr>
        </p:sp>
      </p:grpSp>
      <p:grpSp>
        <p:nvGrpSpPr>
          <p:cNvPr name="Group 73" id="73"/>
          <p:cNvGrpSpPr/>
          <p:nvPr/>
        </p:nvGrpSpPr>
        <p:grpSpPr>
          <a:xfrm rot="0">
            <a:off x="1508760" y="8449056"/>
            <a:ext cx="2743200" cy="576072"/>
            <a:chOff x="0" y="0"/>
            <a:chExt cx="3657600" cy="768096"/>
          </a:xfrm>
        </p:grpSpPr>
        <p:sp>
          <p:nvSpPr>
            <p:cNvPr name="Freeform 74" id="74"/>
            <p:cNvSpPr/>
            <p:nvPr/>
          </p:nvSpPr>
          <p:spPr>
            <a:xfrm flipH="false" flipV="false" rot="0">
              <a:off x="0" y="0"/>
              <a:ext cx="3657600" cy="768096"/>
            </a:xfrm>
            <a:custGeom>
              <a:avLst/>
              <a:gdLst/>
              <a:ahLst/>
              <a:cxnLst/>
              <a:rect r="r" b="b" t="t" l="l"/>
              <a:pathLst>
                <a:path h="768096" w="3657600">
                  <a:moveTo>
                    <a:pt x="0" y="0"/>
                  </a:moveTo>
                  <a:lnTo>
                    <a:pt x="3657600" y="0"/>
                  </a:lnTo>
                  <a:lnTo>
                    <a:pt x="3657600" y="768096"/>
                  </a:lnTo>
                  <a:lnTo>
                    <a:pt x="0" y="768096"/>
                  </a:lnTo>
                  <a:close/>
                </a:path>
              </a:pathLst>
            </a:custGeom>
            <a:blipFill>
              <a:blip r:embed="rId3">
                <a:alphaModFix amt="0"/>
              </a:blip>
              <a:stretch>
                <a:fillRect l="0" t="-42785" r="0" b="-42785"/>
              </a:stretch>
            </a:blipFill>
          </p:spPr>
        </p:sp>
        <p:sp>
          <p:nvSpPr>
            <p:cNvPr name="TextBox 75" id="75"/>
            <p:cNvSpPr txBox="true"/>
            <p:nvPr/>
          </p:nvSpPr>
          <p:spPr>
            <a:xfrm>
              <a:off x="0" y="-9525"/>
              <a:ext cx="3657600" cy="777621"/>
            </a:xfrm>
            <a:prstGeom prst="rect">
              <a:avLst/>
            </a:prstGeom>
          </p:spPr>
          <p:txBody>
            <a:bodyPr anchor="ctr" rtlCol="false" tIns="0" lIns="0" bIns="0" rIns="0"/>
            <a:lstStyle/>
            <a:p>
              <a:pPr algn="l">
                <a:lnSpc>
                  <a:spcPts val="2160"/>
                </a:lnSpc>
              </a:pPr>
              <a:r>
                <a:rPr lang="en-US" sz="1800" b="true">
                  <a:solidFill>
                    <a:srgbClr val="CADCFC"/>
                  </a:solidFill>
                  <a:latin typeface="Courier New Bold"/>
                  <a:ea typeface="Courier New Bold"/>
                  <a:cs typeface="Courier New Bold"/>
                  <a:sym typeface="Courier New Bold"/>
                </a:rPr>
                <a:t>created_at</a:t>
              </a:r>
            </a:p>
          </p:txBody>
        </p:sp>
      </p:grpSp>
      <p:grpSp>
        <p:nvGrpSpPr>
          <p:cNvPr name="Group 76" id="76"/>
          <p:cNvGrpSpPr/>
          <p:nvPr/>
        </p:nvGrpSpPr>
        <p:grpSpPr>
          <a:xfrm rot="0">
            <a:off x="4251960" y="8449056"/>
            <a:ext cx="3566160" cy="576072"/>
            <a:chOff x="0" y="0"/>
            <a:chExt cx="4754880" cy="768096"/>
          </a:xfrm>
        </p:grpSpPr>
        <p:sp>
          <p:nvSpPr>
            <p:cNvPr name="Freeform 77" id="77"/>
            <p:cNvSpPr/>
            <p:nvPr/>
          </p:nvSpPr>
          <p:spPr>
            <a:xfrm flipH="false" flipV="false" rot="0">
              <a:off x="0" y="0"/>
              <a:ext cx="4754880" cy="768096"/>
            </a:xfrm>
            <a:custGeom>
              <a:avLst/>
              <a:gdLst/>
              <a:ahLst/>
              <a:cxnLst/>
              <a:rect r="r" b="b" t="t" l="l"/>
              <a:pathLst>
                <a:path h="768096" w="4754880">
                  <a:moveTo>
                    <a:pt x="0" y="0"/>
                  </a:moveTo>
                  <a:lnTo>
                    <a:pt x="4754880" y="0"/>
                  </a:lnTo>
                  <a:lnTo>
                    <a:pt x="4754880" y="768096"/>
                  </a:lnTo>
                  <a:lnTo>
                    <a:pt x="0" y="768096"/>
                  </a:lnTo>
                  <a:close/>
                </a:path>
              </a:pathLst>
            </a:custGeom>
            <a:blipFill>
              <a:blip r:embed="rId3">
                <a:alphaModFix amt="0"/>
              </a:blip>
              <a:stretch>
                <a:fillRect l="0" t="-70621" r="0" b="-70621"/>
              </a:stretch>
            </a:blipFill>
          </p:spPr>
        </p:sp>
        <p:sp>
          <p:nvSpPr>
            <p:cNvPr name="TextBox 78" id="78"/>
            <p:cNvSpPr txBox="true"/>
            <p:nvPr/>
          </p:nvSpPr>
          <p:spPr>
            <a:xfrm>
              <a:off x="0" y="-28575"/>
              <a:ext cx="4754880" cy="796671"/>
            </a:xfrm>
            <a:prstGeom prst="rect">
              <a:avLst/>
            </a:prstGeom>
          </p:spPr>
          <p:txBody>
            <a:bodyPr anchor="ctr" rtlCol="false" tIns="0" lIns="0" bIns="0" rIns="0"/>
            <a:lstStyle/>
            <a:p>
              <a:pPr algn="l">
                <a:lnSpc>
                  <a:spcPts val="1980"/>
                </a:lnSpc>
              </a:pPr>
              <a:r>
                <a:rPr lang="en-US" sz="1650">
                  <a:solidFill>
                    <a:srgbClr val="AAB3E8"/>
                  </a:solidFill>
                  <a:latin typeface="Calibri (MS)"/>
                  <a:ea typeface="Calibri (MS)"/>
                  <a:cs typeface="Calibri (MS)"/>
                  <a:sym typeface="Calibri (MS)"/>
                </a:rPr>
                <a:t>TIMESTAMP  ·  default now()</a:t>
              </a:r>
            </a:p>
          </p:txBody>
        </p:sp>
      </p:grpSp>
      <p:grpSp>
        <p:nvGrpSpPr>
          <p:cNvPr name="Group 79" id="79"/>
          <p:cNvGrpSpPr/>
          <p:nvPr/>
        </p:nvGrpSpPr>
        <p:grpSpPr>
          <a:xfrm rot="0">
            <a:off x="9121140" y="2400300"/>
            <a:ext cx="8229600" cy="548640"/>
            <a:chOff x="0" y="0"/>
            <a:chExt cx="10972800" cy="731520"/>
          </a:xfrm>
        </p:grpSpPr>
        <p:sp>
          <p:nvSpPr>
            <p:cNvPr name="Freeform 80" id="80"/>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3">
                <a:alphaModFix amt="0"/>
              </a:blip>
              <a:stretch>
                <a:fillRect l="0" t="-242275" r="0" b="-242275"/>
              </a:stretch>
            </a:blipFill>
          </p:spPr>
        </p:sp>
        <p:sp>
          <p:nvSpPr>
            <p:cNvPr name="TextBox 81" id="81"/>
            <p:cNvSpPr txBox="true"/>
            <p:nvPr/>
          </p:nvSpPr>
          <p:spPr>
            <a:xfrm>
              <a:off x="0" y="-38100"/>
              <a:ext cx="10972800" cy="769620"/>
            </a:xfrm>
            <a:prstGeom prst="rect">
              <a:avLst/>
            </a:prstGeom>
          </p:spPr>
          <p:txBody>
            <a:bodyPr anchor="ctr" rtlCol="false" tIns="0" lIns="0" bIns="0" rIns="0"/>
            <a:lstStyle/>
            <a:p>
              <a:pPr algn="l">
                <a:lnSpc>
                  <a:spcPts val="2879"/>
                </a:lnSpc>
              </a:pPr>
              <a:r>
                <a:rPr lang="en-US" sz="2400" b="true">
                  <a:solidFill>
                    <a:srgbClr val="1E2761"/>
                  </a:solidFill>
                  <a:latin typeface="Calibri (MS) Bold"/>
                  <a:ea typeface="Calibri (MS) Bold"/>
                  <a:cs typeface="Calibri (MS) Bold"/>
                  <a:sym typeface="Calibri (MS) Bold"/>
                </a:rPr>
                <a:t>Design Notes</a:t>
              </a:r>
            </a:p>
          </p:txBody>
        </p:sp>
      </p:grpSp>
      <p:grpSp>
        <p:nvGrpSpPr>
          <p:cNvPr name="Group 82" id="82"/>
          <p:cNvGrpSpPr/>
          <p:nvPr/>
        </p:nvGrpSpPr>
        <p:grpSpPr>
          <a:xfrm rot="0">
            <a:off x="9121140" y="3154680"/>
            <a:ext cx="8298180" cy="5897880"/>
            <a:chOff x="0" y="0"/>
            <a:chExt cx="11064240" cy="7863840"/>
          </a:xfrm>
        </p:grpSpPr>
        <p:sp>
          <p:nvSpPr>
            <p:cNvPr name="Freeform 83" id="83"/>
            <p:cNvSpPr/>
            <p:nvPr/>
          </p:nvSpPr>
          <p:spPr>
            <a:xfrm flipH="false" flipV="false" rot="0">
              <a:off x="0" y="0"/>
              <a:ext cx="11064240" cy="7863840"/>
            </a:xfrm>
            <a:custGeom>
              <a:avLst/>
              <a:gdLst/>
              <a:ahLst/>
              <a:cxnLst/>
              <a:rect r="r" b="b" t="t" l="l"/>
              <a:pathLst>
                <a:path h="7863840" w="11064240">
                  <a:moveTo>
                    <a:pt x="0" y="0"/>
                  </a:moveTo>
                  <a:lnTo>
                    <a:pt x="11064240" y="0"/>
                  </a:lnTo>
                  <a:lnTo>
                    <a:pt x="11064240" y="7863840"/>
                  </a:lnTo>
                  <a:lnTo>
                    <a:pt x="0" y="7863840"/>
                  </a:lnTo>
                  <a:close/>
                </a:path>
              </a:pathLst>
            </a:custGeom>
            <a:blipFill>
              <a:blip r:embed="rId3">
                <a:alphaModFix amt="0"/>
              </a:blip>
              <a:stretch>
                <a:fillRect l="-41190" t="0" r="-41190" b="0"/>
              </a:stretch>
            </a:blipFill>
          </p:spPr>
        </p:sp>
        <p:sp>
          <p:nvSpPr>
            <p:cNvPr name="TextBox 84" id="84"/>
            <p:cNvSpPr txBox="true"/>
            <p:nvPr/>
          </p:nvSpPr>
          <p:spPr>
            <a:xfrm>
              <a:off x="0" y="-95250"/>
              <a:ext cx="11064240" cy="7959090"/>
            </a:xfrm>
            <a:prstGeom prst="rect">
              <a:avLst/>
            </a:prstGeom>
          </p:spPr>
          <p:txBody>
            <a:bodyPr anchor="ctr" rtlCol="false" tIns="0" lIns="0" bIns="0" rIns="0"/>
            <a:lstStyle/>
            <a:p>
              <a:pPr algn="l" marL="352901" indent="-176451" lvl="1">
                <a:lnSpc>
                  <a:spcPts val="2850"/>
                </a:lnSpc>
                <a:buFont typeface="Arial"/>
                <a:buChar char="•"/>
              </a:pPr>
              <a:r>
                <a:rPr lang="en-US" sz="1950">
                  <a:solidFill>
                    <a:srgbClr val="3A4066"/>
                  </a:solidFill>
                  <a:latin typeface="Calibri (MS)"/>
                  <a:ea typeface="Calibri (MS)"/>
                  <a:cs typeface="Calibri (MS)"/>
                  <a:sym typeface="Calibri (MS)"/>
                </a:rPr>
                <a:t>id is the auto-incrementing primary key generated by PostgreSQL.</a:t>
              </a:r>
            </a:p>
            <a:p>
              <a:pPr algn="l" marL="352901" indent="-176451" lvl="1">
                <a:lnSpc>
                  <a:spcPts val="2850"/>
                </a:lnSpc>
                <a:buFont typeface="Arial"/>
                <a:buChar char="•"/>
              </a:pPr>
              <a:r>
                <a:rPr lang="en-US" sz="1950">
                  <a:solidFill>
                    <a:srgbClr val="3A4066"/>
                  </a:solidFill>
                  <a:latin typeface="Calibri (MS)"/>
                  <a:ea typeface="Calibri (MS)"/>
                  <a:cs typeface="Calibri (MS)"/>
                  <a:sym typeface="Calibri (MS)"/>
                </a:rPr>
                <a:t>email carries a uniqueness expectation, enforced at the application layer today via a duplicate check before insert/update.</a:t>
              </a:r>
            </a:p>
            <a:p>
              <a:pPr algn="l" marL="352901" indent="-176451" lvl="1">
                <a:lnSpc>
                  <a:spcPts val="2850"/>
                </a:lnSpc>
                <a:buFont typeface="Arial"/>
                <a:buChar char="•"/>
              </a:pPr>
              <a:r>
                <a:rPr lang="en-US" sz="1950">
                  <a:solidFill>
                    <a:srgbClr val="3A4066"/>
                  </a:solidFill>
                  <a:latin typeface="Calibri (MS)"/>
                  <a:ea typeface="Calibri (MS)"/>
                  <a:cs typeface="Calibri (MS)"/>
                  <a:sym typeface="Calibri (MS)"/>
                </a:rPr>
                <a:t>status defaults to "New" and drives filtering across the Dashboard and future AI scoring module.</a:t>
              </a:r>
            </a:p>
            <a:p>
              <a:pPr algn="l" marL="352901" indent="-176451" lvl="1">
                <a:lnSpc>
                  <a:spcPts val="2850"/>
                </a:lnSpc>
                <a:buFont typeface="Arial"/>
                <a:buChar char="•"/>
              </a:pPr>
              <a:r>
                <a:rPr lang="en-US" sz="1950">
                  <a:solidFill>
                    <a:srgbClr val="3A4066"/>
                  </a:solidFill>
                  <a:latin typeface="Calibri (MS)"/>
                  <a:ea typeface="Calibri (MS)"/>
                  <a:cs typeface="Calibri (MS)"/>
                  <a:sym typeface="Calibri (MS)"/>
                </a:rPr>
                <a:t>created_at is stamped automatically by the database — never set manually by the API.</a:t>
              </a:r>
            </a:p>
            <a:p>
              <a:pPr algn="l" marL="352901" indent="-176451" lvl="1">
                <a:lnSpc>
                  <a:spcPts val="2850"/>
                </a:lnSpc>
                <a:buFont typeface="Arial"/>
                <a:buChar char="•"/>
              </a:pPr>
              <a:r>
                <a:rPr lang="en-US" sz="1950">
                  <a:solidFill>
                    <a:srgbClr val="3A4066"/>
                  </a:solidFill>
                  <a:latin typeface="Calibri (MS)"/>
                  <a:ea typeface="Calibri (MS)"/>
                  <a:cs typeface="Calibri (MS)"/>
                  <a:sym typeface="Calibri (MS)"/>
                </a:rPr>
                <a:t>Defined once in database/models.py using SQLAlchemy's declarative Base, then reused across every CRUD endpoint.</a:t>
              </a:r>
            </a:p>
          </p:txBody>
        </p:sp>
      </p:grpSp>
      <p:grpSp>
        <p:nvGrpSpPr>
          <p:cNvPr name="Group 85" id="85"/>
          <p:cNvGrpSpPr/>
          <p:nvPr/>
        </p:nvGrpSpPr>
        <p:grpSpPr>
          <a:xfrm rot="0">
            <a:off x="685800" y="9710928"/>
            <a:ext cx="9601200" cy="411480"/>
            <a:chOff x="0" y="0"/>
            <a:chExt cx="12801600" cy="548640"/>
          </a:xfrm>
        </p:grpSpPr>
        <p:sp>
          <p:nvSpPr>
            <p:cNvPr name="Freeform 86" id="86"/>
            <p:cNvSpPr/>
            <p:nvPr/>
          </p:nvSpPr>
          <p:spPr>
            <a:xfrm flipH="false" flipV="false" rot="0">
              <a:off x="0" y="0"/>
              <a:ext cx="12801600" cy="548640"/>
            </a:xfrm>
            <a:custGeom>
              <a:avLst/>
              <a:gdLst/>
              <a:ahLst/>
              <a:cxnLst/>
              <a:rect r="r" b="b" t="t" l="l"/>
              <a:pathLst>
                <a:path h="548640" w="12801600">
                  <a:moveTo>
                    <a:pt x="0" y="0"/>
                  </a:moveTo>
                  <a:lnTo>
                    <a:pt x="12801600" y="0"/>
                  </a:lnTo>
                  <a:lnTo>
                    <a:pt x="12801600" y="548640"/>
                  </a:lnTo>
                  <a:lnTo>
                    <a:pt x="0" y="548640"/>
                  </a:lnTo>
                  <a:close/>
                </a:path>
              </a:pathLst>
            </a:custGeom>
            <a:blipFill>
              <a:blip r:embed="rId3">
                <a:alphaModFix amt="0"/>
              </a:blip>
              <a:stretch>
                <a:fillRect l="0" t="-404650" r="0" b="-404650"/>
              </a:stretch>
            </a:blipFill>
          </p:spPr>
        </p:sp>
        <p:sp>
          <p:nvSpPr>
            <p:cNvPr name="TextBox 87" id="87"/>
            <p:cNvSpPr txBox="true"/>
            <p:nvPr/>
          </p:nvSpPr>
          <p:spPr>
            <a:xfrm>
              <a:off x="0" y="-38100"/>
              <a:ext cx="12801600" cy="586740"/>
            </a:xfrm>
            <a:prstGeom prst="rect">
              <a:avLst/>
            </a:prstGeom>
          </p:spPr>
          <p:txBody>
            <a:bodyPr anchor="ctr" rtlCol="false" tIns="0" lIns="0" bIns="0" rIns="0"/>
            <a:lstStyle/>
            <a:p>
              <a:pPr algn="l">
                <a:lnSpc>
                  <a:spcPts val="1800"/>
                </a:lnSpc>
              </a:pPr>
              <a:r>
                <a:rPr lang="en-US" sz="1500">
                  <a:solidFill>
                    <a:srgbClr val="6B7290"/>
                  </a:solidFill>
                  <a:latin typeface="Calibri (MS)"/>
                  <a:ea typeface="Calibri (MS)"/>
                  <a:cs typeface="Calibri (MS)"/>
                  <a:sym typeface="Calibri (MS)"/>
                </a:rPr>
                <a:t>SalesGenie  |  Module 1 – Prospect CRUD API</a:t>
              </a:r>
            </a:p>
          </p:txBody>
        </p:sp>
      </p:grpSp>
      <p:grpSp>
        <p:nvGrpSpPr>
          <p:cNvPr name="Group 88" id="88"/>
          <p:cNvGrpSpPr/>
          <p:nvPr/>
        </p:nvGrpSpPr>
        <p:grpSpPr>
          <a:xfrm rot="0">
            <a:off x="16911828" y="9710928"/>
            <a:ext cx="685800" cy="411480"/>
            <a:chOff x="0" y="0"/>
            <a:chExt cx="914400" cy="548640"/>
          </a:xfrm>
        </p:grpSpPr>
        <p:sp>
          <p:nvSpPr>
            <p:cNvPr name="Freeform 89" id="8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90" id="9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90"/>
                  </a:solidFill>
                  <a:latin typeface="Calibri (MS)"/>
                  <a:ea typeface="Calibri (MS)"/>
                  <a:cs typeface="Calibri (MS)"/>
                  <a:sym typeface="Calibri (MS)"/>
                </a:rPr>
                <a:t>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15773400" cy="960120"/>
            <a:chOff x="0" y="0"/>
            <a:chExt cx="21031200" cy="1280160"/>
          </a:xfrm>
        </p:grpSpPr>
        <p:sp>
          <p:nvSpPr>
            <p:cNvPr name="Freeform 3" id="3"/>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4" id="4"/>
            <p:cNvSpPr txBox="true"/>
            <p:nvPr/>
          </p:nvSpPr>
          <p:spPr>
            <a:xfrm>
              <a:off x="0" y="-19050"/>
              <a:ext cx="21031200" cy="1299210"/>
            </a:xfrm>
            <a:prstGeom prst="rect">
              <a:avLst/>
            </a:prstGeom>
          </p:spPr>
          <p:txBody>
            <a:bodyPr anchor="ctr" rtlCol="false" tIns="0" lIns="0" bIns="0" rIns="0"/>
            <a:lstStyle/>
            <a:p>
              <a:pPr algn="l">
                <a:lnSpc>
                  <a:spcPts val="5400"/>
                </a:lnSpc>
              </a:pPr>
              <a:r>
                <a:rPr lang="en-US" sz="4500" b="true">
                  <a:solidFill>
                    <a:srgbClr val="1E2761"/>
                  </a:solidFill>
                  <a:latin typeface="Cambria Bold"/>
                  <a:ea typeface="Cambria Bold"/>
                  <a:cs typeface="Cambria Bold"/>
                  <a:sym typeface="Cambria Bold"/>
                </a:rPr>
                <a:t>Backend Architecture</a:t>
              </a:r>
            </a:p>
          </p:txBody>
        </p:sp>
      </p:grpSp>
      <p:grpSp>
        <p:nvGrpSpPr>
          <p:cNvPr name="Group 5" id="5"/>
          <p:cNvGrpSpPr/>
          <p:nvPr/>
        </p:nvGrpSpPr>
        <p:grpSpPr>
          <a:xfrm rot="0">
            <a:off x="822960" y="1371600"/>
            <a:ext cx="15773400" cy="548640"/>
            <a:chOff x="0" y="0"/>
            <a:chExt cx="21031200" cy="731520"/>
          </a:xfrm>
        </p:grpSpPr>
        <p:sp>
          <p:nvSpPr>
            <p:cNvPr name="Freeform 6" id="6"/>
            <p:cNvSpPr/>
            <p:nvPr/>
          </p:nvSpPr>
          <p:spPr>
            <a:xfrm flipH="false" flipV="false" rot="0">
              <a:off x="0" y="0"/>
              <a:ext cx="21031200" cy="731520"/>
            </a:xfrm>
            <a:custGeom>
              <a:avLst/>
              <a:gdLst/>
              <a:ahLst/>
              <a:cxnLst/>
              <a:rect r="r" b="b" t="t" l="l"/>
              <a:pathLst>
                <a:path h="731520" w="21031200">
                  <a:moveTo>
                    <a:pt x="0" y="0"/>
                  </a:moveTo>
                  <a:lnTo>
                    <a:pt x="21031200" y="0"/>
                  </a:lnTo>
                  <a:lnTo>
                    <a:pt x="21031200" y="731520"/>
                  </a:lnTo>
                  <a:lnTo>
                    <a:pt x="0" y="731520"/>
                  </a:lnTo>
                  <a:close/>
                </a:path>
              </a:pathLst>
            </a:custGeom>
            <a:blipFill>
              <a:blip r:embed="rId3">
                <a:alphaModFix amt="0"/>
              </a:blip>
              <a:stretch>
                <a:fillRect l="0" t="-510194" r="0" b="-510194"/>
              </a:stretch>
            </a:blipFill>
          </p:spPr>
        </p:sp>
        <p:sp>
          <p:nvSpPr>
            <p:cNvPr name="TextBox 7" id="7"/>
            <p:cNvSpPr txBox="true"/>
            <p:nvPr/>
          </p:nvSpPr>
          <p:spPr>
            <a:xfrm>
              <a:off x="0" y="-47625"/>
              <a:ext cx="21031200" cy="779145"/>
            </a:xfrm>
            <a:prstGeom prst="rect">
              <a:avLst/>
            </a:prstGeom>
          </p:spPr>
          <p:txBody>
            <a:bodyPr anchor="ctr" rtlCol="false" tIns="0" lIns="0" bIns="0" rIns="0"/>
            <a:lstStyle/>
            <a:p>
              <a:pPr algn="l">
                <a:lnSpc>
                  <a:spcPts val="2520"/>
                </a:lnSpc>
              </a:pPr>
              <a:r>
                <a:rPr lang="en-US" sz="2100">
                  <a:solidFill>
                    <a:srgbClr val="6B7290"/>
                  </a:solidFill>
                  <a:latin typeface="Calibri (MS)"/>
                  <a:ea typeface="Calibri (MS)"/>
                  <a:cs typeface="Calibri (MS)"/>
                  <a:sym typeface="Calibri (MS)"/>
                </a:rPr>
                <a:t>Request flow from client to database</a:t>
              </a:r>
            </a:p>
          </p:txBody>
        </p:sp>
      </p:grpSp>
      <p:grpSp>
        <p:nvGrpSpPr>
          <p:cNvPr name="Group 8" id="8"/>
          <p:cNvGrpSpPr/>
          <p:nvPr/>
        </p:nvGrpSpPr>
        <p:grpSpPr>
          <a:xfrm rot="0">
            <a:off x="822960" y="4114800"/>
            <a:ext cx="2948940" cy="2057400"/>
            <a:chOff x="0" y="0"/>
            <a:chExt cx="3931920" cy="2743200"/>
          </a:xfrm>
        </p:grpSpPr>
        <p:sp>
          <p:nvSpPr>
            <p:cNvPr name="Freeform 9" id="9"/>
            <p:cNvSpPr/>
            <p:nvPr/>
          </p:nvSpPr>
          <p:spPr>
            <a:xfrm flipH="false" flipV="false" rot="0">
              <a:off x="0" y="0"/>
              <a:ext cx="3931920" cy="2743200"/>
            </a:xfrm>
            <a:custGeom>
              <a:avLst/>
              <a:gdLst/>
              <a:ahLst/>
              <a:cxnLst/>
              <a:rect r="r" b="b" t="t" l="l"/>
              <a:pathLst>
                <a:path h="2743200" w="3931920">
                  <a:moveTo>
                    <a:pt x="0" y="182880"/>
                  </a:moveTo>
                  <a:cubicBezTo>
                    <a:pt x="0" y="81915"/>
                    <a:pt x="81915" y="0"/>
                    <a:pt x="182880" y="0"/>
                  </a:cubicBezTo>
                  <a:lnTo>
                    <a:pt x="3749040" y="0"/>
                  </a:lnTo>
                  <a:cubicBezTo>
                    <a:pt x="3850005" y="0"/>
                    <a:pt x="3931920" y="81915"/>
                    <a:pt x="3931920" y="182880"/>
                  </a:cubicBezTo>
                  <a:lnTo>
                    <a:pt x="3931920" y="2560320"/>
                  </a:lnTo>
                  <a:cubicBezTo>
                    <a:pt x="3931920" y="2661285"/>
                    <a:pt x="3850005" y="2743200"/>
                    <a:pt x="3749040" y="2743200"/>
                  </a:cubicBezTo>
                  <a:lnTo>
                    <a:pt x="182880" y="2743200"/>
                  </a:lnTo>
                  <a:cubicBezTo>
                    <a:pt x="81915" y="2743200"/>
                    <a:pt x="0" y="2661285"/>
                    <a:pt x="0" y="2560320"/>
                  </a:cubicBezTo>
                  <a:close/>
                </a:path>
              </a:pathLst>
            </a:custGeom>
            <a:solidFill>
              <a:srgbClr val="1E2761"/>
            </a:solidFill>
          </p:spPr>
        </p:sp>
      </p:grpSp>
      <p:grpSp>
        <p:nvGrpSpPr>
          <p:cNvPr name="Group 10" id="10"/>
          <p:cNvGrpSpPr/>
          <p:nvPr/>
        </p:nvGrpSpPr>
        <p:grpSpPr>
          <a:xfrm rot="0">
            <a:off x="932688" y="4498848"/>
            <a:ext cx="2729484" cy="685800"/>
            <a:chOff x="0" y="0"/>
            <a:chExt cx="3639312" cy="914400"/>
          </a:xfrm>
        </p:grpSpPr>
        <p:sp>
          <p:nvSpPr>
            <p:cNvPr name="Freeform 11" id="11"/>
            <p:cNvSpPr/>
            <p:nvPr/>
          </p:nvSpPr>
          <p:spPr>
            <a:xfrm flipH="false" flipV="false" rot="0">
              <a:off x="0" y="0"/>
              <a:ext cx="3639312" cy="914400"/>
            </a:xfrm>
            <a:custGeom>
              <a:avLst/>
              <a:gdLst/>
              <a:ahLst/>
              <a:cxnLst/>
              <a:rect r="r" b="b" t="t" l="l"/>
              <a:pathLst>
                <a:path h="914400" w="3639312">
                  <a:moveTo>
                    <a:pt x="0" y="0"/>
                  </a:moveTo>
                  <a:lnTo>
                    <a:pt x="3639312" y="0"/>
                  </a:lnTo>
                  <a:lnTo>
                    <a:pt x="3639312" y="914400"/>
                  </a:lnTo>
                  <a:lnTo>
                    <a:pt x="0" y="914400"/>
                  </a:lnTo>
                  <a:close/>
                </a:path>
              </a:pathLst>
            </a:custGeom>
            <a:blipFill>
              <a:blip r:embed="rId3">
                <a:alphaModFix amt="0"/>
              </a:blip>
              <a:stretch>
                <a:fillRect l="0" t="-27550" r="0" b="-27550"/>
              </a:stretch>
            </a:blipFill>
          </p:spPr>
        </p:sp>
        <p:sp>
          <p:nvSpPr>
            <p:cNvPr name="TextBox 12" id="12"/>
            <p:cNvSpPr txBox="true"/>
            <p:nvPr/>
          </p:nvSpPr>
          <p:spPr>
            <a:xfrm>
              <a:off x="0" y="-38100"/>
              <a:ext cx="3639312" cy="952500"/>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Client</a:t>
              </a:r>
            </a:p>
          </p:txBody>
        </p:sp>
      </p:grpSp>
      <p:grpSp>
        <p:nvGrpSpPr>
          <p:cNvPr name="Group 13" id="13"/>
          <p:cNvGrpSpPr/>
          <p:nvPr/>
        </p:nvGrpSpPr>
        <p:grpSpPr>
          <a:xfrm rot="0">
            <a:off x="932688" y="5239512"/>
            <a:ext cx="2729484" cy="685800"/>
            <a:chOff x="0" y="0"/>
            <a:chExt cx="3639312" cy="914400"/>
          </a:xfrm>
        </p:grpSpPr>
        <p:sp>
          <p:nvSpPr>
            <p:cNvPr name="Freeform 14" id="14"/>
            <p:cNvSpPr/>
            <p:nvPr/>
          </p:nvSpPr>
          <p:spPr>
            <a:xfrm flipH="false" flipV="false" rot="0">
              <a:off x="0" y="0"/>
              <a:ext cx="3639312" cy="914400"/>
            </a:xfrm>
            <a:custGeom>
              <a:avLst/>
              <a:gdLst/>
              <a:ahLst/>
              <a:cxnLst/>
              <a:rect r="r" b="b" t="t" l="l"/>
              <a:pathLst>
                <a:path h="914400" w="3639312">
                  <a:moveTo>
                    <a:pt x="0" y="0"/>
                  </a:moveTo>
                  <a:lnTo>
                    <a:pt x="3639312" y="0"/>
                  </a:lnTo>
                  <a:lnTo>
                    <a:pt x="3639312" y="914400"/>
                  </a:lnTo>
                  <a:lnTo>
                    <a:pt x="0" y="914400"/>
                  </a:lnTo>
                  <a:close/>
                </a:path>
              </a:pathLst>
            </a:custGeom>
            <a:blipFill>
              <a:blip r:embed="rId3">
                <a:alphaModFix amt="0"/>
              </a:blip>
              <a:stretch>
                <a:fillRect l="0" t="-27550" r="0" b="-27550"/>
              </a:stretch>
            </a:blipFill>
          </p:spPr>
        </p:sp>
        <p:sp>
          <p:nvSpPr>
            <p:cNvPr name="TextBox 15" id="15"/>
            <p:cNvSpPr txBox="true"/>
            <p:nvPr/>
          </p:nvSpPr>
          <p:spPr>
            <a:xfrm>
              <a:off x="0" y="-38100"/>
              <a:ext cx="3639312" cy="952500"/>
            </a:xfrm>
            <a:prstGeom prst="rect">
              <a:avLst/>
            </a:prstGeom>
          </p:spPr>
          <p:txBody>
            <a:bodyPr anchor="ctr" rtlCol="false" tIns="0" lIns="0" bIns="0" rIns="0"/>
            <a:lstStyle/>
            <a:p>
              <a:pPr algn="ctr">
                <a:lnSpc>
                  <a:spcPts val="1800"/>
                </a:lnSpc>
              </a:pPr>
              <a:r>
                <a:rPr lang="en-US" sz="1500">
                  <a:solidFill>
                    <a:srgbClr val="D8DEFA"/>
                  </a:solidFill>
                  <a:latin typeface="Calibri (MS)"/>
                  <a:ea typeface="Calibri (MS)"/>
                  <a:cs typeface="Calibri (MS)"/>
                  <a:sym typeface="Calibri (MS)"/>
                </a:rPr>
                <a:t>Swagger UI / Frontend</a:t>
              </a:r>
            </a:p>
          </p:txBody>
        </p:sp>
      </p:grpSp>
      <p:grpSp>
        <p:nvGrpSpPr>
          <p:cNvPr name="Group 16" id="16"/>
          <p:cNvGrpSpPr/>
          <p:nvPr/>
        </p:nvGrpSpPr>
        <p:grpSpPr>
          <a:xfrm rot="0">
            <a:off x="4594860" y="4114800"/>
            <a:ext cx="2948940" cy="2057400"/>
            <a:chOff x="0" y="0"/>
            <a:chExt cx="3931920" cy="2743200"/>
          </a:xfrm>
        </p:grpSpPr>
        <p:sp>
          <p:nvSpPr>
            <p:cNvPr name="Freeform 17" id="17"/>
            <p:cNvSpPr/>
            <p:nvPr/>
          </p:nvSpPr>
          <p:spPr>
            <a:xfrm flipH="false" flipV="false" rot="0">
              <a:off x="0" y="0"/>
              <a:ext cx="3931920" cy="2743200"/>
            </a:xfrm>
            <a:custGeom>
              <a:avLst/>
              <a:gdLst/>
              <a:ahLst/>
              <a:cxnLst/>
              <a:rect r="r" b="b" t="t" l="l"/>
              <a:pathLst>
                <a:path h="2743200" w="3931920">
                  <a:moveTo>
                    <a:pt x="0" y="182880"/>
                  </a:moveTo>
                  <a:cubicBezTo>
                    <a:pt x="0" y="81915"/>
                    <a:pt x="81915" y="0"/>
                    <a:pt x="182880" y="0"/>
                  </a:cubicBezTo>
                  <a:lnTo>
                    <a:pt x="3749040" y="0"/>
                  </a:lnTo>
                  <a:cubicBezTo>
                    <a:pt x="3850005" y="0"/>
                    <a:pt x="3931920" y="81915"/>
                    <a:pt x="3931920" y="182880"/>
                  </a:cubicBezTo>
                  <a:lnTo>
                    <a:pt x="3931920" y="2560320"/>
                  </a:lnTo>
                  <a:cubicBezTo>
                    <a:pt x="3931920" y="2661285"/>
                    <a:pt x="3850005" y="2743200"/>
                    <a:pt x="3749040" y="2743200"/>
                  </a:cubicBezTo>
                  <a:lnTo>
                    <a:pt x="182880" y="2743200"/>
                  </a:lnTo>
                  <a:cubicBezTo>
                    <a:pt x="81915" y="2743200"/>
                    <a:pt x="0" y="2661285"/>
                    <a:pt x="0" y="2560320"/>
                  </a:cubicBezTo>
                  <a:close/>
                </a:path>
              </a:pathLst>
            </a:custGeom>
            <a:solidFill>
              <a:srgbClr val="3D5AFE"/>
            </a:solidFill>
          </p:spPr>
        </p:sp>
      </p:grpSp>
      <p:grpSp>
        <p:nvGrpSpPr>
          <p:cNvPr name="Group 18" id="18"/>
          <p:cNvGrpSpPr/>
          <p:nvPr/>
        </p:nvGrpSpPr>
        <p:grpSpPr>
          <a:xfrm rot="0">
            <a:off x="4704588" y="4498848"/>
            <a:ext cx="2729484" cy="685800"/>
            <a:chOff x="0" y="0"/>
            <a:chExt cx="3639312" cy="914400"/>
          </a:xfrm>
        </p:grpSpPr>
        <p:sp>
          <p:nvSpPr>
            <p:cNvPr name="Freeform 19" id="19"/>
            <p:cNvSpPr/>
            <p:nvPr/>
          </p:nvSpPr>
          <p:spPr>
            <a:xfrm flipH="false" flipV="false" rot="0">
              <a:off x="0" y="0"/>
              <a:ext cx="3639312" cy="914400"/>
            </a:xfrm>
            <a:custGeom>
              <a:avLst/>
              <a:gdLst/>
              <a:ahLst/>
              <a:cxnLst/>
              <a:rect r="r" b="b" t="t" l="l"/>
              <a:pathLst>
                <a:path h="914400" w="3639312">
                  <a:moveTo>
                    <a:pt x="0" y="0"/>
                  </a:moveTo>
                  <a:lnTo>
                    <a:pt x="3639312" y="0"/>
                  </a:lnTo>
                  <a:lnTo>
                    <a:pt x="3639312" y="914400"/>
                  </a:lnTo>
                  <a:lnTo>
                    <a:pt x="0" y="914400"/>
                  </a:lnTo>
                  <a:close/>
                </a:path>
              </a:pathLst>
            </a:custGeom>
            <a:blipFill>
              <a:blip r:embed="rId3">
                <a:alphaModFix amt="0"/>
              </a:blip>
              <a:stretch>
                <a:fillRect l="0" t="-27550" r="0" b="-27550"/>
              </a:stretch>
            </a:blipFill>
          </p:spPr>
        </p:sp>
        <p:sp>
          <p:nvSpPr>
            <p:cNvPr name="TextBox 20" id="20"/>
            <p:cNvSpPr txBox="true"/>
            <p:nvPr/>
          </p:nvSpPr>
          <p:spPr>
            <a:xfrm>
              <a:off x="0" y="-38100"/>
              <a:ext cx="3639312" cy="952500"/>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FastAPI</a:t>
              </a:r>
            </a:p>
          </p:txBody>
        </p:sp>
      </p:grpSp>
      <p:grpSp>
        <p:nvGrpSpPr>
          <p:cNvPr name="Group 21" id="21"/>
          <p:cNvGrpSpPr/>
          <p:nvPr/>
        </p:nvGrpSpPr>
        <p:grpSpPr>
          <a:xfrm rot="0">
            <a:off x="4704588" y="5239512"/>
            <a:ext cx="2729484" cy="685800"/>
            <a:chOff x="0" y="0"/>
            <a:chExt cx="3639312" cy="914400"/>
          </a:xfrm>
        </p:grpSpPr>
        <p:sp>
          <p:nvSpPr>
            <p:cNvPr name="Freeform 22" id="22"/>
            <p:cNvSpPr/>
            <p:nvPr/>
          </p:nvSpPr>
          <p:spPr>
            <a:xfrm flipH="false" flipV="false" rot="0">
              <a:off x="0" y="0"/>
              <a:ext cx="3639312" cy="914400"/>
            </a:xfrm>
            <a:custGeom>
              <a:avLst/>
              <a:gdLst/>
              <a:ahLst/>
              <a:cxnLst/>
              <a:rect r="r" b="b" t="t" l="l"/>
              <a:pathLst>
                <a:path h="914400" w="3639312">
                  <a:moveTo>
                    <a:pt x="0" y="0"/>
                  </a:moveTo>
                  <a:lnTo>
                    <a:pt x="3639312" y="0"/>
                  </a:lnTo>
                  <a:lnTo>
                    <a:pt x="3639312" y="914400"/>
                  </a:lnTo>
                  <a:lnTo>
                    <a:pt x="0" y="914400"/>
                  </a:lnTo>
                  <a:close/>
                </a:path>
              </a:pathLst>
            </a:custGeom>
            <a:blipFill>
              <a:blip r:embed="rId3">
                <a:alphaModFix amt="0"/>
              </a:blip>
              <a:stretch>
                <a:fillRect l="0" t="-27550" r="0" b="-27550"/>
              </a:stretch>
            </a:blipFill>
          </p:spPr>
        </p:sp>
        <p:sp>
          <p:nvSpPr>
            <p:cNvPr name="TextBox 23" id="23"/>
            <p:cNvSpPr txBox="true"/>
            <p:nvPr/>
          </p:nvSpPr>
          <p:spPr>
            <a:xfrm>
              <a:off x="0" y="-38100"/>
              <a:ext cx="3639312" cy="952500"/>
            </a:xfrm>
            <a:prstGeom prst="rect">
              <a:avLst/>
            </a:prstGeom>
          </p:spPr>
          <p:txBody>
            <a:bodyPr anchor="ctr" rtlCol="false" tIns="0" lIns="0" bIns="0" rIns="0"/>
            <a:lstStyle/>
            <a:p>
              <a:pPr algn="ctr">
                <a:lnSpc>
                  <a:spcPts val="1800"/>
                </a:lnSpc>
              </a:pPr>
              <a:r>
                <a:rPr lang="en-US" sz="1500">
                  <a:solidFill>
                    <a:srgbClr val="D8DEFA"/>
                  </a:solidFill>
                  <a:latin typeface="Calibri (MS)"/>
                  <a:ea typeface="Calibri (MS)"/>
                  <a:cs typeface="Calibri (MS)"/>
                  <a:sym typeface="Calibri (MS)"/>
                </a:rPr>
                <a:t>App entrypoint</a:t>
              </a:r>
            </a:p>
          </p:txBody>
        </p:sp>
      </p:grpSp>
      <p:grpSp>
        <p:nvGrpSpPr>
          <p:cNvPr name="Group 24" id="24"/>
          <p:cNvGrpSpPr/>
          <p:nvPr/>
        </p:nvGrpSpPr>
        <p:grpSpPr>
          <a:xfrm rot="0">
            <a:off x="8366760" y="4114800"/>
            <a:ext cx="2948940" cy="2057400"/>
            <a:chOff x="0" y="0"/>
            <a:chExt cx="3931920" cy="2743200"/>
          </a:xfrm>
        </p:grpSpPr>
        <p:sp>
          <p:nvSpPr>
            <p:cNvPr name="Freeform 25" id="25"/>
            <p:cNvSpPr/>
            <p:nvPr/>
          </p:nvSpPr>
          <p:spPr>
            <a:xfrm flipH="false" flipV="false" rot="0">
              <a:off x="0" y="0"/>
              <a:ext cx="3931920" cy="2743200"/>
            </a:xfrm>
            <a:custGeom>
              <a:avLst/>
              <a:gdLst/>
              <a:ahLst/>
              <a:cxnLst/>
              <a:rect r="r" b="b" t="t" l="l"/>
              <a:pathLst>
                <a:path h="2743200" w="3931920">
                  <a:moveTo>
                    <a:pt x="0" y="182880"/>
                  </a:moveTo>
                  <a:cubicBezTo>
                    <a:pt x="0" y="81915"/>
                    <a:pt x="81915" y="0"/>
                    <a:pt x="182880" y="0"/>
                  </a:cubicBezTo>
                  <a:lnTo>
                    <a:pt x="3749040" y="0"/>
                  </a:lnTo>
                  <a:cubicBezTo>
                    <a:pt x="3850005" y="0"/>
                    <a:pt x="3931920" y="81915"/>
                    <a:pt x="3931920" y="182880"/>
                  </a:cubicBezTo>
                  <a:lnTo>
                    <a:pt x="3931920" y="2560320"/>
                  </a:lnTo>
                  <a:cubicBezTo>
                    <a:pt x="3931920" y="2661285"/>
                    <a:pt x="3850005" y="2743200"/>
                    <a:pt x="3749040" y="2743200"/>
                  </a:cubicBezTo>
                  <a:lnTo>
                    <a:pt x="182880" y="2743200"/>
                  </a:lnTo>
                  <a:cubicBezTo>
                    <a:pt x="81915" y="2743200"/>
                    <a:pt x="0" y="2661285"/>
                    <a:pt x="0" y="2560320"/>
                  </a:cubicBezTo>
                  <a:close/>
                </a:path>
              </a:pathLst>
            </a:custGeom>
            <a:solidFill>
              <a:srgbClr val="1E2761"/>
            </a:solidFill>
          </p:spPr>
        </p:sp>
      </p:grpSp>
      <p:grpSp>
        <p:nvGrpSpPr>
          <p:cNvPr name="Group 26" id="26"/>
          <p:cNvGrpSpPr/>
          <p:nvPr/>
        </p:nvGrpSpPr>
        <p:grpSpPr>
          <a:xfrm rot="0">
            <a:off x="8476488" y="4498848"/>
            <a:ext cx="2729484" cy="685800"/>
            <a:chOff x="0" y="0"/>
            <a:chExt cx="3639312" cy="914400"/>
          </a:xfrm>
        </p:grpSpPr>
        <p:sp>
          <p:nvSpPr>
            <p:cNvPr name="Freeform 27" id="27"/>
            <p:cNvSpPr/>
            <p:nvPr/>
          </p:nvSpPr>
          <p:spPr>
            <a:xfrm flipH="false" flipV="false" rot="0">
              <a:off x="0" y="0"/>
              <a:ext cx="3639312" cy="914400"/>
            </a:xfrm>
            <a:custGeom>
              <a:avLst/>
              <a:gdLst/>
              <a:ahLst/>
              <a:cxnLst/>
              <a:rect r="r" b="b" t="t" l="l"/>
              <a:pathLst>
                <a:path h="914400" w="3639312">
                  <a:moveTo>
                    <a:pt x="0" y="0"/>
                  </a:moveTo>
                  <a:lnTo>
                    <a:pt x="3639312" y="0"/>
                  </a:lnTo>
                  <a:lnTo>
                    <a:pt x="3639312" y="914400"/>
                  </a:lnTo>
                  <a:lnTo>
                    <a:pt x="0" y="914400"/>
                  </a:lnTo>
                  <a:close/>
                </a:path>
              </a:pathLst>
            </a:custGeom>
            <a:blipFill>
              <a:blip r:embed="rId3">
                <a:alphaModFix amt="0"/>
              </a:blip>
              <a:stretch>
                <a:fillRect l="0" t="-27550" r="0" b="-27550"/>
              </a:stretch>
            </a:blipFill>
          </p:spPr>
        </p:sp>
        <p:sp>
          <p:nvSpPr>
            <p:cNvPr name="TextBox 28" id="28"/>
            <p:cNvSpPr txBox="true"/>
            <p:nvPr/>
          </p:nvSpPr>
          <p:spPr>
            <a:xfrm>
              <a:off x="0" y="-38100"/>
              <a:ext cx="3639312" cy="952500"/>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CRUD Routes</a:t>
              </a:r>
            </a:p>
          </p:txBody>
        </p:sp>
      </p:grpSp>
      <p:grpSp>
        <p:nvGrpSpPr>
          <p:cNvPr name="Group 29" id="29"/>
          <p:cNvGrpSpPr/>
          <p:nvPr/>
        </p:nvGrpSpPr>
        <p:grpSpPr>
          <a:xfrm rot="0">
            <a:off x="8476488" y="5239512"/>
            <a:ext cx="2729484" cy="685800"/>
            <a:chOff x="0" y="0"/>
            <a:chExt cx="3639312" cy="914400"/>
          </a:xfrm>
        </p:grpSpPr>
        <p:sp>
          <p:nvSpPr>
            <p:cNvPr name="Freeform 30" id="30"/>
            <p:cNvSpPr/>
            <p:nvPr/>
          </p:nvSpPr>
          <p:spPr>
            <a:xfrm flipH="false" flipV="false" rot="0">
              <a:off x="0" y="0"/>
              <a:ext cx="3639312" cy="914400"/>
            </a:xfrm>
            <a:custGeom>
              <a:avLst/>
              <a:gdLst/>
              <a:ahLst/>
              <a:cxnLst/>
              <a:rect r="r" b="b" t="t" l="l"/>
              <a:pathLst>
                <a:path h="914400" w="3639312">
                  <a:moveTo>
                    <a:pt x="0" y="0"/>
                  </a:moveTo>
                  <a:lnTo>
                    <a:pt x="3639312" y="0"/>
                  </a:lnTo>
                  <a:lnTo>
                    <a:pt x="3639312" y="914400"/>
                  </a:lnTo>
                  <a:lnTo>
                    <a:pt x="0" y="914400"/>
                  </a:lnTo>
                  <a:close/>
                </a:path>
              </a:pathLst>
            </a:custGeom>
            <a:blipFill>
              <a:blip r:embed="rId3">
                <a:alphaModFix amt="0"/>
              </a:blip>
              <a:stretch>
                <a:fillRect l="0" t="-27550" r="0" b="-27550"/>
              </a:stretch>
            </a:blipFill>
          </p:spPr>
        </p:sp>
        <p:sp>
          <p:nvSpPr>
            <p:cNvPr name="TextBox 31" id="31"/>
            <p:cNvSpPr txBox="true"/>
            <p:nvPr/>
          </p:nvSpPr>
          <p:spPr>
            <a:xfrm>
              <a:off x="0" y="-38100"/>
              <a:ext cx="3639312" cy="952500"/>
            </a:xfrm>
            <a:prstGeom prst="rect">
              <a:avLst/>
            </a:prstGeom>
          </p:spPr>
          <p:txBody>
            <a:bodyPr anchor="ctr" rtlCol="false" tIns="0" lIns="0" bIns="0" rIns="0"/>
            <a:lstStyle/>
            <a:p>
              <a:pPr algn="ctr">
                <a:lnSpc>
                  <a:spcPts val="1800"/>
                </a:lnSpc>
              </a:pPr>
              <a:r>
                <a:rPr lang="en-US" sz="1500">
                  <a:solidFill>
                    <a:srgbClr val="D8DEFA"/>
                  </a:solidFill>
                  <a:latin typeface="Calibri (MS)"/>
                  <a:ea typeface="Calibri (MS)"/>
                  <a:cs typeface="Calibri (MS)"/>
                  <a:sym typeface="Calibri (MS)"/>
                </a:rPr>
                <a:t>module1_leads.py</a:t>
              </a:r>
            </a:p>
          </p:txBody>
        </p:sp>
      </p:grpSp>
      <p:grpSp>
        <p:nvGrpSpPr>
          <p:cNvPr name="Group 32" id="32"/>
          <p:cNvGrpSpPr/>
          <p:nvPr/>
        </p:nvGrpSpPr>
        <p:grpSpPr>
          <a:xfrm rot="0">
            <a:off x="12138660" y="4114800"/>
            <a:ext cx="2948940" cy="2057400"/>
            <a:chOff x="0" y="0"/>
            <a:chExt cx="3931920" cy="2743200"/>
          </a:xfrm>
        </p:grpSpPr>
        <p:sp>
          <p:nvSpPr>
            <p:cNvPr name="Freeform 33" id="33"/>
            <p:cNvSpPr/>
            <p:nvPr/>
          </p:nvSpPr>
          <p:spPr>
            <a:xfrm flipH="false" flipV="false" rot="0">
              <a:off x="0" y="0"/>
              <a:ext cx="3931920" cy="2743200"/>
            </a:xfrm>
            <a:custGeom>
              <a:avLst/>
              <a:gdLst/>
              <a:ahLst/>
              <a:cxnLst/>
              <a:rect r="r" b="b" t="t" l="l"/>
              <a:pathLst>
                <a:path h="2743200" w="3931920">
                  <a:moveTo>
                    <a:pt x="0" y="182880"/>
                  </a:moveTo>
                  <a:cubicBezTo>
                    <a:pt x="0" y="81915"/>
                    <a:pt x="81915" y="0"/>
                    <a:pt x="182880" y="0"/>
                  </a:cubicBezTo>
                  <a:lnTo>
                    <a:pt x="3749040" y="0"/>
                  </a:lnTo>
                  <a:cubicBezTo>
                    <a:pt x="3850005" y="0"/>
                    <a:pt x="3931920" y="81915"/>
                    <a:pt x="3931920" y="182880"/>
                  </a:cubicBezTo>
                  <a:lnTo>
                    <a:pt x="3931920" y="2560320"/>
                  </a:lnTo>
                  <a:cubicBezTo>
                    <a:pt x="3931920" y="2661285"/>
                    <a:pt x="3850005" y="2743200"/>
                    <a:pt x="3749040" y="2743200"/>
                  </a:cubicBezTo>
                  <a:lnTo>
                    <a:pt x="182880" y="2743200"/>
                  </a:lnTo>
                  <a:cubicBezTo>
                    <a:pt x="81915" y="2743200"/>
                    <a:pt x="0" y="2661285"/>
                    <a:pt x="0" y="2560320"/>
                  </a:cubicBezTo>
                  <a:close/>
                </a:path>
              </a:pathLst>
            </a:custGeom>
            <a:solidFill>
              <a:srgbClr val="3D5AFE"/>
            </a:solidFill>
          </p:spPr>
        </p:sp>
      </p:grpSp>
      <p:grpSp>
        <p:nvGrpSpPr>
          <p:cNvPr name="Group 34" id="34"/>
          <p:cNvGrpSpPr/>
          <p:nvPr/>
        </p:nvGrpSpPr>
        <p:grpSpPr>
          <a:xfrm rot="0">
            <a:off x="12248388" y="4498848"/>
            <a:ext cx="2729484" cy="685800"/>
            <a:chOff x="0" y="0"/>
            <a:chExt cx="3639312" cy="914400"/>
          </a:xfrm>
        </p:grpSpPr>
        <p:sp>
          <p:nvSpPr>
            <p:cNvPr name="Freeform 35" id="35"/>
            <p:cNvSpPr/>
            <p:nvPr/>
          </p:nvSpPr>
          <p:spPr>
            <a:xfrm flipH="false" flipV="false" rot="0">
              <a:off x="0" y="0"/>
              <a:ext cx="3639312" cy="914400"/>
            </a:xfrm>
            <a:custGeom>
              <a:avLst/>
              <a:gdLst/>
              <a:ahLst/>
              <a:cxnLst/>
              <a:rect r="r" b="b" t="t" l="l"/>
              <a:pathLst>
                <a:path h="914400" w="3639312">
                  <a:moveTo>
                    <a:pt x="0" y="0"/>
                  </a:moveTo>
                  <a:lnTo>
                    <a:pt x="3639312" y="0"/>
                  </a:lnTo>
                  <a:lnTo>
                    <a:pt x="3639312" y="914400"/>
                  </a:lnTo>
                  <a:lnTo>
                    <a:pt x="0" y="914400"/>
                  </a:lnTo>
                  <a:close/>
                </a:path>
              </a:pathLst>
            </a:custGeom>
            <a:blipFill>
              <a:blip r:embed="rId3">
                <a:alphaModFix amt="0"/>
              </a:blip>
              <a:stretch>
                <a:fillRect l="0" t="-27550" r="0" b="-27550"/>
              </a:stretch>
            </a:blipFill>
          </p:spPr>
        </p:sp>
        <p:sp>
          <p:nvSpPr>
            <p:cNvPr name="TextBox 36" id="36"/>
            <p:cNvSpPr txBox="true"/>
            <p:nvPr/>
          </p:nvSpPr>
          <p:spPr>
            <a:xfrm>
              <a:off x="0" y="-38100"/>
              <a:ext cx="3639312" cy="952500"/>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SQLAlchemy ORM</a:t>
              </a:r>
            </a:p>
          </p:txBody>
        </p:sp>
      </p:grpSp>
      <p:grpSp>
        <p:nvGrpSpPr>
          <p:cNvPr name="Group 37" id="37"/>
          <p:cNvGrpSpPr/>
          <p:nvPr/>
        </p:nvGrpSpPr>
        <p:grpSpPr>
          <a:xfrm rot="0">
            <a:off x="12248388" y="5239512"/>
            <a:ext cx="2729484" cy="685800"/>
            <a:chOff x="0" y="0"/>
            <a:chExt cx="3639312" cy="914400"/>
          </a:xfrm>
        </p:grpSpPr>
        <p:sp>
          <p:nvSpPr>
            <p:cNvPr name="Freeform 38" id="38"/>
            <p:cNvSpPr/>
            <p:nvPr/>
          </p:nvSpPr>
          <p:spPr>
            <a:xfrm flipH="false" flipV="false" rot="0">
              <a:off x="0" y="0"/>
              <a:ext cx="3639312" cy="914400"/>
            </a:xfrm>
            <a:custGeom>
              <a:avLst/>
              <a:gdLst/>
              <a:ahLst/>
              <a:cxnLst/>
              <a:rect r="r" b="b" t="t" l="l"/>
              <a:pathLst>
                <a:path h="914400" w="3639312">
                  <a:moveTo>
                    <a:pt x="0" y="0"/>
                  </a:moveTo>
                  <a:lnTo>
                    <a:pt x="3639312" y="0"/>
                  </a:lnTo>
                  <a:lnTo>
                    <a:pt x="3639312" y="914400"/>
                  </a:lnTo>
                  <a:lnTo>
                    <a:pt x="0" y="914400"/>
                  </a:lnTo>
                  <a:close/>
                </a:path>
              </a:pathLst>
            </a:custGeom>
            <a:blipFill>
              <a:blip r:embed="rId3">
                <a:alphaModFix amt="0"/>
              </a:blip>
              <a:stretch>
                <a:fillRect l="0" t="-27550" r="0" b="-27550"/>
              </a:stretch>
            </a:blipFill>
          </p:spPr>
        </p:sp>
        <p:sp>
          <p:nvSpPr>
            <p:cNvPr name="TextBox 39" id="39"/>
            <p:cNvSpPr txBox="true"/>
            <p:nvPr/>
          </p:nvSpPr>
          <p:spPr>
            <a:xfrm>
              <a:off x="0" y="-38100"/>
              <a:ext cx="3639312" cy="952500"/>
            </a:xfrm>
            <a:prstGeom prst="rect">
              <a:avLst/>
            </a:prstGeom>
          </p:spPr>
          <p:txBody>
            <a:bodyPr anchor="ctr" rtlCol="false" tIns="0" lIns="0" bIns="0" rIns="0"/>
            <a:lstStyle/>
            <a:p>
              <a:pPr algn="ctr">
                <a:lnSpc>
                  <a:spcPts val="1800"/>
                </a:lnSpc>
              </a:pPr>
              <a:r>
                <a:rPr lang="en-US" sz="1500">
                  <a:solidFill>
                    <a:srgbClr val="D8DEFA"/>
                  </a:solidFill>
                  <a:latin typeface="Calibri (MS)"/>
                  <a:ea typeface="Calibri (MS)"/>
                  <a:cs typeface="Calibri (MS)"/>
                  <a:sym typeface="Calibri (MS)"/>
                </a:rPr>
                <a:t>models.py</a:t>
              </a:r>
            </a:p>
          </p:txBody>
        </p:sp>
      </p:grpSp>
      <p:grpSp>
        <p:nvGrpSpPr>
          <p:cNvPr name="Group 40" id="40"/>
          <p:cNvGrpSpPr/>
          <p:nvPr/>
        </p:nvGrpSpPr>
        <p:grpSpPr>
          <a:xfrm rot="0">
            <a:off x="15636240" y="4114800"/>
            <a:ext cx="1851660" cy="2057400"/>
            <a:chOff x="0" y="0"/>
            <a:chExt cx="2468880" cy="2743200"/>
          </a:xfrm>
        </p:grpSpPr>
        <p:sp>
          <p:nvSpPr>
            <p:cNvPr name="Freeform 41" id="41"/>
            <p:cNvSpPr/>
            <p:nvPr/>
          </p:nvSpPr>
          <p:spPr>
            <a:xfrm flipH="false" flipV="false" rot="0">
              <a:off x="0" y="0"/>
              <a:ext cx="2468880" cy="2743200"/>
            </a:xfrm>
            <a:custGeom>
              <a:avLst/>
              <a:gdLst/>
              <a:ahLst/>
              <a:cxnLst/>
              <a:rect r="r" b="b" t="t" l="l"/>
              <a:pathLst>
                <a:path h="2743200" w="2468880">
                  <a:moveTo>
                    <a:pt x="0" y="182880"/>
                  </a:moveTo>
                  <a:cubicBezTo>
                    <a:pt x="0" y="81915"/>
                    <a:pt x="81915" y="0"/>
                    <a:pt x="182880" y="0"/>
                  </a:cubicBezTo>
                  <a:lnTo>
                    <a:pt x="2286000" y="0"/>
                  </a:lnTo>
                  <a:cubicBezTo>
                    <a:pt x="2386965" y="0"/>
                    <a:pt x="2468880" y="81915"/>
                    <a:pt x="2468880" y="182880"/>
                  </a:cubicBezTo>
                  <a:lnTo>
                    <a:pt x="2468880" y="2560320"/>
                  </a:lnTo>
                  <a:cubicBezTo>
                    <a:pt x="2468880" y="2661285"/>
                    <a:pt x="2386965" y="2743200"/>
                    <a:pt x="2286000" y="2743200"/>
                  </a:cubicBezTo>
                  <a:lnTo>
                    <a:pt x="182880" y="2743200"/>
                  </a:lnTo>
                  <a:cubicBezTo>
                    <a:pt x="81915" y="2743200"/>
                    <a:pt x="0" y="2661285"/>
                    <a:pt x="0" y="2560320"/>
                  </a:cubicBezTo>
                  <a:close/>
                </a:path>
              </a:pathLst>
            </a:custGeom>
            <a:solidFill>
              <a:srgbClr val="1E2761"/>
            </a:solidFill>
          </p:spPr>
        </p:sp>
      </p:grpSp>
      <p:grpSp>
        <p:nvGrpSpPr>
          <p:cNvPr name="Group 42" id="42"/>
          <p:cNvGrpSpPr/>
          <p:nvPr/>
        </p:nvGrpSpPr>
        <p:grpSpPr>
          <a:xfrm rot="0">
            <a:off x="15745968" y="4498848"/>
            <a:ext cx="1645920" cy="685800"/>
            <a:chOff x="0" y="0"/>
            <a:chExt cx="2194560" cy="914400"/>
          </a:xfrm>
        </p:grpSpPr>
        <p:sp>
          <p:nvSpPr>
            <p:cNvPr name="Freeform 43" id="43"/>
            <p:cNvSpPr/>
            <p:nvPr/>
          </p:nvSpPr>
          <p:spPr>
            <a:xfrm flipH="false" flipV="false" rot="0">
              <a:off x="0" y="0"/>
              <a:ext cx="2194560" cy="914400"/>
            </a:xfrm>
            <a:custGeom>
              <a:avLst/>
              <a:gdLst/>
              <a:ahLst/>
              <a:cxnLst/>
              <a:rect r="r" b="b" t="t" l="l"/>
              <a:pathLst>
                <a:path h="914400" w="2194560">
                  <a:moveTo>
                    <a:pt x="0" y="0"/>
                  </a:moveTo>
                  <a:lnTo>
                    <a:pt x="2194560" y="0"/>
                  </a:lnTo>
                  <a:lnTo>
                    <a:pt x="2194560" y="914400"/>
                  </a:lnTo>
                  <a:lnTo>
                    <a:pt x="0" y="914400"/>
                  </a:lnTo>
                  <a:close/>
                </a:path>
              </a:pathLst>
            </a:custGeom>
            <a:blipFill>
              <a:blip r:embed="rId3">
                <a:alphaModFix amt="0"/>
              </a:blip>
              <a:stretch>
                <a:fillRect l="-3459" t="0" r="-3459" b="0"/>
              </a:stretch>
            </a:blipFill>
          </p:spPr>
        </p:sp>
        <p:sp>
          <p:nvSpPr>
            <p:cNvPr name="TextBox 44" id="44"/>
            <p:cNvSpPr txBox="true"/>
            <p:nvPr/>
          </p:nvSpPr>
          <p:spPr>
            <a:xfrm>
              <a:off x="0" y="-38100"/>
              <a:ext cx="2194560" cy="952500"/>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PostgreSQL</a:t>
              </a:r>
            </a:p>
          </p:txBody>
        </p:sp>
      </p:grpSp>
      <p:grpSp>
        <p:nvGrpSpPr>
          <p:cNvPr name="Group 45" id="45"/>
          <p:cNvGrpSpPr/>
          <p:nvPr/>
        </p:nvGrpSpPr>
        <p:grpSpPr>
          <a:xfrm rot="0">
            <a:off x="15745968" y="5239512"/>
            <a:ext cx="1645920" cy="685800"/>
            <a:chOff x="0" y="0"/>
            <a:chExt cx="2194560" cy="914400"/>
          </a:xfrm>
        </p:grpSpPr>
        <p:sp>
          <p:nvSpPr>
            <p:cNvPr name="Freeform 46" id="46"/>
            <p:cNvSpPr/>
            <p:nvPr/>
          </p:nvSpPr>
          <p:spPr>
            <a:xfrm flipH="false" flipV="false" rot="0">
              <a:off x="0" y="0"/>
              <a:ext cx="2194560" cy="914400"/>
            </a:xfrm>
            <a:custGeom>
              <a:avLst/>
              <a:gdLst/>
              <a:ahLst/>
              <a:cxnLst/>
              <a:rect r="r" b="b" t="t" l="l"/>
              <a:pathLst>
                <a:path h="914400" w="2194560">
                  <a:moveTo>
                    <a:pt x="0" y="0"/>
                  </a:moveTo>
                  <a:lnTo>
                    <a:pt x="2194560" y="0"/>
                  </a:lnTo>
                  <a:lnTo>
                    <a:pt x="2194560" y="914400"/>
                  </a:lnTo>
                  <a:lnTo>
                    <a:pt x="0" y="914400"/>
                  </a:lnTo>
                  <a:close/>
                </a:path>
              </a:pathLst>
            </a:custGeom>
            <a:blipFill>
              <a:blip r:embed="rId3">
                <a:alphaModFix amt="0"/>
              </a:blip>
              <a:stretch>
                <a:fillRect l="-3459" t="0" r="-3459" b="0"/>
              </a:stretch>
            </a:blipFill>
          </p:spPr>
        </p:sp>
        <p:sp>
          <p:nvSpPr>
            <p:cNvPr name="TextBox 47" id="47"/>
            <p:cNvSpPr txBox="true"/>
            <p:nvPr/>
          </p:nvSpPr>
          <p:spPr>
            <a:xfrm>
              <a:off x="0" y="-38100"/>
              <a:ext cx="2194560" cy="952500"/>
            </a:xfrm>
            <a:prstGeom prst="rect">
              <a:avLst/>
            </a:prstGeom>
          </p:spPr>
          <p:txBody>
            <a:bodyPr anchor="ctr" rtlCol="false" tIns="0" lIns="0" bIns="0" rIns="0"/>
            <a:lstStyle/>
            <a:p>
              <a:pPr algn="ctr">
                <a:lnSpc>
                  <a:spcPts val="1800"/>
                </a:lnSpc>
              </a:pPr>
              <a:r>
                <a:rPr lang="en-US" sz="1500">
                  <a:solidFill>
                    <a:srgbClr val="D8DEFA"/>
                  </a:solidFill>
                  <a:latin typeface="Calibri (MS)"/>
                  <a:ea typeface="Calibri (MS)"/>
                  <a:cs typeface="Calibri (MS)"/>
                  <a:sym typeface="Calibri (MS)"/>
                </a:rPr>
                <a:t>leads table</a:t>
              </a:r>
            </a:p>
          </p:txBody>
        </p:sp>
      </p:grpSp>
      <p:grpSp>
        <p:nvGrpSpPr>
          <p:cNvPr name="Group 48" id="48"/>
          <p:cNvGrpSpPr/>
          <p:nvPr/>
        </p:nvGrpSpPr>
        <p:grpSpPr>
          <a:xfrm rot="0">
            <a:off x="3771900" y="5006340"/>
            <a:ext cx="822960" cy="274320"/>
            <a:chOff x="0" y="0"/>
            <a:chExt cx="1097280" cy="365760"/>
          </a:xfrm>
        </p:grpSpPr>
        <p:sp>
          <p:nvSpPr>
            <p:cNvPr name="Freeform 49" id="49"/>
            <p:cNvSpPr/>
            <p:nvPr/>
          </p:nvSpPr>
          <p:spPr>
            <a:xfrm flipH="false" flipV="false" rot="0">
              <a:off x="0" y="0"/>
              <a:ext cx="1097280" cy="365760"/>
            </a:xfrm>
            <a:custGeom>
              <a:avLst/>
              <a:gdLst/>
              <a:ahLst/>
              <a:cxnLst/>
              <a:rect r="r" b="b" t="t" l="l"/>
              <a:pathLst>
                <a:path h="365760" w="1097280">
                  <a:moveTo>
                    <a:pt x="0" y="91440"/>
                  </a:moveTo>
                  <a:lnTo>
                    <a:pt x="914400" y="91440"/>
                  </a:lnTo>
                  <a:lnTo>
                    <a:pt x="914400" y="0"/>
                  </a:lnTo>
                  <a:lnTo>
                    <a:pt x="1097280" y="182880"/>
                  </a:lnTo>
                  <a:lnTo>
                    <a:pt x="914400" y="365760"/>
                  </a:lnTo>
                  <a:lnTo>
                    <a:pt x="914400" y="274320"/>
                  </a:lnTo>
                  <a:lnTo>
                    <a:pt x="0" y="274320"/>
                  </a:lnTo>
                  <a:close/>
                </a:path>
              </a:pathLst>
            </a:custGeom>
            <a:solidFill>
              <a:srgbClr val="6B7290"/>
            </a:solidFill>
          </p:spPr>
        </p:sp>
      </p:grpSp>
      <p:grpSp>
        <p:nvGrpSpPr>
          <p:cNvPr name="Group 50" id="50"/>
          <p:cNvGrpSpPr/>
          <p:nvPr/>
        </p:nvGrpSpPr>
        <p:grpSpPr>
          <a:xfrm rot="0">
            <a:off x="7543800" y="5006340"/>
            <a:ext cx="822960" cy="274320"/>
            <a:chOff x="0" y="0"/>
            <a:chExt cx="1097280" cy="365760"/>
          </a:xfrm>
        </p:grpSpPr>
        <p:sp>
          <p:nvSpPr>
            <p:cNvPr name="Freeform 51" id="51"/>
            <p:cNvSpPr/>
            <p:nvPr/>
          </p:nvSpPr>
          <p:spPr>
            <a:xfrm flipH="false" flipV="false" rot="0">
              <a:off x="0" y="0"/>
              <a:ext cx="1097280" cy="365760"/>
            </a:xfrm>
            <a:custGeom>
              <a:avLst/>
              <a:gdLst/>
              <a:ahLst/>
              <a:cxnLst/>
              <a:rect r="r" b="b" t="t" l="l"/>
              <a:pathLst>
                <a:path h="365760" w="1097280">
                  <a:moveTo>
                    <a:pt x="0" y="91440"/>
                  </a:moveTo>
                  <a:lnTo>
                    <a:pt x="914400" y="91440"/>
                  </a:lnTo>
                  <a:lnTo>
                    <a:pt x="914400" y="0"/>
                  </a:lnTo>
                  <a:lnTo>
                    <a:pt x="1097280" y="182880"/>
                  </a:lnTo>
                  <a:lnTo>
                    <a:pt x="914400" y="365760"/>
                  </a:lnTo>
                  <a:lnTo>
                    <a:pt x="914400" y="274320"/>
                  </a:lnTo>
                  <a:lnTo>
                    <a:pt x="0" y="274320"/>
                  </a:lnTo>
                  <a:close/>
                </a:path>
              </a:pathLst>
            </a:custGeom>
            <a:solidFill>
              <a:srgbClr val="6B7290"/>
            </a:solidFill>
          </p:spPr>
        </p:sp>
      </p:grpSp>
      <p:grpSp>
        <p:nvGrpSpPr>
          <p:cNvPr name="Group 52" id="52"/>
          <p:cNvGrpSpPr/>
          <p:nvPr/>
        </p:nvGrpSpPr>
        <p:grpSpPr>
          <a:xfrm rot="0">
            <a:off x="11315700" y="5006340"/>
            <a:ext cx="822960" cy="274320"/>
            <a:chOff x="0" y="0"/>
            <a:chExt cx="1097280" cy="365760"/>
          </a:xfrm>
        </p:grpSpPr>
        <p:sp>
          <p:nvSpPr>
            <p:cNvPr name="Freeform 53" id="53"/>
            <p:cNvSpPr/>
            <p:nvPr/>
          </p:nvSpPr>
          <p:spPr>
            <a:xfrm flipH="false" flipV="false" rot="0">
              <a:off x="0" y="0"/>
              <a:ext cx="1097280" cy="365760"/>
            </a:xfrm>
            <a:custGeom>
              <a:avLst/>
              <a:gdLst/>
              <a:ahLst/>
              <a:cxnLst/>
              <a:rect r="r" b="b" t="t" l="l"/>
              <a:pathLst>
                <a:path h="365760" w="1097280">
                  <a:moveTo>
                    <a:pt x="0" y="91440"/>
                  </a:moveTo>
                  <a:lnTo>
                    <a:pt x="914400" y="91440"/>
                  </a:lnTo>
                  <a:lnTo>
                    <a:pt x="914400" y="0"/>
                  </a:lnTo>
                  <a:lnTo>
                    <a:pt x="1097280" y="182880"/>
                  </a:lnTo>
                  <a:lnTo>
                    <a:pt x="914400" y="365760"/>
                  </a:lnTo>
                  <a:lnTo>
                    <a:pt x="914400" y="274320"/>
                  </a:lnTo>
                  <a:lnTo>
                    <a:pt x="0" y="274320"/>
                  </a:lnTo>
                  <a:close/>
                </a:path>
              </a:pathLst>
            </a:custGeom>
            <a:solidFill>
              <a:srgbClr val="6B7290"/>
            </a:solidFill>
          </p:spPr>
        </p:sp>
      </p:grpSp>
      <p:grpSp>
        <p:nvGrpSpPr>
          <p:cNvPr name="Group 54" id="54"/>
          <p:cNvGrpSpPr/>
          <p:nvPr/>
        </p:nvGrpSpPr>
        <p:grpSpPr>
          <a:xfrm rot="0">
            <a:off x="15087600" y="5006340"/>
            <a:ext cx="548640" cy="274320"/>
            <a:chOff x="0" y="0"/>
            <a:chExt cx="731520" cy="365760"/>
          </a:xfrm>
        </p:grpSpPr>
        <p:sp>
          <p:nvSpPr>
            <p:cNvPr name="Freeform 55" id="55"/>
            <p:cNvSpPr/>
            <p:nvPr/>
          </p:nvSpPr>
          <p:spPr>
            <a:xfrm flipH="false" flipV="false" rot="0">
              <a:off x="0" y="0"/>
              <a:ext cx="731520" cy="365760"/>
            </a:xfrm>
            <a:custGeom>
              <a:avLst/>
              <a:gdLst/>
              <a:ahLst/>
              <a:cxnLst/>
              <a:rect r="r" b="b" t="t" l="l"/>
              <a:pathLst>
                <a:path h="365760" w="731520">
                  <a:moveTo>
                    <a:pt x="0" y="91440"/>
                  </a:moveTo>
                  <a:lnTo>
                    <a:pt x="548640" y="91440"/>
                  </a:lnTo>
                  <a:lnTo>
                    <a:pt x="548640" y="0"/>
                  </a:lnTo>
                  <a:lnTo>
                    <a:pt x="731520" y="182880"/>
                  </a:lnTo>
                  <a:lnTo>
                    <a:pt x="548640" y="365760"/>
                  </a:lnTo>
                  <a:lnTo>
                    <a:pt x="548640" y="274320"/>
                  </a:lnTo>
                  <a:lnTo>
                    <a:pt x="0" y="274320"/>
                  </a:lnTo>
                  <a:close/>
                </a:path>
              </a:pathLst>
            </a:custGeom>
            <a:solidFill>
              <a:srgbClr val="6B7290"/>
            </a:solidFill>
          </p:spPr>
        </p:sp>
      </p:grpSp>
      <p:grpSp>
        <p:nvGrpSpPr>
          <p:cNvPr name="Group 56" id="56"/>
          <p:cNvGrpSpPr/>
          <p:nvPr/>
        </p:nvGrpSpPr>
        <p:grpSpPr>
          <a:xfrm rot="0">
            <a:off x="822960" y="6858000"/>
            <a:ext cx="5486400" cy="548640"/>
            <a:chOff x="0" y="0"/>
            <a:chExt cx="7315200" cy="731520"/>
          </a:xfrm>
        </p:grpSpPr>
        <p:sp>
          <p:nvSpPr>
            <p:cNvPr name="Freeform 57" id="57"/>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58" id="58"/>
            <p:cNvSpPr txBox="true"/>
            <p:nvPr/>
          </p:nvSpPr>
          <p:spPr>
            <a:xfrm>
              <a:off x="0" y="-57150"/>
              <a:ext cx="7315200" cy="788670"/>
            </a:xfrm>
            <a:prstGeom prst="rect">
              <a:avLst/>
            </a:prstGeom>
          </p:spPr>
          <p:txBody>
            <a:bodyPr anchor="ctr" rtlCol="false" tIns="0" lIns="0" bIns="0" rIns="0"/>
            <a:lstStyle/>
            <a:p>
              <a:pPr algn="l">
                <a:lnSpc>
                  <a:spcPts val="2700"/>
                </a:lnSpc>
              </a:pPr>
              <a:r>
                <a:rPr lang="en-US" sz="2250" b="true">
                  <a:solidFill>
                    <a:srgbClr val="1E2761"/>
                  </a:solidFill>
                  <a:latin typeface="Calibri (MS) Bold"/>
                  <a:ea typeface="Calibri (MS) Bold"/>
                  <a:cs typeface="Calibri (MS) Bold"/>
                  <a:sym typeface="Calibri (MS) Bold"/>
                </a:rPr>
                <a:t>Request Lifecycle</a:t>
              </a:r>
            </a:p>
          </p:txBody>
        </p:sp>
      </p:grpSp>
      <p:grpSp>
        <p:nvGrpSpPr>
          <p:cNvPr name="Group 59" id="59"/>
          <p:cNvGrpSpPr/>
          <p:nvPr/>
        </p:nvGrpSpPr>
        <p:grpSpPr>
          <a:xfrm rot="0">
            <a:off x="822960" y="7475220"/>
            <a:ext cx="16596360" cy="2331720"/>
            <a:chOff x="0" y="0"/>
            <a:chExt cx="22128480" cy="3108960"/>
          </a:xfrm>
        </p:grpSpPr>
        <p:sp>
          <p:nvSpPr>
            <p:cNvPr name="Freeform 60" id="60"/>
            <p:cNvSpPr/>
            <p:nvPr/>
          </p:nvSpPr>
          <p:spPr>
            <a:xfrm flipH="false" flipV="false" rot="0">
              <a:off x="0" y="0"/>
              <a:ext cx="22128480" cy="3108960"/>
            </a:xfrm>
            <a:custGeom>
              <a:avLst/>
              <a:gdLst/>
              <a:ahLst/>
              <a:cxnLst/>
              <a:rect r="r" b="b" t="t" l="l"/>
              <a:pathLst>
                <a:path h="3108960" w="22128480">
                  <a:moveTo>
                    <a:pt x="0" y="0"/>
                  </a:moveTo>
                  <a:lnTo>
                    <a:pt x="22128480" y="0"/>
                  </a:lnTo>
                  <a:lnTo>
                    <a:pt x="22128480" y="3108960"/>
                  </a:lnTo>
                  <a:lnTo>
                    <a:pt x="0" y="3108960"/>
                  </a:lnTo>
                  <a:close/>
                </a:path>
              </a:pathLst>
            </a:custGeom>
            <a:blipFill>
              <a:blip r:embed="rId3">
                <a:alphaModFix amt="0"/>
              </a:blip>
              <a:stretch>
                <a:fillRect l="0" t="-88687" r="0" b="-88687"/>
              </a:stretch>
            </a:blipFill>
          </p:spPr>
        </p:sp>
        <p:sp>
          <p:nvSpPr>
            <p:cNvPr name="TextBox 61" id="61"/>
            <p:cNvSpPr txBox="true"/>
            <p:nvPr/>
          </p:nvSpPr>
          <p:spPr>
            <a:xfrm>
              <a:off x="0" y="-66675"/>
              <a:ext cx="22128480" cy="3175635"/>
            </a:xfrm>
            <a:prstGeom prst="rect">
              <a:avLst/>
            </a:prstGeom>
          </p:spPr>
          <p:txBody>
            <a:bodyPr anchor="ctr" rtlCol="false" tIns="0" lIns="0" bIns="0" rIns="0"/>
            <a:lstStyle/>
            <a:p>
              <a:pPr algn="l">
                <a:lnSpc>
                  <a:spcPts val="2550"/>
                </a:lnSpc>
              </a:pPr>
              <a:r>
                <a:rPr lang="en-US" sz="1875">
                  <a:solidFill>
                    <a:srgbClr val="3A4066"/>
                  </a:solidFill>
                  <a:latin typeface="Calibri (MS)"/>
                  <a:ea typeface="Calibri (MS)"/>
                  <a:cs typeface="Calibri (MS)"/>
                  <a:sym typeface="Calibri (MS)"/>
                </a:rPr>
                <a:t>1.  Client sends an HTTP request (GET / POST / PUT / DELETE) to /leads</a:t>
              </a:r>
            </a:p>
            <a:p>
              <a:pPr algn="l">
                <a:lnSpc>
                  <a:spcPts val="2550"/>
                </a:lnSpc>
              </a:pPr>
              <a:r>
                <a:rPr lang="en-US" sz="1875">
                  <a:solidFill>
                    <a:srgbClr val="3A4066"/>
                  </a:solidFill>
                  <a:latin typeface="Calibri (MS)"/>
                  <a:ea typeface="Calibri (MS)"/>
                  <a:cs typeface="Calibri (MS)"/>
                  <a:sym typeface="Calibri (MS)"/>
                </a:rPr>
                <a:t>2.  FastAPI routes it to the matching function in module1_leads.py</a:t>
              </a:r>
            </a:p>
            <a:p>
              <a:pPr algn="l">
                <a:lnSpc>
                  <a:spcPts val="2550"/>
                </a:lnSpc>
              </a:pPr>
              <a:r>
                <a:rPr lang="en-US" sz="1875">
                  <a:solidFill>
                    <a:srgbClr val="3A4066"/>
                  </a:solidFill>
                  <a:latin typeface="Calibri (MS)"/>
                  <a:ea typeface="Calibri (MS)"/>
                  <a:cs typeface="Calibri (MS)"/>
                  <a:sym typeface="Calibri (MS)"/>
                </a:rPr>
                <a:t>3.  Pydantic schema validates the incoming payload</a:t>
              </a:r>
            </a:p>
            <a:p>
              <a:pPr algn="l">
                <a:lnSpc>
                  <a:spcPts val="2550"/>
                </a:lnSpc>
              </a:pPr>
              <a:r>
                <a:rPr lang="en-US" sz="1875">
                  <a:solidFill>
                    <a:srgbClr val="3A4066"/>
                  </a:solidFill>
                  <a:latin typeface="Calibri (MS)"/>
                  <a:ea typeface="Calibri (MS)"/>
                  <a:cs typeface="Calibri (MS)"/>
                  <a:sym typeface="Calibri (MS)"/>
                </a:rPr>
                <a:t>4.  SQLAlchemy ORM translates the operation into SQL against PostgreSQL</a:t>
              </a:r>
            </a:p>
            <a:p>
              <a:pPr algn="l">
                <a:lnSpc>
                  <a:spcPts val="2550"/>
                </a:lnSpc>
              </a:pPr>
              <a:r>
                <a:rPr lang="en-US" sz="1875">
                  <a:solidFill>
                    <a:srgbClr val="3A4066"/>
                  </a:solidFill>
                  <a:latin typeface="Calibri (MS)"/>
                  <a:ea typeface="Calibri (MS)"/>
                  <a:cs typeface="Calibri (MS)"/>
                  <a:sym typeface="Calibri (MS)"/>
                </a:rPr>
                <a:t>5.  Result flows back up as a validated JSON response</a:t>
              </a:r>
            </a:p>
          </p:txBody>
        </p:sp>
      </p:grpSp>
      <p:grpSp>
        <p:nvGrpSpPr>
          <p:cNvPr name="Group 62" id="62"/>
          <p:cNvGrpSpPr/>
          <p:nvPr/>
        </p:nvGrpSpPr>
        <p:grpSpPr>
          <a:xfrm rot="0">
            <a:off x="685800" y="9710928"/>
            <a:ext cx="9601200" cy="411480"/>
            <a:chOff x="0" y="0"/>
            <a:chExt cx="12801600" cy="548640"/>
          </a:xfrm>
        </p:grpSpPr>
        <p:sp>
          <p:nvSpPr>
            <p:cNvPr name="Freeform 63" id="63"/>
            <p:cNvSpPr/>
            <p:nvPr/>
          </p:nvSpPr>
          <p:spPr>
            <a:xfrm flipH="false" flipV="false" rot="0">
              <a:off x="0" y="0"/>
              <a:ext cx="12801600" cy="548640"/>
            </a:xfrm>
            <a:custGeom>
              <a:avLst/>
              <a:gdLst/>
              <a:ahLst/>
              <a:cxnLst/>
              <a:rect r="r" b="b" t="t" l="l"/>
              <a:pathLst>
                <a:path h="548640" w="12801600">
                  <a:moveTo>
                    <a:pt x="0" y="0"/>
                  </a:moveTo>
                  <a:lnTo>
                    <a:pt x="12801600" y="0"/>
                  </a:lnTo>
                  <a:lnTo>
                    <a:pt x="12801600" y="548640"/>
                  </a:lnTo>
                  <a:lnTo>
                    <a:pt x="0" y="548640"/>
                  </a:lnTo>
                  <a:close/>
                </a:path>
              </a:pathLst>
            </a:custGeom>
            <a:blipFill>
              <a:blip r:embed="rId3">
                <a:alphaModFix amt="0"/>
              </a:blip>
              <a:stretch>
                <a:fillRect l="0" t="-404650" r="0" b="-404650"/>
              </a:stretch>
            </a:blipFill>
          </p:spPr>
        </p:sp>
        <p:sp>
          <p:nvSpPr>
            <p:cNvPr name="TextBox 64" id="64"/>
            <p:cNvSpPr txBox="true"/>
            <p:nvPr/>
          </p:nvSpPr>
          <p:spPr>
            <a:xfrm>
              <a:off x="0" y="-38100"/>
              <a:ext cx="12801600" cy="586740"/>
            </a:xfrm>
            <a:prstGeom prst="rect">
              <a:avLst/>
            </a:prstGeom>
          </p:spPr>
          <p:txBody>
            <a:bodyPr anchor="ctr" rtlCol="false" tIns="0" lIns="0" bIns="0" rIns="0"/>
            <a:lstStyle/>
            <a:p>
              <a:pPr algn="l">
                <a:lnSpc>
                  <a:spcPts val="1800"/>
                </a:lnSpc>
              </a:pPr>
              <a:r>
                <a:rPr lang="en-US" sz="1500">
                  <a:solidFill>
                    <a:srgbClr val="6B7290"/>
                  </a:solidFill>
                  <a:latin typeface="Calibri (MS)"/>
                  <a:ea typeface="Calibri (MS)"/>
                  <a:cs typeface="Calibri (MS)"/>
                  <a:sym typeface="Calibri (MS)"/>
                </a:rPr>
                <a:t>SalesGenie  |  Module 1 – Prospect CRUD API</a:t>
              </a:r>
            </a:p>
          </p:txBody>
        </p:sp>
      </p:grpSp>
      <p:grpSp>
        <p:nvGrpSpPr>
          <p:cNvPr name="Group 65" id="65"/>
          <p:cNvGrpSpPr/>
          <p:nvPr/>
        </p:nvGrpSpPr>
        <p:grpSpPr>
          <a:xfrm rot="0">
            <a:off x="16911828" y="9710928"/>
            <a:ext cx="685800" cy="411480"/>
            <a:chOff x="0" y="0"/>
            <a:chExt cx="914400" cy="548640"/>
          </a:xfrm>
        </p:grpSpPr>
        <p:sp>
          <p:nvSpPr>
            <p:cNvPr name="Freeform 66" id="6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67" id="67"/>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90"/>
                  </a:solidFill>
                  <a:latin typeface="Calibri (MS)"/>
                  <a:ea typeface="Calibri (MS)"/>
                  <a:cs typeface="Calibri (MS)"/>
                  <a:sym typeface="Calibri (MS)"/>
                </a:rPr>
                <a:t>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15773400" cy="960120"/>
            <a:chOff x="0" y="0"/>
            <a:chExt cx="21031200" cy="1280160"/>
          </a:xfrm>
        </p:grpSpPr>
        <p:sp>
          <p:nvSpPr>
            <p:cNvPr name="Freeform 3" id="3"/>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4" id="4"/>
            <p:cNvSpPr txBox="true"/>
            <p:nvPr/>
          </p:nvSpPr>
          <p:spPr>
            <a:xfrm>
              <a:off x="0" y="-19050"/>
              <a:ext cx="21031200" cy="1299210"/>
            </a:xfrm>
            <a:prstGeom prst="rect">
              <a:avLst/>
            </a:prstGeom>
          </p:spPr>
          <p:txBody>
            <a:bodyPr anchor="ctr" rtlCol="false" tIns="0" lIns="0" bIns="0" rIns="0"/>
            <a:lstStyle/>
            <a:p>
              <a:pPr algn="l">
                <a:lnSpc>
                  <a:spcPts val="5400"/>
                </a:lnSpc>
              </a:pPr>
              <a:r>
                <a:rPr lang="en-US" sz="4500" b="true">
                  <a:solidFill>
                    <a:srgbClr val="1E2761"/>
                  </a:solidFill>
                  <a:latin typeface="Cambria Bold"/>
                  <a:ea typeface="Cambria Bold"/>
                  <a:cs typeface="Cambria Bold"/>
                  <a:sym typeface="Cambria Bold"/>
                </a:rPr>
                <a:t>CRUD APIs</a:t>
              </a:r>
            </a:p>
          </p:txBody>
        </p:sp>
      </p:grpSp>
      <p:grpSp>
        <p:nvGrpSpPr>
          <p:cNvPr name="Group 5" id="5"/>
          <p:cNvGrpSpPr/>
          <p:nvPr/>
        </p:nvGrpSpPr>
        <p:grpSpPr>
          <a:xfrm rot="0">
            <a:off x="822960" y="1371600"/>
            <a:ext cx="15773400" cy="548640"/>
            <a:chOff x="0" y="0"/>
            <a:chExt cx="21031200" cy="731520"/>
          </a:xfrm>
        </p:grpSpPr>
        <p:sp>
          <p:nvSpPr>
            <p:cNvPr name="Freeform 6" id="6"/>
            <p:cNvSpPr/>
            <p:nvPr/>
          </p:nvSpPr>
          <p:spPr>
            <a:xfrm flipH="false" flipV="false" rot="0">
              <a:off x="0" y="0"/>
              <a:ext cx="21031200" cy="731520"/>
            </a:xfrm>
            <a:custGeom>
              <a:avLst/>
              <a:gdLst/>
              <a:ahLst/>
              <a:cxnLst/>
              <a:rect r="r" b="b" t="t" l="l"/>
              <a:pathLst>
                <a:path h="731520" w="21031200">
                  <a:moveTo>
                    <a:pt x="0" y="0"/>
                  </a:moveTo>
                  <a:lnTo>
                    <a:pt x="21031200" y="0"/>
                  </a:lnTo>
                  <a:lnTo>
                    <a:pt x="21031200" y="731520"/>
                  </a:lnTo>
                  <a:lnTo>
                    <a:pt x="0" y="731520"/>
                  </a:lnTo>
                  <a:close/>
                </a:path>
              </a:pathLst>
            </a:custGeom>
            <a:blipFill>
              <a:blip r:embed="rId3">
                <a:alphaModFix amt="0"/>
              </a:blip>
              <a:stretch>
                <a:fillRect l="0" t="-510194" r="0" b="-510194"/>
              </a:stretch>
            </a:blipFill>
          </p:spPr>
        </p:sp>
        <p:sp>
          <p:nvSpPr>
            <p:cNvPr name="TextBox 7" id="7"/>
            <p:cNvSpPr txBox="true"/>
            <p:nvPr/>
          </p:nvSpPr>
          <p:spPr>
            <a:xfrm>
              <a:off x="0" y="-47625"/>
              <a:ext cx="21031200" cy="779145"/>
            </a:xfrm>
            <a:prstGeom prst="rect">
              <a:avLst/>
            </a:prstGeom>
          </p:spPr>
          <p:txBody>
            <a:bodyPr anchor="ctr" rtlCol="false" tIns="0" lIns="0" bIns="0" rIns="0"/>
            <a:lstStyle/>
            <a:p>
              <a:pPr algn="l">
                <a:lnSpc>
                  <a:spcPts val="2520"/>
                </a:lnSpc>
              </a:pPr>
              <a:r>
                <a:rPr lang="en-US" sz="2100">
                  <a:solidFill>
                    <a:srgbClr val="6B7290"/>
                  </a:solidFill>
                  <a:latin typeface="Calibri (MS)"/>
                  <a:ea typeface="Calibri (MS)"/>
                  <a:cs typeface="Calibri (MS)"/>
                  <a:sym typeface="Calibri (MS)"/>
                </a:rPr>
                <a:t>Five endpoints exposed under /leads</a:t>
              </a:r>
            </a:p>
          </p:txBody>
        </p:sp>
      </p:grpSp>
      <p:grpSp>
        <p:nvGrpSpPr>
          <p:cNvPr name="Group 8" id="8"/>
          <p:cNvGrpSpPr/>
          <p:nvPr/>
        </p:nvGrpSpPr>
        <p:grpSpPr>
          <a:xfrm rot="0">
            <a:off x="822960" y="2537460"/>
            <a:ext cx="16596360" cy="1069848"/>
            <a:chOff x="0" y="0"/>
            <a:chExt cx="22128480" cy="1426464"/>
          </a:xfrm>
        </p:grpSpPr>
        <p:sp>
          <p:nvSpPr>
            <p:cNvPr name="Freeform 9" id="9"/>
            <p:cNvSpPr/>
            <p:nvPr/>
          </p:nvSpPr>
          <p:spPr>
            <a:xfrm flipH="false" flipV="false" rot="0">
              <a:off x="0" y="0"/>
              <a:ext cx="22128480" cy="1426464"/>
            </a:xfrm>
            <a:custGeom>
              <a:avLst/>
              <a:gdLst/>
              <a:ahLst/>
              <a:cxnLst/>
              <a:rect r="r" b="b" t="t" l="l"/>
              <a:pathLst>
                <a:path h="1426464" w="22128480">
                  <a:moveTo>
                    <a:pt x="0" y="146304"/>
                  </a:moveTo>
                  <a:cubicBezTo>
                    <a:pt x="0" y="65532"/>
                    <a:pt x="65532" y="0"/>
                    <a:pt x="146304" y="0"/>
                  </a:cubicBezTo>
                  <a:lnTo>
                    <a:pt x="21982176" y="0"/>
                  </a:lnTo>
                  <a:cubicBezTo>
                    <a:pt x="22062948" y="0"/>
                    <a:pt x="22128480" y="65532"/>
                    <a:pt x="22128480" y="146304"/>
                  </a:cubicBezTo>
                  <a:lnTo>
                    <a:pt x="22128480" y="1280160"/>
                  </a:lnTo>
                  <a:cubicBezTo>
                    <a:pt x="22128480" y="1360932"/>
                    <a:pt x="22062948" y="1426464"/>
                    <a:pt x="21982176" y="1426464"/>
                  </a:cubicBezTo>
                  <a:lnTo>
                    <a:pt x="146304" y="1426464"/>
                  </a:lnTo>
                  <a:cubicBezTo>
                    <a:pt x="65532" y="1426464"/>
                    <a:pt x="0" y="1360932"/>
                    <a:pt x="0" y="1280160"/>
                  </a:cubicBezTo>
                  <a:close/>
                </a:path>
              </a:pathLst>
            </a:custGeom>
            <a:solidFill>
              <a:srgbClr val="F4F6FC"/>
            </a:solidFill>
          </p:spPr>
        </p:sp>
      </p:grpSp>
      <p:grpSp>
        <p:nvGrpSpPr>
          <p:cNvPr name="Group 10" id="10"/>
          <p:cNvGrpSpPr/>
          <p:nvPr/>
        </p:nvGrpSpPr>
        <p:grpSpPr>
          <a:xfrm rot="0">
            <a:off x="1097280" y="2715768"/>
            <a:ext cx="1577340" cy="685800"/>
            <a:chOff x="0" y="0"/>
            <a:chExt cx="2103120" cy="914400"/>
          </a:xfrm>
        </p:grpSpPr>
        <p:sp>
          <p:nvSpPr>
            <p:cNvPr name="Freeform 11" id="11"/>
            <p:cNvSpPr/>
            <p:nvPr/>
          </p:nvSpPr>
          <p:spPr>
            <a:xfrm flipH="false" flipV="false" rot="0">
              <a:off x="0" y="0"/>
              <a:ext cx="2103120" cy="914400"/>
            </a:xfrm>
            <a:custGeom>
              <a:avLst/>
              <a:gdLst/>
              <a:ahLst/>
              <a:cxnLst/>
              <a:rect r="r" b="b" t="t" l="l"/>
              <a:pathLst>
                <a:path h="914400" w="2103120">
                  <a:moveTo>
                    <a:pt x="0" y="109728"/>
                  </a:moveTo>
                  <a:cubicBezTo>
                    <a:pt x="0" y="49149"/>
                    <a:pt x="49149" y="0"/>
                    <a:pt x="109728" y="0"/>
                  </a:cubicBezTo>
                  <a:lnTo>
                    <a:pt x="1993392" y="0"/>
                  </a:lnTo>
                  <a:cubicBezTo>
                    <a:pt x="2053971" y="0"/>
                    <a:pt x="2103120" y="49149"/>
                    <a:pt x="2103120" y="109728"/>
                  </a:cubicBezTo>
                  <a:lnTo>
                    <a:pt x="2103120" y="804672"/>
                  </a:lnTo>
                  <a:cubicBezTo>
                    <a:pt x="2103120" y="865251"/>
                    <a:pt x="2053971" y="914400"/>
                    <a:pt x="1993392" y="914400"/>
                  </a:cubicBezTo>
                  <a:lnTo>
                    <a:pt x="109728" y="914400"/>
                  </a:lnTo>
                  <a:cubicBezTo>
                    <a:pt x="49149" y="914400"/>
                    <a:pt x="0" y="865251"/>
                    <a:pt x="0" y="804672"/>
                  </a:cubicBezTo>
                  <a:close/>
                </a:path>
              </a:pathLst>
            </a:custGeom>
            <a:solidFill>
              <a:srgbClr val="1E2761"/>
            </a:solidFill>
          </p:spPr>
        </p:sp>
      </p:grpSp>
      <p:grpSp>
        <p:nvGrpSpPr>
          <p:cNvPr name="Group 12" id="12"/>
          <p:cNvGrpSpPr/>
          <p:nvPr/>
        </p:nvGrpSpPr>
        <p:grpSpPr>
          <a:xfrm rot="0">
            <a:off x="1097280" y="2715768"/>
            <a:ext cx="1577340" cy="685800"/>
            <a:chOff x="0" y="0"/>
            <a:chExt cx="2103120" cy="914400"/>
          </a:xfrm>
        </p:grpSpPr>
        <p:sp>
          <p:nvSpPr>
            <p:cNvPr name="Freeform 13" id="13"/>
            <p:cNvSpPr/>
            <p:nvPr/>
          </p:nvSpPr>
          <p:spPr>
            <a:xfrm flipH="false" flipV="false" rot="0">
              <a:off x="0" y="0"/>
              <a:ext cx="2103120" cy="914400"/>
            </a:xfrm>
            <a:custGeom>
              <a:avLst/>
              <a:gdLst/>
              <a:ahLst/>
              <a:cxnLst/>
              <a:rect r="r" b="b" t="t" l="l"/>
              <a:pathLst>
                <a:path h="914400" w="2103120">
                  <a:moveTo>
                    <a:pt x="0" y="0"/>
                  </a:moveTo>
                  <a:lnTo>
                    <a:pt x="2103120" y="0"/>
                  </a:lnTo>
                  <a:lnTo>
                    <a:pt x="2103120" y="914400"/>
                  </a:lnTo>
                  <a:lnTo>
                    <a:pt x="0" y="914400"/>
                  </a:lnTo>
                  <a:close/>
                </a:path>
              </a:pathLst>
            </a:custGeom>
            <a:blipFill>
              <a:blip r:embed="rId3">
                <a:alphaModFix amt="0"/>
              </a:blip>
              <a:stretch>
                <a:fillRect l="-5784" t="0" r="-5784" b="0"/>
              </a:stretch>
            </a:blipFill>
          </p:spPr>
        </p:sp>
        <p:sp>
          <p:nvSpPr>
            <p:cNvPr name="TextBox 14" id="14"/>
            <p:cNvSpPr txBox="true"/>
            <p:nvPr/>
          </p:nvSpPr>
          <p:spPr>
            <a:xfrm>
              <a:off x="0" y="-38100"/>
              <a:ext cx="2103120" cy="952500"/>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POST</a:t>
              </a:r>
            </a:p>
          </p:txBody>
        </p:sp>
      </p:grpSp>
      <p:grpSp>
        <p:nvGrpSpPr>
          <p:cNvPr name="Group 15" id="15"/>
          <p:cNvGrpSpPr/>
          <p:nvPr/>
        </p:nvGrpSpPr>
        <p:grpSpPr>
          <a:xfrm rot="0">
            <a:off x="2948940" y="2674620"/>
            <a:ext cx="3223260" cy="754380"/>
            <a:chOff x="0" y="0"/>
            <a:chExt cx="4297680" cy="1005840"/>
          </a:xfrm>
        </p:grpSpPr>
        <p:sp>
          <p:nvSpPr>
            <p:cNvPr name="Freeform 16" id="16"/>
            <p:cNvSpPr/>
            <p:nvPr/>
          </p:nvSpPr>
          <p:spPr>
            <a:xfrm flipH="false" flipV="false" rot="0">
              <a:off x="0" y="0"/>
              <a:ext cx="4297680" cy="1005840"/>
            </a:xfrm>
            <a:custGeom>
              <a:avLst/>
              <a:gdLst/>
              <a:ahLst/>
              <a:cxnLst/>
              <a:rect r="r" b="b" t="t" l="l"/>
              <a:pathLst>
                <a:path h="1005840" w="4297680">
                  <a:moveTo>
                    <a:pt x="0" y="0"/>
                  </a:moveTo>
                  <a:lnTo>
                    <a:pt x="4297680" y="0"/>
                  </a:lnTo>
                  <a:lnTo>
                    <a:pt x="4297680" y="1005840"/>
                  </a:lnTo>
                  <a:lnTo>
                    <a:pt x="0" y="1005840"/>
                  </a:lnTo>
                  <a:close/>
                </a:path>
              </a:pathLst>
            </a:custGeom>
            <a:blipFill>
              <a:blip r:embed="rId3">
                <a:alphaModFix amt="0"/>
              </a:blip>
              <a:stretch>
                <a:fillRect l="0" t="-33254" r="0" b="-33254"/>
              </a:stretch>
            </a:blipFill>
          </p:spPr>
        </p:sp>
        <p:sp>
          <p:nvSpPr>
            <p:cNvPr name="TextBox 17" id="17"/>
            <p:cNvSpPr txBox="true"/>
            <p:nvPr/>
          </p:nvSpPr>
          <p:spPr>
            <a:xfrm>
              <a:off x="0" y="-9525"/>
              <a:ext cx="4297680" cy="1015365"/>
            </a:xfrm>
            <a:prstGeom prst="rect">
              <a:avLst/>
            </a:prstGeom>
          </p:spPr>
          <p:txBody>
            <a:bodyPr anchor="ctr" rtlCol="false" tIns="0" lIns="0" bIns="0" rIns="0"/>
            <a:lstStyle/>
            <a:p>
              <a:pPr algn="l">
                <a:lnSpc>
                  <a:spcPts val="2160"/>
                </a:lnSpc>
              </a:pPr>
              <a:r>
                <a:rPr lang="en-US" sz="1800">
                  <a:solidFill>
                    <a:srgbClr val="1E2761"/>
                  </a:solidFill>
                  <a:latin typeface="Courier New"/>
                  <a:ea typeface="Courier New"/>
                  <a:cs typeface="Courier New"/>
                  <a:sym typeface="Courier New"/>
                </a:rPr>
                <a:t>/leads/</a:t>
              </a:r>
            </a:p>
          </p:txBody>
        </p:sp>
      </p:grpSp>
      <p:grpSp>
        <p:nvGrpSpPr>
          <p:cNvPr name="Group 18" id="18"/>
          <p:cNvGrpSpPr/>
          <p:nvPr/>
        </p:nvGrpSpPr>
        <p:grpSpPr>
          <a:xfrm rot="0">
            <a:off x="6309360" y="2674620"/>
            <a:ext cx="3840480" cy="754380"/>
            <a:chOff x="0" y="0"/>
            <a:chExt cx="5120640" cy="1005840"/>
          </a:xfrm>
        </p:grpSpPr>
        <p:sp>
          <p:nvSpPr>
            <p:cNvPr name="Freeform 19" id="19"/>
            <p:cNvSpPr/>
            <p:nvPr/>
          </p:nvSpPr>
          <p:spPr>
            <a:xfrm flipH="false" flipV="false" rot="0">
              <a:off x="0" y="0"/>
              <a:ext cx="5120640" cy="1005840"/>
            </a:xfrm>
            <a:custGeom>
              <a:avLst/>
              <a:gdLst/>
              <a:ahLst/>
              <a:cxnLst/>
              <a:rect r="r" b="b" t="t" l="l"/>
              <a:pathLst>
                <a:path h="1005840" w="5120640">
                  <a:moveTo>
                    <a:pt x="0" y="0"/>
                  </a:moveTo>
                  <a:lnTo>
                    <a:pt x="5120640" y="0"/>
                  </a:lnTo>
                  <a:lnTo>
                    <a:pt x="5120640" y="1005840"/>
                  </a:lnTo>
                  <a:lnTo>
                    <a:pt x="0" y="1005840"/>
                  </a:lnTo>
                  <a:close/>
                </a:path>
              </a:pathLst>
            </a:custGeom>
            <a:blipFill>
              <a:blip r:embed="rId3">
                <a:alphaModFix amt="0"/>
              </a:blip>
              <a:stretch>
                <a:fillRect l="0" t="-49196" r="0" b="-49196"/>
              </a:stretch>
            </a:blipFill>
          </p:spPr>
        </p:sp>
        <p:sp>
          <p:nvSpPr>
            <p:cNvPr name="TextBox 20" id="20"/>
            <p:cNvSpPr txBox="true"/>
            <p:nvPr/>
          </p:nvSpPr>
          <p:spPr>
            <a:xfrm>
              <a:off x="0" y="-47625"/>
              <a:ext cx="5120640" cy="1053465"/>
            </a:xfrm>
            <a:prstGeom prst="rect">
              <a:avLst/>
            </a:prstGeom>
          </p:spPr>
          <p:txBody>
            <a:bodyPr anchor="ctr" rtlCol="false" tIns="0" lIns="0" bIns="0" rIns="0"/>
            <a:lstStyle/>
            <a:p>
              <a:pPr algn="l">
                <a:lnSpc>
                  <a:spcPts val="2340"/>
                </a:lnSpc>
              </a:pPr>
              <a:r>
                <a:rPr lang="en-US" sz="1950" b="true">
                  <a:solidFill>
                    <a:srgbClr val="1E2761"/>
                  </a:solidFill>
                  <a:latin typeface="Calibri (MS) Bold"/>
                  <a:ea typeface="Calibri (MS) Bold"/>
                  <a:cs typeface="Calibri (MS) Bold"/>
                  <a:sym typeface="Calibri (MS) Bold"/>
                </a:rPr>
                <a:t>Create Prospect</a:t>
              </a:r>
            </a:p>
          </p:txBody>
        </p:sp>
      </p:grpSp>
      <p:grpSp>
        <p:nvGrpSpPr>
          <p:cNvPr name="Group 21" id="21"/>
          <p:cNvGrpSpPr/>
          <p:nvPr/>
        </p:nvGrpSpPr>
        <p:grpSpPr>
          <a:xfrm rot="0">
            <a:off x="10287000" y="2674620"/>
            <a:ext cx="6858000" cy="754380"/>
            <a:chOff x="0" y="0"/>
            <a:chExt cx="9144000" cy="1005840"/>
          </a:xfrm>
        </p:grpSpPr>
        <p:sp>
          <p:nvSpPr>
            <p:cNvPr name="Freeform 22" id="22"/>
            <p:cNvSpPr/>
            <p:nvPr/>
          </p:nvSpPr>
          <p:spPr>
            <a:xfrm flipH="false" flipV="false" rot="0">
              <a:off x="0" y="0"/>
              <a:ext cx="9144000" cy="1005840"/>
            </a:xfrm>
            <a:custGeom>
              <a:avLst/>
              <a:gdLst/>
              <a:ahLst/>
              <a:cxnLst/>
              <a:rect r="r" b="b" t="t" l="l"/>
              <a:pathLst>
                <a:path h="1005840" w="9144000">
                  <a:moveTo>
                    <a:pt x="0" y="0"/>
                  </a:moveTo>
                  <a:lnTo>
                    <a:pt x="9144000" y="0"/>
                  </a:lnTo>
                  <a:lnTo>
                    <a:pt x="9144000" y="1005840"/>
                  </a:lnTo>
                  <a:lnTo>
                    <a:pt x="0" y="1005840"/>
                  </a:lnTo>
                  <a:close/>
                </a:path>
              </a:pathLst>
            </a:custGeom>
            <a:blipFill>
              <a:blip r:embed="rId3">
                <a:alphaModFix amt="0"/>
              </a:blip>
              <a:stretch>
                <a:fillRect l="0" t="-127136" r="0" b="-127136"/>
              </a:stretch>
            </a:blipFill>
          </p:spPr>
        </p:sp>
        <p:sp>
          <p:nvSpPr>
            <p:cNvPr name="TextBox 23" id="23"/>
            <p:cNvSpPr txBox="true"/>
            <p:nvPr/>
          </p:nvSpPr>
          <p:spPr>
            <a:xfrm>
              <a:off x="0" y="-38100"/>
              <a:ext cx="9144000" cy="1043940"/>
            </a:xfrm>
            <a:prstGeom prst="rect">
              <a:avLst/>
            </a:prstGeom>
          </p:spPr>
          <p:txBody>
            <a:bodyPr anchor="ctr" rtlCol="false" tIns="0" lIns="0" bIns="0" rIns="0"/>
            <a:lstStyle/>
            <a:p>
              <a:pPr algn="l">
                <a:lnSpc>
                  <a:spcPts val="2070"/>
                </a:lnSpc>
              </a:pPr>
              <a:r>
                <a:rPr lang="en-US" sz="1725">
                  <a:solidFill>
                    <a:srgbClr val="6B7290"/>
                  </a:solidFill>
                  <a:latin typeface="Calibri (MS)"/>
                  <a:ea typeface="Calibri (MS)"/>
                  <a:cs typeface="Calibri (MS)"/>
                  <a:sym typeface="Calibri (MS)"/>
                </a:rPr>
                <a:t>Add a new lead; rejects duplicate emails</a:t>
              </a:r>
            </a:p>
          </p:txBody>
        </p:sp>
      </p:grpSp>
      <p:grpSp>
        <p:nvGrpSpPr>
          <p:cNvPr name="Group 24" id="24"/>
          <p:cNvGrpSpPr/>
          <p:nvPr/>
        </p:nvGrpSpPr>
        <p:grpSpPr>
          <a:xfrm rot="0">
            <a:off x="822960" y="3799332"/>
            <a:ext cx="16596360" cy="1069848"/>
            <a:chOff x="0" y="0"/>
            <a:chExt cx="22128480" cy="1426464"/>
          </a:xfrm>
        </p:grpSpPr>
        <p:sp>
          <p:nvSpPr>
            <p:cNvPr name="Freeform 25" id="25"/>
            <p:cNvSpPr/>
            <p:nvPr/>
          </p:nvSpPr>
          <p:spPr>
            <a:xfrm flipH="false" flipV="false" rot="0">
              <a:off x="0" y="0"/>
              <a:ext cx="22128480" cy="1426464"/>
            </a:xfrm>
            <a:custGeom>
              <a:avLst/>
              <a:gdLst/>
              <a:ahLst/>
              <a:cxnLst/>
              <a:rect r="r" b="b" t="t" l="l"/>
              <a:pathLst>
                <a:path h="1426464" w="22128480">
                  <a:moveTo>
                    <a:pt x="0" y="146304"/>
                  </a:moveTo>
                  <a:cubicBezTo>
                    <a:pt x="0" y="65532"/>
                    <a:pt x="65532" y="0"/>
                    <a:pt x="146304" y="0"/>
                  </a:cubicBezTo>
                  <a:lnTo>
                    <a:pt x="21982176" y="0"/>
                  </a:lnTo>
                  <a:cubicBezTo>
                    <a:pt x="22062948" y="0"/>
                    <a:pt x="22128480" y="65532"/>
                    <a:pt x="22128480" y="146304"/>
                  </a:cubicBezTo>
                  <a:lnTo>
                    <a:pt x="22128480" y="1280160"/>
                  </a:lnTo>
                  <a:cubicBezTo>
                    <a:pt x="22128480" y="1360932"/>
                    <a:pt x="22062948" y="1426464"/>
                    <a:pt x="21982176" y="1426464"/>
                  </a:cubicBezTo>
                  <a:lnTo>
                    <a:pt x="146304" y="1426464"/>
                  </a:lnTo>
                  <a:cubicBezTo>
                    <a:pt x="65532" y="1426464"/>
                    <a:pt x="0" y="1360932"/>
                    <a:pt x="0" y="1280160"/>
                  </a:cubicBezTo>
                  <a:close/>
                </a:path>
              </a:pathLst>
            </a:custGeom>
            <a:solidFill>
              <a:srgbClr val="F4F6FC"/>
            </a:solidFill>
          </p:spPr>
        </p:sp>
      </p:grpSp>
      <p:grpSp>
        <p:nvGrpSpPr>
          <p:cNvPr name="Group 26" id="26"/>
          <p:cNvGrpSpPr/>
          <p:nvPr/>
        </p:nvGrpSpPr>
        <p:grpSpPr>
          <a:xfrm rot="0">
            <a:off x="1097280" y="3977640"/>
            <a:ext cx="1577340" cy="685800"/>
            <a:chOff x="0" y="0"/>
            <a:chExt cx="2103120" cy="914400"/>
          </a:xfrm>
        </p:grpSpPr>
        <p:sp>
          <p:nvSpPr>
            <p:cNvPr name="Freeform 27" id="27"/>
            <p:cNvSpPr/>
            <p:nvPr/>
          </p:nvSpPr>
          <p:spPr>
            <a:xfrm flipH="false" flipV="false" rot="0">
              <a:off x="0" y="0"/>
              <a:ext cx="2103120" cy="914400"/>
            </a:xfrm>
            <a:custGeom>
              <a:avLst/>
              <a:gdLst/>
              <a:ahLst/>
              <a:cxnLst/>
              <a:rect r="r" b="b" t="t" l="l"/>
              <a:pathLst>
                <a:path h="914400" w="2103120">
                  <a:moveTo>
                    <a:pt x="0" y="109728"/>
                  </a:moveTo>
                  <a:cubicBezTo>
                    <a:pt x="0" y="49149"/>
                    <a:pt x="49149" y="0"/>
                    <a:pt x="109728" y="0"/>
                  </a:cubicBezTo>
                  <a:lnTo>
                    <a:pt x="1993392" y="0"/>
                  </a:lnTo>
                  <a:cubicBezTo>
                    <a:pt x="2053971" y="0"/>
                    <a:pt x="2103120" y="49149"/>
                    <a:pt x="2103120" y="109728"/>
                  </a:cubicBezTo>
                  <a:lnTo>
                    <a:pt x="2103120" y="804672"/>
                  </a:lnTo>
                  <a:cubicBezTo>
                    <a:pt x="2103120" y="865251"/>
                    <a:pt x="2053971" y="914400"/>
                    <a:pt x="1993392" y="914400"/>
                  </a:cubicBezTo>
                  <a:lnTo>
                    <a:pt x="109728" y="914400"/>
                  </a:lnTo>
                  <a:cubicBezTo>
                    <a:pt x="49149" y="914400"/>
                    <a:pt x="0" y="865251"/>
                    <a:pt x="0" y="804672"/>
                  </a:cubicBezTo>
                  <a:close/>
                </a:path>
              </a:pathLst>
            </a:custGeom>
            <a:solidFill>
              <a:srgbClr val="3D5AFE"/>
            </a:solidFill>
          </p:spPr>
        </p:sp>
      </p:grpSp>
      <p:grpSp>
        <p:nvGrpSpPr>
          <p:cNvPr name="Group 28" id="28"/>
          <p:cNvGrpSpPr/>
          <p:nvPr/>
        </p:nvGrpSpPr>
        <p:grpSpPr>
          <a:xfrm rot="0">
            <a:off x="1097280" y="3977640"/>
            <a:ext cx="1577340" cy="685800"/>
            <a:chOff x="0" y="0"/>
            <a:chExt cx="2103120" cy="914400"/>
          </a:xfrm>
        </p:grpSpPr>
        <p:sp>
          <p:nvSpPr>
            <p:cNvPr name="Freeform 29" id="29"/>
            <p:cNvSpPr/>
            <p:nvPr/>
          </p:nvSpPr>
          <p:spPr>
            <a:xfrm flipH="false" flipV="false" rot="0">
              <a:off x="0" y="0"/>
              <a:ext cx="2103120" cy="914400"/>
            </a:xfrm>
            <a:custGeom>
              <a:avLst/>
              <a:gdLst/>
              <a:ahLst/>
              <a:cxnLst/>
              <a:rect r="r" b="b" t="t" l="l"/>
              <a:pathLst>
                <a:path h="914400" w="2103120">
                  <a:moveTo>
                    <a:pt x="0" y="0"/>
                  </a:moveTo>
                  <a:lnTo>
                    <a:pt x="2103120" y="0"/>
                  </a:lnTo>
                  <a:lnTo>
                    <a:pt x="2103120" y="914400"/>
                  </a:lnTo>
                  <a:lnTo>
                    <a:pt x="0" y="914400"/>
                  </a:lnTo>
                  <a:close/>
                </a:path>
              </a:pathLst>
            </a:custGeom>
            <a:blipFill>
              <a:blip r:embed="rId3">
                <a:alphaModFix amt="0"/>
              </a:blip>
              <a:stretch>
                <a:fillRect l="-5784" t="0" r="-5784" b="0"/>
              </a:stretch>
            </a:blipFill>
          </p:spPr>
        </p:sp>
        <p:sp>
          <p:nvSpPr>
            <p:cNvPr name="TextBox 30" id="30"/>
            <p:cNvSpPr txBox="true"/>
            <p:nvPr/>
          </p:nvSpPr>
          <p:spPr>
            <a:xfrm>
              <a:off x="0" y="-38100"/>
              <a:ext cx="2103120" cy="952500"/>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GET</a:t>
              </a:r>
            </a:p>
          </p:txBody>
        </p:sp>
      </p:grpSp>
      <p:grpSp>
        <p:nvGrpSpPr>
          <p:cNvPr name="Group 31" id="31"/>
          <p:cNvGrpSpPr/>
          <p:nvPr/>
        </p:nvGrpSpPr>
        <p:grpSpPr>
          <a:xfrm rot="0">
            <a:off x="2948940" y="3936492"/>
            <a:ext cx="3223260" cy="754380"/>
            <a:chOff x="0" y="0"/>
            <a:chExt cx="4297680" cy="1005840"/>
          </a:xfrm>
        </p:grpSpPr>
        <p:sp>
          <p:nvSpPr>
            <p:cNvPr name="Freeform 32" id="32"/>
            <p:cNvSpPr/>
            <p:nvPr/>
          </p:nvSpPr>
          <p:spPr>
            <a:xfrm flipH="false" flipV="false" rot="0">
              <a:off x="0" y="0"/>
              <a:ext cx="4297680" cy="1005840"/>
            </a:xfrm>
            <a:custGeom>
              <a:avLst/>
              <a:gdLst/>
              <a:ahLst/>
              <a:cxnLst/>
              <a:rect r="r" b="b" t="t" l="l"/>
              <a:pathLst>
                <a:path h="1005840" w="4297680">
                  <a:moveTo>
                    <a:pt x="0" y="0"/>
                  </a:moveTo>
                  <a:lnTo>
                    <a:pt x="4297680" y="0"/>
                  </a:lnTo>
                  <a:lnTo>
                    <a:pt x="4297680" y="1005840"/>
                  </a:lnTo>
                  <a:lnTo>
                    <a:pt x="0" y="1005840"/>
                  </a:lnTo>
                  <a:close/>
                </a:path>
              </a:pathLst>
            </a:custGeom>
            <a:blipFill>
              <a:blip r:embed="rId3">
                <a:alphaModFix amt="0"/>
              </a:blip>
              <a:stretch>
                <a:fillRect l="0" t="-33254" r="0" b="-33254"/>
              </a:stretch>
            </a:blipFill>
          </p:spPr>
        </p:sp>
        <p:sp>
          <p:nvSpPr>
            <p:cNvPr name="TextBox 33" id="33"/>
            <p:cNvSpPr txBox="true"/>
            <p:nvPr/>
          </p:nvSpPr>
          <p:spPr>
            <a:xfrm>
              <a:off x="0" y="-9525"/>
              <a:ext cx="4297680" cy="1015365"/>
            </a:xfrm>
            <a:prstGeom prst="rect">
              <a:avLst/>
            </a:prstGeom>
          </p:spPr>
          <p:txBody>
            <a:bodyPr anchor="ctr" rtlCol="false" tIns="0" lIns="0" bIns="0" rIns="0"/>
            <a:lstStyle/>
            <a:p>
              <a:pPr algn="l">
                <a:lnSpc>
                  <a:spcPts val="2160"/>
                </a:lnSpc>
              </a:pPr>
              <a:r>
                <a:rPr lang="en-US" sz="1800">
                  <a:solidFill>
                    <a:srgbClr val="1E2761"/>
                  </a:solidFill>
                  <a:latin typeface="Courier New"/>
                  <a:ea typeface="Courier New"/>
                  <a:cs typeface="Courier New"/>
                  <a:sym typeface="Courier New"/>
                </a:rPr>
                <a:t>/leads/</a:t>
              </a:r>
            </a:p>
          </p:txBody>
        </p:sp>
      </p:grpSp>
      <p:grpSp>
        <p:nvGrpSpPr>
          <p:cNvPr name="Group 34" id="34"/>
          <p:cNvGrpSpPr/>
          <p:nvPr/>
        </p:nvGrpSpPr>
        <p:grpSpPr>
          <a:xfrm rot="0">
            <a:off x="6309360" y="3936492"/>
            <a:ext cx="3840480" cy="754380"/>
            <a:chOff x="0" y="0"/>
            <a:chExt cx="5120640" cy="1005840"/>
          </a:xfrm>
        </p:grpSpPr>
        <p:sp>
          <p:nvSpPr>
            <p:cNvPr name="Freeform 35" id="35"/>
            <p:cNvSpPr/>
            <p:nvPr/>
          </p:nvSpPr>
          <p:spPr>
            <a:xfrm flipH="false" flipV="false" rot="0">
              <a:off x="0" y="0"/>
              <a:ext cx="5120640" cy="1005840"/>
            </a:xfrm>
            <a:custGeom>
              <a:avLst/>
              <a:gdLst/>
              <a:ahLst/>
              <a:cxnLst/>
              <a:rect r="r" b="b" t="t" l="l"/>
              <a:pathLst>
                <a:path h="1005840" w="5120640">
                  <a:moveTo>
                    <a:pt x="0" y="0"/>
                  </a:moveTo>
                  <a:lnTo>
                    <a:pt x="5120640" y="0"/>
                  </a:lnTo>
                  <a:lnTo>
                    <a:pt x="5120640" y="1005840"/>
                  </a:lnTo>
                  <a:lnTo>
                    <a:pt x="0" y="1005840"/>
                  </a:lnTo>
                  <a:close/>
                </a:path>
              </a:pathLst>
            </a:custGeom>
            <a:blipFill>
              <a:blip r:embed="rId3">
                <a:alphaModFix amt="0"/>
              </a:blip>
              <a:stretch>
                <a:fillRect l="0" t="-49196" r="0" b="-49196"/>
              </a:stretch>
            </a:blipFill>
          </p:spPr>
        </p:sp>
        <p:sp>
          <p:nvSpPr>
            <p:cNvPr name="TextBox 36" id="36"/>
            <p:cNvSpPr txBox="true"/>
            <p:nvPr/>
          </p:nvSpPr>
          <p:spPr>
            <a:xfrm>
              <a:off x="0" y="-47625"/>
              <a:ext cx="5120640" cy="1053465"/>
            </a:xfrm>
            <a:prstGeom prst="rect">
              <a:avLst/>
            </a:prstGeom>
          </p:spPr>
          <p:txBody>
            <a:bodyPr anchor="ctr" rtlCol="false" tIns="0" lIns="0" bIns="0" rIns="0"/>
            <a:lstStyle/>
            <a:p>
              <a:pPr algn="l">
                <a:lnSpc>
                  <a:spcPts val="2340"/>
                </a:lnSpc>
              </a:pPr>
              <a:r>
                <a:rPr lang="en-US" sz="1950" b="true">
                  <a:solidFill>
                    <a:srgbClr val="1E2761"/>
                  </a:solidFill>
                  <a:latin typeface="Calibri (MS) Bold"/>
                  <a:ea typeface="Calibri (MS) Bold"/>
                  <a:cs typeface="Calibri (MS) Bold"/>
                  <a:sym typeface="Calibri (MS) Bold"/>
                </a:rPr>
                <a:t>Get All Prospects</a:t>
              </a:r>
            </a:p>
          </p:txBody>
        </p:sp>
      </p:grpSp>
      <p:grpSp>
        <p:nvGrpSpPr>
          <p:cNvPr name="Group 37" id="37"/>
          <p:cNvGrpSpPr/>
          <p:nvPr/>
        </p:nvGrpSpPr>
        <p:grpSpPr>
          <a:xfrm rot="0">
            <a:off x="10287000" y="3936492"/>
            <a:ext cx="6858000" cy="754380"/>
            <a:chOff x="0" y="0"/>
            <a:chExt cx="9144000" cy="1005840"/>
          </a:xfrm>
        </p:grpSpPr>
        <p:sp>
          <p:nvSpPr>
            <p:cNvPr name="Freeform 38" id="38"/>
            <p:cNvSpPr/>
            <p:nvPr/>
          </p:nvSpPr>
          <p:spPr>
            <a:xfrm flipH="false" flipV="false" rot="0">
              <a:off x="0" y="0"/>
              <a:ext cx="9144000" cy="1005840"/>
            </a:xfrm>
            <a:custGeom>
              <a:avLst/>
              <a:gdLst/>
              <a:ahLst/>
              <a:cxnLst/>
              <a:rect r="r" b="b" t="t" l="l"/>
              <a:pathLst>
                <a:path h="1005840" w="9144000">
                  <a:moveTo>
                    <a:pt x="0" y="0"/>
                  </a:moveTo>
                  <a:lnTo>
                    <a:pt x="9144000" y="0"/>
                  </a:lnTo>
                  <a:lnTo>
                    <a:pt x="9144000" y="1005840"/>
                  </a:lnTo>
                  <a:lnTo>
                    <a:pt x="0" y="1005840"/>
                  </a:lnTo>
                  <a:close/>
                </a:path>
              </a:pathLst>
            </a:custGeom>
            <a:blipFill>
              <a:blip r:embed="rId3">
                <a:alphaModFix amt="0"/>
              </a:blip>
              <a:stretch>
                <a:fillRect l="0" t="-127136" r="0" b="-127136"/>
              </a:stretch>
            </a:blipFill>
          </p:spPr>
        </p:sp>
        <p:sp>
          <p:nvSpPr>
            <p:cNvPr name="TextBox 39" id="39"/>
            <p:cNvSpPr txBox="true"/>
            <p:nvPr/>
          </p:nvSpPr>
          <p:spPr>
            <a:xfrm>
              <a:off x="0" y="-38100"/>
              <a:ext cx="9144000" cy="1043940"/>
            </a:xfrm>
            <a:prstGeom prst="rect">
              <a:avLst/>
            </a:prstGeom>
          </p:spPr>
          <p:txBody>
            <a:bodyPr anchor="ctr" rtlCol="false" tIns="0" lIns="0" bIns="0" rIns="0"/>
            <a:lstStyle/>
            <a:p>
              <a:pPr algn="l">
                <a:lnSpc>
                  <a:spcPts val="2070"/>
                </a:lnSpc>
              </a:pPr>
              <a:r>
                <a:rPr lang="en-US" sz="1725">
                  <a:solidFill>
                    <a:srgbClr val="6B7290"/>
                  </a:solidFill>
                  <a:latin typeface="Calibri (MS)"/>
                  <a:ea typeface="Calibri (MS)"/>
                  <a:cs typeface="Calibri (MS)"/>
                  <a:sym typeface="Calibri (MS)"/>
                </a:rPr>
                <a:t>List leads with optional search, filter &amp; pagination</a:t>
              </a:r>
            </a:p>
          </p:txBody>
        </p:sp>
      </p:grpSp>
      <p:grpSp>
        <p:nvGrpSpPr>
          <p:cNvPr name="Group 40" id="40"/>
          <p:cNvGrpSpPr/>
          <p:nvPr/>
        </p:nvGrpSpPr>
        <p:grpSpPr>
          <a:xfrm rot="0">
            <a:off x="822960" y="5061204"/>
            <a:ext cx="16596360" cy="1069848"/>
            <a:chOff x="0" y="0"/>
            <a:chExt cx="22128480" cy="1426464"/>
          </a:xfrm>
        </p:grpSpPr>
        <p:sp>
          <p:nvSpPr>
            <p:cNvPr name="Freeform 41" id="41"/>
            <p:cNvSpPr/>
            <p:nvPr/>
          </p:nvSpPr>
          <p:spPr>
            <a:xfrm flipH="false" flipV="false" rot="0">
              <a:off x="0" y="0"/>
              <a:ext cx="22128480" cy="1426464"/>
            </a:xfrm>
            <a:custGeom>
              <a:avLst/>
              <a:gdLst/>
              <a:ahLst/>
              <a:cxnLst/>
              <a:rect r="r" b="b" t="t" l="l"/>
              <a:pathLst>
                <a:path h="1426464" w="22128480">
                  <a:moveTo>
                    <a:pt x="0" y="146304"/>
                  </a:moveTo>
                  <a:cubicBezTo>
                    <a:pt x="0" y="65532"/>
                    <a:pt x="65532" y="0"/>
                    <a:pt x="146304" y="0"/>
                  </a:cubicBezTo>
                  <a:lnTo>
                    <a:pt x="21982176" y="0"/>
                  </a:lnTo>
                  <a:cubicBezTo>
                    <a:pt x="22062948" y="0"/>
                    <a:pt x="22128480" y="65532"/>
                    <a:pt x="22128480" y="146304"/>
                  </a:cubicBezTo>
                  <a:lnTo>
                    <a:pt x="22128480" y="1280160"/>
                  </a:lnTo>
                  <a:cubicBezTo>
                    <a:pt x="22128480" y="1360932"/>
                    <a:pt x="22062948" y="1426464"/>
                    <a:pt x="21982176" y="1426464"/>
                  </a:cubicBezTo>
                  <a:lnTo>
                    <a:pt x="146304" y="1426464"/>
                  </a:lnTo>
                  <a:cubicBezTo>
                    <a:pt x="65532" y="1426464"/>
                    <a:pt x="0" y="1360932"/>
                    <a:pt x="0" y="1280160"/>
                  </a:cubicBezTo>
                  <a:close/>
                </a:path>
              </a:pathLst>
            </a:custGeom>
            <a:solidFill>
              <a:srgbClr val="F4F6FC"/>
            </a:solidFill>
          </p:spPr>
        </p:sp>
      </p:grpSp>
      <p:grpSp>
        <p:nvGrpSpPr>
          <p:cNvPr name="Group 42" id="42"/>
          <p:cNvGrpSpPr/>
          <p:nvPr/>
        </p:nvGrpSpPr>
        <p:grpSpPr>
          <a:xfrm rot="0">
            <a:off x="1097280" y="5239512"/>
            <a:ext cx="1577340" cy="685800"/>
            <a:chOff x="0" y="0"/>
            <a:chExt cx="2103120" cy="914400"/>
          </a:xfrm>
        </p:grpSpPr>
        <p:sp>
          <p:nvSpPr>
            <p:cNvPr name="Freeform 43" id="43"/>
            <p:cNvSpPr/>
            <p:nvPr/>
          </p:nvSpPr>
          <p:spPr>
            <a:xfrm flipH="false" flipV="false" rot="0">
              <a:off x="0" y="0"/>
              <a:ext cx="2103120" cy="914400"/>
            </a:xfrm>
            <a:custGeom>
              <a:avLst/>
              <a:gdLst/>
              <a:ahLst/>
              <a:cxnLst/>
              <a:rect r="r" b="b" t="t" l="l"/>
              <a:pathLst>
                <a:path h="914400" w="2103120">
                  <a:moveTo>
                    <a:pt x="0" y="109728"/>
                  </a:moveTo>
                  <a:cubicBezTo>
                    <a:pt x="0" y="49149"/>
                    <a:pt x="49149" y="0"/>
                    <a:pt x="109728" y="0"/>
                  </a:cubicBezTo>
                  <a:lnTo>
                    <a:pt x="1993392" y="0"/>
                  </a:lnTo>
                  <a:cubicBezTo>
                    <a:pt x="2053971" y="0"/>
                    <a:pt x="2103120" y="49149"/>
                    <a:pt x="2103120" y="109728"/>
                  </a:cubicBezTo>
                  <a:lnTo>
                    <a:pt x="2103120" y="804672"/>
                  </a:lnTo>
                  <a:cubicBezTo>
                    <a:pt x="2103120" y="865251"/>
                    <a:pt x="2053971" y="914400"/>
                    <a:pt x="1993392" y="914400"/>
                  </a:cubicBezTo>
                  <a:lnTo>
                    <a:pt x="109728" y="914400"/>
                  </a:lnTo>
                  <a:cubicBezTo>
                    <a:pt x="49149" y="914400"/>
                    <a:pt x="0" y="865251"/>
                    <a:pt x="0" y="804672"/>
                  </a:cubicBezTo>
                  <a:close/>
                </a:path>
              </a:pathLst>
            </a:custGeom>
            <a:solidFill>
              <a:srgbClr val="3D5AFE"/>
            </a:solidFill>
          </p:spPr>
        </p:sp>
      </p:grpSp>
      <p:grpSp>
        <p:nvGrpSpPr>
          <p:cNvPr name="Group 44" id="44"/>
          <p:cNvGrpSpPr/>
          <p:nvPr/>
        </p:nvGrpSpPr>
        <p:grpSpPr>
          <a:xfrm rot="0">
            <a:off x="1097280" y="5239512"/>
            <a:ext cx="1577340" cy="685800"/>
            <a:chOff x="0" y="0"/>
            <a:chExt cx="2103120" cy="914400"/>
          </a:xfrm>
        </p:grpSpPr>
        <p:sp>
          <p:nvSpPr>
            <p:cNvPr name="Freeform 45" id="45"/>
            <p:cNvSpPr/>
            <p:nvPr/>
          </p:nvSpPr>
          <p:spPr>
            <a:xfrm flipH="false" flipV="false" rot="0">
              <a:off x="0" y="0"/>
              <a:ext cx="2103120" cy="914400"/>
            </a:xfrm>
            <a:custGeom>
              <a:avLst/>
              <a:gdLst/>
              <a:ahLst/>
              <a:cxnLst/>
              <a:rect r="r" b="b" t="t" l="l"/>
              <a:pathLst>
                <a:path h="914400" w="2103120">
                  <a:moveTo>
                    <a:pt x="0" y="0"/>
                  </a:moveTo>
                  <a:lnTo>
                    <a:pt x="2103120" y="0"/>
                  </a:lnTo>
                  <a:lnTo>
                    <a:pt x="2103120" y="914400"/>
                  </a:lnTo>
                  <a:lnTo>
                    <a:pt x="0" y="914400"/>
                  </a:lnTo>
                  <a:close/>
                </a:path>
              </a:pathLst>
            </a:custGeom>
            <a:blipFill>
              <a:blip r:embed="rId3">
                <a:alphaModFix amt="0"/>
              </a:blip>
              <a:stretch>
                <a:fillRect l="-5784" t="0" r="-5784" b="0"/>
              </a:stretch>
            </a:blipFill>
          </p:spPr>
        </p:sp>
        <p:sp>
          <p:nvSpPr>
            <p:cNvPr name="TextBox 46" id="46"/>
            <p:cNvSpPr txBox="true"/>
            <p:nvPr/>
          </p:nvSpPr>
          <p:spPr>
            <a:xfrm>
              <a:off x="0" y="-38100"/>
              <a:ext cx="2103120" cy="952500"/>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GET</a:t>
              </a:r>
            </a:p>
          </p:txBody>
        </p:sp>
      </p:grpSp>
      <p:grpSp>
        <p:nvGrpSpPr>
          <p:cNvPr name="Group 47" id="47"/>
          <p:cNvGrpSpPr/>
          <p:nvPr/>
        </p:nvGrpSpPr>
        <p:grpSpPr>
          <a:xfrm rot="0">
            <a:off x="2948940" y="5198364"/>
            <a:ext cx="3223260" cy="754380"/>
            <a:chOff x="0" y="0"/>
            <a:chExt cx="4297680" cy="1005840"/>
          </a:xfrm>
        </p:grpSpPr>
        <p:sp>
          <p:nvSpPr>
            <p:cNvPr name="Freeform 48" id="48"/>
            <p:cNvSpPr/>
            <p:nvPr/>
          </p:nvSpPr>
          <p:spPr>
            <a:xfrm flipH="false" flipV="false" rot="0">
              <a:off x="0" y="0"/>
              <a:ext cx="4297680" cy="1005840"/>
            </a:xfrm>
            <a:custGeom>
              <a:avLst/>
              <a:gdLst/>
              <a:ahLst/>
              <a:cxnLst/>
              <a:rect r="r" b="b" t="t" l="l"/>
              <a:pathLst>
                <a:path h="1005840" w="4297680">
                  <a:moveTo>
                    <a:pt x="0" y="0"/>
                  </a:moveTo>
                  <a:lnTo>
                    <a:pt x="4297680" y="0"/>
                  </a:lnTo>
                  <a:lnTo>
                    <a:pt x="4297680" y="1005840"/>
                  </a:lnTo>
                  <a:lnTo>
                    <a:pt x="0" y="1005840"/>
                  </a:lnTo>
                  <a:close/>
                </a:path>
              </a:pathLst>
            </a:custGeom>
            <a:blipFill>
              <a:blip r:embed="rId3">
                <a:alphaModFix amt="0"/>
              </a:blip>
              <a:stretch>
                <a:fillRect l="0" t="-33254" r="0" b="-33254"/>
              </a:stretch>
            </a:blipFill>
          </p:spPr>
        </p:sp>
        <p:sp>
          <p:nvSpPr>
            <p:cNvPr name="TextBox 49" id="49"/>
            <p:cNvSpPr txBox="true"/>
            <p:nvPr/>
          </p:nvSpPr>
          <p:spPr>
            <a:xfrm>
              <a:off x="0" y="-9525"/>
              <a:ext cx="4297680" cy="1015365"/>
            </a:xfrm>
            <a:prstGeom prst="rect">
              <a:avLst/>
            </a:prstGeom>
          </p:spPr>
          <p:txBody>
            <a:bodyPr anchor="ctr" rtlCol="false" tIns="0" lIns="0" bIns="0" rIns="0"/>
            <a:lstStyle/>
            <a:p>
              <a:pPr algn="l">
                <a:lnSpc>
                  <a:spcPts val="2160"/>
                </a:lnSpc>
              </a:pPr>
              <a:r>
                <a:rPr lang="en-US" sz="1800">
                  <a:solidFill>
                    <a:srgbClr val="1E2761"/>
                  </a:solidFill>
                  <a:latin typeface="Courier New"/>
                  <a:ea typeface="Courier New"/>
                  <a:cs typeface="Courier New"/>
                  <a:sym typeface="Courier New"/>
                </a:rPr>
                <a:t>/leads/{id}</a:t>
              </a:r>
            </a:p>
          </p:txBody>
        </p:sp>
      </p:grpSp>
      <p:grpSp>
        <p:nvGrpSpPr>
          <p:cNvPr name="Group 50" id="50"/>
          <p:cNvGrpSpPr/>
          <p:nvPr/>
        </p:nvGrpSpPr>
        <p:grpSpPr>
          <a:xfrm rot="0">
            <a:off x="6309360" y="5198364"/>
            <a:ext cx="3840480" cy="754380"/>
            <a:chOff x="0" y="0"/>
            <a:chExt cx="5120640" cy="1005840"/>
          </a:xfrm>
        </p:grpSpPr>
        <p:sp>
          <p:nvSpPr>
            <p:cNvPr name="Freeform 51" id="51"/>
            <p:cNvSpPr/>
            <p:nvPr/>
          </p:nvSpPr>
          <p:spPr>
            <a:xfrm flipH="false" flipV="false" rot="0">
              <a:off x="0" y="0"/>
              <a:ext cx="5120640" cy="1005840"/>
            </a:xfrm>
            <a:custGeom>
              <a:avLst/>
              <a:gdLst/>
              <a:ahLst/>
              <a:cxnLst/>
              <a:rect r="r" b="b" t="t" l="l"/>
              <a:pathLst>
                <a:path h="1005840" w="5120640">
                  <a:moveTo>
                    <a:pt x="0" y="0"/>
                  </a:moveTo>
                  <a:lnTo>
                    <a:pt x="5120640" y="0"/>
                  </a:lnTo>
                  <a:lnTo>
                    <a:pt x="5120640" y="1005840"/>
                  </a:lnTo>
                  <a:lnTo>
                    <a:pt x="0" y="1005840"/>
                  </a:lnTo>
                  <a:close/>
                </a:path>
              </a:pathLst>
            </a:custGeom>
            <a:blipFill>
              <a:blip r:embed="rId3">
                <a:alphaModFix amt="0"/>
              </a:blip>
              <a:stretch>
                <a:fillRect l="0" t="-49196" r="0" b="-49196"/>
              </a:stretch>
            </a:blipFill>
          </p:spPr>
        </p:sp>
        <p:sp>
          <p:nvSpPr>
            <p:cNvPr name="TextBox 52" id="52"/>
            <p:cNvSpPr txBox="true"/>
            <p:nvPr/>
          </p:nvSpPr>
          <p:spPr>
            <a:xfrm>
              <a:off x="0" y="-47625"/>
              <a:ext cx="5120640" cy="1053465"/>
            </a:xfrm>
            <a:prstGeom prst="rect">
              <a:avLst/>
            </a:prstGeom>
          </p:spPr>
          <p:txBody>
            <a:bodyPr anchor="ctr" rtlCol="false" tIns="0" lIns="0" bIns="0" rIns="0"/>
            <a:lstStyle/>
            <a:p>
              <a:pPr algn="l">
                <a:lnSpc>
                  <a:spcPts val="2340"/>
                </a:lnSpc>
              </a:pPr>
              <a:r>
                <a:rPr lang="en-US" sz="1950" b="true">
                  <a:solidFill>
                    <a:srgbClr val="1E2761"/>
                  </a:solidFill>
                  <a:latin typeface="Calibri (MS) Bold"/>
                  <a:ea typeface="Calibri (MS) Bold"/>
                  <a:cs typeface="Calibri (MS) Bold"/>
                  <a:sym typeface="Calibri (MS) Bold"/>
                </a:rPr>
                <a:t>Get Prospect by ID</a:t>
              </a:r>
            </a:p>
          </p:txBody>
        </p:sp>
      </p:grpSp>
      <p:grpSp>
        <p:nvGrpSpPr>
          <p:cNvPr name="Group 53" id="53"/>
          <p:cNvGrpSpPr/>
          <p:nvPr/>
        </p:nvGrpSpPr>
        <p:grpSpPr>
          <a:xfrm rot="0">
            <a:off x="10287000" y="5198364"/>
            <a:ext cx="6858000" cy="754380"/>
            <a:chOff x="0" y="0"/>
            <a:chExt cx="9144000" cy="1005840"/>
          </a:xfrm>
        </p:grpSpPr>
        <p:sp>
          <p:nvSpPr>
            <p:cNvPr name="Freeform 54" id="54"/>
            <p:cNvSpPr/>
            <p:nvPr/>
          </p:nvSpPr>
          <p:spPr>
            <a:xfrm flipH="false" flipV="false" rot="0">
              <a:off x="0" y="0"/>
              <a:ext cx="9144000" cy="1005840"/>
            </a:xfrm>
            <a:custGeom>
              <a:avLst/>
              <a:gdLst/>
              <a:ahLst/>
              <a:cxnLst/>
              <a:rect r="r" b="b" t="t" l="l"/>
              <a:pathLst>
                <a:path h="1005840" w="9144000">
                  <a:moveTo>
                    <a:pt x="0" y="0"/>
                  </a:moveTo>
                  <a:lnTo>
                    <a:pt x="9144000" y="0"/>
                  </a:lnTo>
                  <a:lnTo>
                    <a:pt x="9144000" y="1005840"/>
                  </a:lnTo>
                  <a:lnTo>
                    <a:pt x="0" y="1005840"/>
                  </a:lnTo>
                  <a:close/>
                </a:path>
              </a:pathLst>
            </a:custGeom>
            <a:blipFill>
              <a:blip r:embed="rId3">
                <a:alphaModFix amt="0"/>
              </a:blip>
              <a:stretch>
                <a:fillRect l="0" t="-127136" r="0" b="-127136"/>
              </a:stretch>
            </a:blipFill>
          </p:spPr>
        </p:sp>
        <p:sp>
          <p:nvSpPr>
            <p:cNvPr name="TextBox 55" id="55"/>
            <p:cNvSpPr txBox="true"/>
            <p:nvPr/>
          </p:nvSpPr>
          <p:spPr>
            <a:xfrm>
              <a:off x="0" y="-38100"/>
              <a:ext cx="9144000" cy="1043940"/>
            </a:xfrm>
            <a:prstGeom prst="rect">
              <a:avLst/>
            </a:prstGeom>
          </p:spPr>
          <p:txBody>
            <a:bodyPr anchor="ctr" rtlCol="false" tIns="0" lIns="0" bIns="0" rIns="0"/>
            <a:lstStyle/>
            <a:p>
              <a:pPr algn="l">
                <a:lnSpc>
                  <a:spcPts val="2070"/>
                </a:lnSpc>
              </a:pPr>
              <a:r>
                <a:rPr lang="en-US" sz="1725">
                  <a:solidFill>
                    <a:srgbClr val="6B7290"/>
                  </a:solidFill>
                  <a:latin typeface="Calibri (MS)"/>
                  <a:ea typeface="Calibri (MS)"/>
                  <a:cs typeface="Calibri (MS)"/>
                  <a:sym typeface="Calibri (MS)"/>
                </a:rPr>
                <a:t>Fetch a single lead's full details</a:t>
              </a:r>
            </a:p>
          </p:txBody>
        </p:sp>
      </p:grpSp>
      <p:grpSp>
        <p:nvGrpSpPr>
          <p:cNvPr name="Group 56" id="56"/>
          <p:cNvGrpSpPr/>
          <p:nvPr/>
        </p:nvGrpSpPr>
        <p:grpSpPr>
          <a:xfrm rot="0">
            <a:off x="822960" y="6323076"/>
            <a:ext cx="16596360" cy="1069848"/>
            <a:chOff x="0" y="0"/>
            <a:chExt cx="22128480" cy="1426464"/>
          </a:xfrm>
        </p:grpSpPr>
        <p:sp>
          <p:nvSpPr>
            <p:cNvPr name="Freeform 57" id="57"/>
            <p:cNvSpPr/>
            <p:nvPr/>
          </p:nvSpPr>
          <p:spPr>
            <a:xfrm flipH="false" flipV="false" rot="0">
              <a:off x="0" y="0"/>
              <a:ext cx="22128480" cy="1426464"/>
            </a:xfrm>
            <a:custGeom>
              <a:avLst/>
              <a:gdLst/>
              <a:ahLst/>
              <a:cxnLst/>
              <a:rect r="r" b="b" t="t" l="l"/>
              <a:pathLst>
                <a:path h="1426464" w="22128480">
                  <a:moveTo>
                    <a:pt x="0" y="146304"/>
                  </a:moveTo>
                  <a:cubicBezTo>
                    <a:pt x="0" y="65532"/>
                    <a:pt x="65532" y="0"/>
                    <a:pt x="146304" y="0"/>
                  </a:cubicBezTo>
                  <a:lnTo>
                    <a:pt x="21982176" y="0"/>
                  </a:lnTo>
                  <a:cubicBezTo>
                    <a:pt x="22062948" y="0"/>
                    <a:pt x="22128480" y="65532"/>
                    <a:pt x="22128480" y="146304"/>
                  </a:cubicBezTo>
                  <a:lnTo>
                    <a:pt x="22128480" y="1280160"/>
                  </a:lnTo>
                  <a:cubicBezTo>
                    <a:pt x="22128480" y="1360932"/>
                    <a:pt x="22062948" y="1426464"/>
                    <a:pt x="21982176" y="1426464"/>
                  </a:cubicBezTo>
                  <a:lnTo>
                    <a:pt x="146304" y="1426464"/>
                  </a:lnTo>
                  <a:cubicBezTo>
                    <a:pt x="65532" y="1426464"/>
                    <a:pt x="0" y="1360932"/>
                    <a:pt x="0" y="1280160"/>
                  </a:cubicBezTo>
                  <a:close/>
                </a:path>
              </a:pathLst>
            </a:custGeom>
            <a:solidFill>
              <a:srgbClr val="F4F6FC"/>
            </a:solidFill>
          </p:spPr>
        </p:sp>
      </p:grpSp>
      <p:grpSp>
        <p:nvGrpSpPr>
          <p:cNvPr name="Group 58" id="58"/>
          <p:cNvGrpSpPr/>
          <p:nvPr/>
        </p:nvGrpSpPr>
        <p:grpSpPr>
          <a:xfrm rot="0">
            <a:off x="1097280" y="6501384"/>
            <a:ext cx="1577340" cy="685800"/>
            <a:chOff x="0" y="0"/>
            <a:chExt cx="2103120" cy="914400"/>
          </a:xfrm>
        </p:grpSpPr>
        <p:sp>
          <p:nvSpPr>
            <p:cNvPr name="Freeform 59" id="59"/>
            <p:cNvSpPr/>
            <p:nvPr/>
          </p:nvSpPr>
          <p:spPr>
            <a:xfrm flipH="false" flipV="false" rot="0">
              <a:off x="0" y="0"/>
              <a:ext cx="2103120" cy="914400"/>
            </a:xfrm>
            <a:custGeom>
              <a:avLst/>
              <a:gdLst/>
              <a:ahLst/>
              <a:cxnLst/>
              <a:rect r="r" b="b" t="t" l="l"/>
              <a:pathLst>
                <a:path h="914400" w="2103120">
                  <a:moveTo>
                    <a:pt x="0" y="109728"/>
                  </a:moveTo>
                  <a:cubicBezTo>
                    <a:pt x="0" y="49149"/>
                    <a:pt x="49149" y="0"/>
                    <a:pt x="109728" y="0"/>
                  </a:cubicBezTo>
                  <a:lnTo>
                    <a:pt x="1993392" y="0"/>
                  </a:lnTo>
                  <a:cubicBezTo>
                    <a:pt x="2053971" y="0"/>
                    <a:pt x="2103120" y="49149"/>
                    <a:pt x="2103120" y="109728"/>
                  </a:cubicBezTo>
                  <a:lnTo>
                    <a:pt x="2103120" y="804672"/>
                  </a:lnTo>
                  <a:cubicBezTo>
                    <a:pt x="2103120" y="865251"/>
                    <a:pt x="2053971" y="914400"/>
                    <a:pt x="1993392" y="914400"/>
                  </a:cubicBezTo>
                  <a:lnTo>
                    <a:pt x="109728" y="914400"/>
                  </a:lnTo>
                  <a:cubicBezTo>
                    <a:pt x="49149" y="914400"/>
                    <a:pt x="0" y="865251"/>
                    <a:pt x="0" y="804672"/>
                  </a:cubicBezTo>
                  <a:close/>
                </a:path>
              </a:pathLst>
            </a:custGeom>
            <a:solidFill>
              <a:srgbClr val="B8860B"/>
            </a:solidFill>
          </p:spPr>
        </p:sp>
      </p:grpSp>
      <p:grpSp>
        <p:nvGrpSpPr>
          <p:cNvPr name="Group 60" id="60"/>
          <p:cNvGrpSpPr/>
          <p:nvPr/>
        </p:nvGrpSpPr>
        <p:grpSpPr>
          <a:xfrm rot="0">
            <a:off x="1097280" y="6501384"/>
            <a:ext cx="1577340" cy="685800"/>
            <a:chOff x="0" y="0"/>
            <a:chExt cx="2103120" cy="914400"/>
          </a:xfrm>
        </p:grpSpPr>
        <p:sp>
          <p:nvSpPr>
            <p:cNvPr name="Freeform 61" id="61"/>
            <p:cNvSpPr/>
            <p:nvPr/>
          </p:nvSpPr>
          <p:spPr>
            <a:xfrm flipH="false" flipV="false" rot="0">
              <a:off x="0" y="0"/>
              <a:ext cx="2103120" cy="914400"/>
            </a:xfrm>
            <a:custGeom>
              <a:avLst/>
              <a:gdLst/>
              <a:ahLst/>
              <a:cxnLst/>
              <a:rect r="r" b="b" t="t" l="l"/>
              <a:pathLst>
                <a:path h="914400" w="2103120">
                  <a:moveTo>
                    <a:pt x="0" y="0"/>
                  </a:moveTo>
                  <a:lnTo>
                    <a:pt x="2103120" y="0"/>
                  </a:lnTo>
                  <a:lnTo>
                    <a:pt x="2103120" y="914400"/>
                  </a:lnTo>
                  <a:lnTo>
                    <a:pt x="0" y="914400"/>
                  </a:lnTo>
                  <a:close/>
                </a:path>
              </a:pathLst>
            </a:custGeom>
            <a:blipFill>
              <a:blip r:embed="rId3">
                <a:alphaModFix amt="0"/>
              </a:blip>
              <a:stretch>
                <a:fillRect l="-5784" t="0" r="-5784" b="0"/>
              </a:stretch>
            </a:blipFill>
          </p:spPr>
        </p:sp>
        <p:sp>
          <p:nvSpPr>
            <p:cNvPr name="TextBox 62" id="62"/>
            <p:cNvSpPr txBox="true"/>
            <p:nvPr/>
          </p:nvSpPr>
          <p:spPr>
            <a:xfrm>
              <a:off x="0" y="-38100"/>
              <a:ext cx="2103120" cy="952500"/>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PUT</a:t>
              </a:r>
            </a:p>
          </p:txBody>
        </p:sp>
      </p:grpSp>
      <p:grpSp>
        <p:nvGrpSpPr>
          <p:cNvPr name="Group 63" id="63"/>
          <p:cNvGrpSpPr/>
          <p:nvPr/>
        </p:nvGrpSpPr>
        <p:grpSpPr>
          <a:xfrm rot="0">
            <a:off x="2948940" y="6460236"/>
            <a:ext cx="3223260" cy="754380"/>
            <a:chOff x="0" y="0"/>
            <a:chExt cx="4297680" cy="1005840"/>
          </a:xfrm>
        </p:grpSpPr>
        <p:sp>
          <p:nvSpPr>
            <p:cNvPr name="Freeform 64" id="64"/>
            <p:cNvSpPr/>
            <p:nvPr/>
          </p:nvSpPr>
          <p:spPr>
            <a:xfrm flipH="false" flipV="false" rot="0">
              <a:off x="0" y="0"/>
              <a:ext cx="4297680" cy="1005840"/>
            </a:xfrm>
            <a:custGeom>
              <a:avLst/>
              <a:gdLst/>
              <a:ahLst/>
              <a:cxnLst/>
              <a:rect r="r" b="b" t="t" l="l"/>
              <a:pathLst>
                <a:path h="1005840" w="4297680">
                  <a:moveTo>
                    <a:pt x="0" y="0"/>
                  </a:moveTo>
                  <a:lnTo>
                    <a:pt x="4297680" y="0"/>
                  </a:lnTo>
                  <a:lnTo>
                    <a:pt x="4297680" y="1005840"/>
                  </a:lnTo>
                  <a:lnTo>
                    <a:pt x="0" y="1005840"/>
                  </a:lnTo>
                  <a:close/>
                </a:path>
              </a:pathLst>
            </a:custGeom>
            <a:blipFill>
              <a:blip r:embed="rId3">
                <a:alphaModFix amt="0"/>
              </a:blip>
              <a:stretch>
                <a:fillRect l="0" t="-33254" r="0" b="-33254"/>
              </a:stretch>
            </a:blipFill>
          </p:spPr>
        </p:sp>
        <p:sp>
          <p:nvSpPr>
            <p:cNvPr name="TextBox 65" id="65"/>
            <p:cNvSpPr txBox="true"/>
            <p:nvPr/>
          </p:nvSpPr>
          <p:spPr>
            <a:xfrm>
              <a:off x="0" y="-9525"/>
              <a:ext cx="4297680" cy="1015365"/>
            </a:xfrm>
            <a:prstGeom prst="rect">
              <a:avLst/>
            </a:prstGeom>
          </p:spPr>
          <p:txBody>
            <a:bodyPr anchor="ctr" rtlCol="false" tIns="0" lIns="0" bIns="0" rIns="0"/>
            <a:lstStyle/>
            <a:p>
              <a:pPr algn="l">
                <a:lnSpc>
                  <a:spcPts val="2160"/>
                </a:lnSpc>
              </a:pPr>
              <a:r>
                <a:rPr lang="en-US" sz="1800">
                  <a:solidFill>
                    <a:srgbClr val="1E2761"/>
                  </a:solidFill>
                  <a:latin typeface="Courier New"/>
                  <a:ea typeface="Courier New"/>
                  <a:cs typeface="Courier New"/>
                  <a:sym typeface="Courier New"/>
                </a:rPr>
                <a:t>/leads/{id}</a:t>
              </a:r>
            </a:p>
          </p:txBody>
        </p:sp>
      </p:grpSp>
      <p:grpSp>
        <p:nvGrpSpPr>
          <p:cNvPr name="Group 66" id="66"/>
          <p:cNvGrpSpPr/>
          <p:nvPr/>
        </p:nvGrpSpPr>
        <p:grpSpPr>
          <a:xfrm rot="0">
            <a:off x="6309360" y="6460236"/>
            <a:ext cx="3840480" cy="754380"/>
            <a:chOff x="0" y="0"/>
            <a:chExt cx="5120640" cy="1005840"/>
          </a:xfrm>
        </p:grpSpPr>
        <p:sp>
          <p:nvSpPr>
            <p:cNvPr name="Freeform 67" id="67"/>
            <p:cNvSpPr/>
            <p:nvPr/>
          </p:nvSpPr>
          <p:spPr>
            <a:xfrm flipH="false" flipV="false" rot="0">
              <a:off x="0" y="0"/>
              <a:ext cx="5120640" cy="1005840"/>
            </a:xfrm>
            <a:custGeom>
              <a:avLst/>
              <a:gdLst/>
              <a:ahLst/>
              <a:cxnLst/>
              <a:rect r="r" b="b" t="t" l="l"/>
              <a:pathLst>
                <a:path h="1005840" w="5120640">
                  <a:moveTo>
                    <a:pt x="0" y="0"/>
                  </a:moveTo>
                  <a:lnTo>
                    <a:pt x="5120640" y="0"/>
                  </a:lnTo>
                  <a:lnTo>
                    <a:pt x="5120640" y="1005840"/>
                  </a:lnTo>
                  <a:lnTo>
                    <a:pt x="0" y="1005840"/>
                  </a:lnTo>
                  <a:close/>
                </a:path>
              </a:pathLst>
            </a:custGeom>
            <a:blipFill>
              <a:blip r:embed="rId3">
                <a:alphaModFix amt="0"/>
              </a:blip>
              <a:stretch>
                <a:fillRect l="0" t="-49196" r="0" b="-49196"/>
              </a:stretch>
            </a:blipFill>
          </p:spPr>
        </p:sp>
        <p:sp>
          <p:nvSpPr>
            <p:cNvPr name="TextBox 68" id="68"/>
            <p:cNvSpPr txBox="true"/>
            <p:nvPr/>
          </p:nvSpPr>
          <p:spPr>
            <a:xfrm>
              <a:off x="0" y="-47625"/>
              <a:ext cx="5120640" cy="1053465"/>
            </a:xfrm>
            <a:prstGeom prst="rect">
              <a:avLst/>
            </a:prstGeom>
          </p:spPr>
          <p:txBody>
            <a:bodyPr anchor="ctr" rtlCol="false" tIns="0" lIns="0" bIns="0" rIns="0"/>
            <a:lstStyle/>
            <a:p>
              <a:pPr algn="l">
                <a:lnSpc>
                  <a:spcPts val="2340"/>
                </a:lnSpc>
              </a:pPr>
              <a:r>
                <a:rPr lang="en-US" sz="1950" b="true">
                  <a:solidFill>
                    <a:srgbClr val="1E2761"/>
                  </a:solidFill>
                  <a:latin typeface="Calibri (MS) Bold"/>
                  <a:ea typeface="Calibri (MS) Bold"/>
                  <a:cs typeface="Calibri (MS) Bold"/>
                  <a:sym typeface="Calibri (MS) Bold"/>
                </a:rPr>
                <a:t>Update Prospect</a:t>
              </a:r>
            </a:p>
          </p:txBody>
        </p:sp>
      </p:grpSp>
      <p:grpSp>
        <p:nvGrpSpPr>
          <p:cNvPr name="Group 69" id="69"/>
          <p:cNvGrpSpPr/>
          <p:nvPr/>
        </p:nvGrpSpPr>
        <p:grpSpPr>
          <a:xfrm rot="0">
            <a:off x="10287000" y="6460236"/>
            <a:ext cx="6858000" cy="754380"/>
            <a:chOff x="0" y="0"/>
            <a:chExt cx="9144000" cy="1005840"/>
          </a:xfrm>
        </p:grpSpPr>
        <p:sp>
          <p:nvSpPr>
            <p:cNvPr name="Freeform 70" id="70"/>
            <p:cNvSpPr/>
            <p:nvPr/>
          </p:nvSpPr>
          <p:spPr>
            <a:xfrm flipH="false" flipV="false" rot="0">
              <a:off x="0" y="0"/>
              <a:ext cx="9144000" cy="1005840"/>
            </a:xfrm>
            <a:custGeom>
              <a:avLst/>
              <a:gdLst/>
              <a:ahLst/>
              <a:cxnLst/>
              <a:rect r="r" b="b" t="t" l="l"/>
              <a:pathLst>
                <a:path h="1005840" w="9144000">
                  <a:moveTo>
                    <a:pt x="0" y="0"/>
                  </a:moveTo>
                  <a:lnTo>
                    <a:pt x="9144000" y="0"/>
                  </a:lnTo>
                  <a:lnTo>
                    <a:pt x="9144000" y="1005840"/>
                  </a:lnTo>
                  <a:lnTo>
                    <a:pt x="0" y="1005840"/>
                  </a:lnTo>
                  <a:close/>
                </a:path>
              </a:pathLst>
            </a:custGeom>
            <a:blipFill>
              <a:blip r:embed="rId3">
                <a:alphaModFix amt="0"/>
              </a:blip>
              <a:stretch>
                <a:fillRect l="0" t="-127136" r="0" b="-127136"/>
              </a:stretch>
            </a:blipFill>
          </p:spPr>
        </p:sp>
        <p:sp>
          <p:nvSpPr>
            <p:cNvPr name="TextBox 71" id="71"/>
            <p:cNvSpPr txBox="true"/>
            <p:nvPr/>
          </p:nvSpPr>
          <p:spPr>
            <a:xfrm>
              <a:off x="0" y="-38100"/>
              <a:ext cx="9144000" cy="1043940"/>
            </a:xfrm>
            <a:prstGeom prst="rect">
              <a:avLst/>
            </a:prstGeom>
          </p:spPr>
          <p:txBody>
            <a:bodyPr anchor="ctr" rtlCol="false" tIns="0" lIns="0" bIns="0" rIns="0"/>
            <a:lstStyle/>
            <a:p>
              <a:pPr algn="l">
                <a:lnSpc>
                  <a:spcPts val="2070"/>
                </a:lnSpc>
              </a:pPr>
              <a:r>
                <a:rPr lang="en-US" sz="1725">
                  <a:solidFill>
                    <a:srgbClr val="6B7290"/>
                  </a:solidFill>
                  <a:latin typeface="Calibri (MS)"/>
                  <a:ea typeface="Calibri (MS)"/>
                  <a:cs typeface="Calibri (MS)"/>
                  <a:sym typeface="Calibri (MS)"/>
                </a:rPr>
                <a:t>Edit fields; re-checks email uniqueness</a:t>
              </a:r>
            </a:p>
          </p:txBody>
        </p:sp>
      </p:grpSp>
      <p:grpSp>
        <p:nvGrpSpPr>
          <p:cNvPr name="Group 72" id="72"/>
          <p:cNvGrpSpPr/>
          <p:nvPr/>
        </p:nvGrpSpPr>
        <p:grpSpPr>
          <a:xfrm rot="0">
            <a:off x="822960" y="7584948"/>
            <a:ext cx="16596360" cy="1069848"/>
            <a:chOff x="0" y="0"/>
            <a:chExt cx="22128480" cy="1426464"/>
          </a:xfrm>
        </p:grpSpPr>
        <p:sp>
          <p:nvSpPr>
            <p:cNvPr name="Freeform 73" id="73"/>
            <p:cNvSpPr/>
            <p:nvPr/>
          </p:nvSpPr>
          <p:spPr>
            <a:xfrm flipH="false" flipV="false" rot="0">
              <a:off x="0" y="0"/>
              <a:ext cx="22128480" cy="1426464"/>
            </a:xfrm>
            <a:custGeom>
              <a:avLst/>
              <a:gdLst/>
              <a:ahLst/>
              <a:cxnLst/>
              <a:rect r="r" b="b" t="t" l="l"/>
              <a:pathLst>
                <a:path h="1426464" w="22128480">
                  <a:moveTo>
                    <a:pt x="0" y="146304"/>
                  </a:moveTo>
                  <a:cubicBezTo>
                    <a:pt x="0" y="65532"/>
                    <a:pt x="65532" y="0"/>
                    <a:pt x="146304" y="0"/>
                  </a:cubicBezTo>
                  <a:lnTo>
                    <a:pt x="21982176" y="0"/>
                  </a:lnTo>
                  <a:cubicBezTo>
                    <a:pt x="22062948" y="0"/>
                    <a:pt x="22128480" y="65532"/>
                    <a:pt x="22128480" y="146304"/>
                  </a:cubicBezTo>
                  <a:lnTo>
                    <a:pt x="22128480" y="1280160"/>
                  </a:lnTo>
                  <a:cubicBezTo>
                    <a:pt x="22128480" y="1360932"/>
                    <a:pt x="22062948" y="1426464"/>
                    <a:pt x="21982176" y="1426464"/>
                  </a:cubicBezTo>
                  <a:lnTo>
                    <a:pt x="146304" y="1426464"/>
                  </a:lnTo>
                  <a:cubicBezTo>
                    <a:pt x="65532" y="1426464"/>
                    <a:pt x="0" y="1360932"/>
                    <a:pt x="0" y="1280160"/>
                  </a:cubicBezTo>
                  <a:close/>
                </a:path>
              </a:pathLst>
            </a:custGeom>
            <a:solidFill>
              <a:srgbClr val="F4F6FC"/>
            </a:solidFill>
          </p:spPr>
        </p:sp>
      </p:grpSp>
      <p:grpSp>
        <p:nvGrpSpPr>
          <p:cNvPr name="Group 74" id="74"/>
          <p:cNvGrpSpPr/>
          <p:nvPr/>
        </p:nvGrpSpPr>
        <p:grpSpPr>
          <a:xfrm rot="0">
            <a:off x="1097280" y="7763256"/>
            <a:ext cx="1577340" cy="685800"/>
            <a:chOff x="0" y="0"/>
            <a:chExt cx="2103120" cy="914400"/>
          </a:xfrm>
        </p:grpSpPr>
        <p:sp>
          <p:nvSpPr>
            <p:cNvPr name="Freeform 75" id="75"/>
            <p:cNvSpPr/>
            <p:nvPr/>
          </p:nvSpPr>
          <p:spPr>
            <a:xfrm flipH="false" flipV="false" rot="0">
              <a:off x="0" y="0"/>
              <a:ext cx="2103120" cy="914400"/>
            </a:xfrm>
            <a:custGeom>
              <a:avLst/>
              <a:gdLst/>
              <a:ahLst/>
              <a:cxnLst/>
              <a:rect r="r" b="b" t="t" l="l"/>
              <a:pathLst>
                <a:path h="914400" w="2103120">
                  <a:moveTo>
                    <a:pt x="0" y="109728"/>
                  </a:moveTo>
                  <a:cubicBezTo>
                    <a:pt x="0" y="49149"/>
                    <a:pt x="49149" y="0"/>
                    <a:pt x="109728" y="0"/>
                  </a:cubicBezTo>
                  <a:lnTo>
                    <a:pt x="1993392" y="0"/>
                  </a:lnTo>
                  <a:cubicBezTo>
                    <a:pt x="2053971" y="0"/>
                    <a:pt x="2103120" y="49149"/>
                    <a:pt x="2103120" y="109728"/>
                  </a:cubicBezTo>
                  <a:lnTo>
                    <a:pt x="2103120" y="804672"/>
                  </a:lnTo>
                  <a:cubicBezTo>
                    <a:pt x="2103120" y="865251"/>
                    <a:pt x="2053971" y="914400"/>
                    <a:pt x="1993392" y="914400"/>
                  </a:cubicBezTo>
                  <a:lnTo>
                    <a:pt x="109728" y="914400"/>
                  </a:lnTo>
                  <a:cubicBezTo>
                    <a:pt x="49149" y="914400"/>
                    <a:pt x="0" y="865251"/>
                    <a:pt x="0" y="804672"/>
                  </a:cubicBezTo>
                  <a:close/>
                </a:path>
              </a:pathLst>
            </a:custGeom>
            <a:solidFill>
              <a:srgbClr val="990011"/>
            </a:solidFill>
          </p:spPr>
        </p:sp>
      </p:grpSp>
      <p:grpSp>
        <p:nvGrpSpPr>
          <p:cNvPr name="Group 76" id="76"/>
          <p:cNvGrpSpPr/>
          <p:nvPr/>
        </p:nvGrpSpPr>
        <p:grpSpPr>
          <a:xfrm rot="0">
            <a:off x="1097280" y="7763256"/>
            <a:ext cx="1577340" cy="685800"/>
            <a:chOff x="0" y="0"/>
            <a:chExt cx="2103120" cy="914400"/>
          </a:xfrm>
        </p:grpSpPr>
        <p:sp>
          <p:nvSpPr>
            <p:cNvPr name="Freeform 77" id="77"/>
            <p:cNvSpPr/>
            <p:nvPr/>
          </p:nvSpPr>
          <p:spPr>
            <a:xfrm flipH="false" flipV="false" rot="0">
              <a:off x="0" y="0"/>
              <a:ext cx="2103120" cy="914400"/>
            </a:xfrm>
            <a:custGeom>
              <a:avLst/>
              <a:gdLst/>
              <a:ahLst/>
              <a:cxnLst/>
              <a:rect r="r" b="b" t="t" l="l"/>
              <a:pathLst>
                <a:path h="914400" w="2103120">
                  <a:moveTo>
                    <a:pt x="0" y="0"/>
                  </a:moveTo>
                  <a:lnTo>
                    <a:pt x="2103120" y="0"/>
                  </a:lnTo>
                  <a:lnTo>
                    <a:pt x="2103120" y="914400"/>
                  </a:lnTo>
                  <a:lnTo>
                    <a:pt x="0" y="914400"/>
                  </a:lnTo>
                  <a:close/>
                </a:path>
              </a:pathLst>
            </a:custGeom>
            <a:blipFill>
              <a:blip r:embed="rId3">
                <a:alphaModFix amt="0"/>
              </a:blip>
              <a:stretch>
                <a:fillRect l="-5784" t="0" r="-5784" b="0"/>
              </a:stretch>
            </a:blipFill>
          </p:spPr>
        </p:sp>
        <p:sp>
          <p:nvSpPr>
            <p:cNvPr name="TextBox 78" id="78"/>
            <p:cNvSpPr txBox="true"/>
            <p:nvPr/>
          </p:nvSpPr>
          <p:spPr>
            <a:xfrm>
              <a:off x="0" y="-38100"/>
              <a:ext cx="2103120" cy="952500"/>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DELETE</a:t>
              </a:r>
            </a:p>
          </p:txBody>
        </p:sp>
      </p:grpSp>
      <p:grpSp>
        <p:nvGrpSpPr>
          <p:cNvPr name="Group 79" id="79"/>
          <p:cNvGrpSpPr/>
          <p:nvPr/>
        </p:nvGrpSpPr>
        <p:grpSpPr>
          <a:xfrm rot="0">
            <a:off x="2948940" y="7722108"/>
            <a:ext cx="3223260" cy="754380"/>
            <a:chOff x="0" y="0"/>
            <a:chExt cx="4297680" cy="1005840"/>
          </a:xfrm>
        </p:grpSpPr>
        <p:sp>
          <p:nvSpPr>
            <p:cNvPr name="Freeform 80" id="80"/>
            <p:cNvSpPr/>
            <p:nvPr/>
          </p:nvSpPr>
          <p:spPr>
            <a:xfrm flipH="false" flipV="false" rot="0">
              <a:off x="0" y="0"/>
              <a:ext cx="4297680" cy="1005840"/>
            </a:xfrm>
            <a:custGeom>
              <a:avLst/>
              <a:gdLst/>
              <a:ahLst/>
              <a:cxnLst/>
              <a:rect r="r" b="b" t="t" l="l"/>
              <a:pathLst>
                <a:path h="1005840" w="4297680">
                  <a:moveTo>
                    <a:pt x="0" y="0"/>
                  </a:moveTo>
                  <a:lnTo>
                    <a:pt x="4297680" y="0"/>
                  </a:lnTo>
                  <a:lnTo>
                    <a:pt x="4297680" y="1005840"/>
                  </a:lnTo>
                  <a:lnTo>
                    <a:pt x="0" y="1005840"/>
                  </a:lnTo>
                  <a:close/>
                </a:path>
              </a:pathLst>
            </a:custGeom>
            <a:blipFill>
              <a:blip r:embed="rId3">
                <a:alphaModFix amt="0"/>
              </a:blip>
              <a:stretch>
                <a:fillRect l="0" t="-33254" r="0" b="-33254"/>
              </a:stretch>
            </a:blipFill>
          </p:spPr>
        </p:sp>
        <p:sp>
          <p:nvSpPr>
            <p:cNvPr name="TextBox 81" id="81"/>
            <p:cNvSpPr txBox="true"/>
            <p:nvPr/>
          </p:nvSpPr>
          <p:spPr>
            <a:xfrm>
              <a:off x="0" y="-9525"/>
              <a:ext cx="4297680" cy="1015365"/>
            </a:xfrm>
            <a:prstGeom prst="rect">
              <a:avLst/>
            </a:prstGeom>
          </p:spPr>
          <p:txBody>
            <a:bodyPr anchor="ctr" rtlCol="false" tIns="0" lIns="0" bIns="0" rIns="0"/>
            <a:lstStyle/>
            <a:p>
              <a:pPr algn="l">
                <a:lnSpc>
                  <a:spcPts val="2160"/>
                </a:lnSpc>
              </a:pPr>
              <a:r>
                <a:rPr lang="en-US" sz="1800">
                  <a:solidFill>
                    <a:srgbClr val="1E2761"/>
                  </a:solidFill>
                  <a:latin typeface="Courier New"/>
                  <a:ea typeface="Courier New"/>
                  <a:cs typeface="Courier New"/>
                  <a:sym typeface="Courier New"/>
                </a:rPr>
                <a:t>/leads/{id}</a:t>
              </a:r>
            </a:p>
          </p:txBody>
        </p:sp>
      </p:grpSp>
      <p:grpSp>
        <p:nvGrpSpPr>
          <p:cNvPr name="Group 82" id="82"/>
          <p:cNvGrpSpPr/>
          <p:nvPr/>
        </p:nvGrpSpPr>
        <p:grpSpPr>
          <a:xfrm rot="0">
            <a:off x="6309360" y="7722108"/>
            <a:ext cx="3840480" cy="754380"/>
            <a:chOff x="0" y="0"/>
            <a:chExt cx="5120640" cy="1005840"/>
          </a:xfrm>
        </p:grpSpPr>
        <p:sp>
          <p:nvSpPr>
            <p:cNvPr name="Freeform 83" id="83"/>
            <p:cNvSpPr/>
            <p:nvPr/>
          </p:nvSpPr>
          <p:spPr>
            <a:xfrm flipH="false" flipV="false" rot="0">
              <a:off x="0" y="0"/>
              <a:ext cx="5120640" cy="1005840"/>
            </a:xfrm>
            <a:custGeom>
              <a:avLst/>
              <a:gdLst/>
              <a:ahLst/>
              <a:cxnLst/>
              <a:rect r="r" b="b" t="t" l="l"/>
              <a:pathLst>
                <a:path h="1005840" w="5120640">
                  <a:moveTo>
                    <a:pt x="0" y="0"/>
                  </a:moveTo>
                  <a:lnTo>
                    <a:pt x="5120640" y="0"/>
                  </a:lnTo>
                  <a:lnTo>
                    <a:pt x="5120640" y="1005840"/>
                  </a:lnTo>
                  <a:lnTo>
                    <a:pt x="0" y="1005840"/>
                  </a:lnTo>
                  <a:close/>
                </a:path>
              </a:pathLst>
            </a:custGeom>
            <a:blipFill>
              <a:blip r:embed="rId3">
                <a:alphaModFix amt="0"/>
              </a:blip>
              <a:stretch>
                <a:fillRect l="0" t="-49196" r="0" b="-49196"/>
              </a:stretch>
            </a:blipFill>
          </p:spPr>
        </p:sp>
        <p:sp>
          <p:nvSpPr>
            <p:cNvPr name="TextBox 84" id="84"/>
            <p:cNvSpPr txBox="true"/>
            <p:nvPr/>
          </p:nvSpPr>
          <p:spPr>
            <a:xfrm>
              <a:off x="0" y="-47625"/>
              <a:ext cx="5120640" cy="1053465"/>
            </a:xfrm>
            <a:prstGeom prst="rect">
              <a:avLst/>
            </a:prstGeom>
          </p:spPr>
          <p:txBody>
            <a:bodyPr anchor="ctr" rtlCol="false" tIns="0" lIns="0" bIns="0" rIns="0"/>
            <a:lstStyle/>
            <a:p>
              <a:pPr algn="l">
                <a:lnSpc>
                  <a:spcPts val="2340"/>
                </a:lnSpc>
              </a:pPr>
              <a:r>
                <a:rPr lang="en-US" sz="1950" b="true">
                  <a:solidFill>
                    <a:srgbClr val="1E2761"/>
                  </a:solidFill>
                  <a:latin typeface="Calibri (MS) Bold"/>
                  <a:ea typeface="Calibri (MS) Bold"/>
                  <a:cs typeface="Calibri (MS) Bold"/>
                  <a:sym typeface="Calibri (MS) Bold"/>
                </a:rPr>
                <a:t>Delete Prospect</a:t>
              </a:r>
            </a:p>
          </p:txBody>
        </p:sp>
      </p:grpSp>
      <p:grpSp>
        <p:nvGrpSpPr>
          <p:cNvPr name="Group 85" id="85"/>
          <p:cNvGrpSpPr/>
          <p:nvPr/>
        </p:nvGrpSpPr>
        <p:grpSpPr>
          <a:xfrm rot="0">
            <a:off x="10287000" y="7722108"/>
            <a:ext cx="6858000" cy="754380"/>
            <a:chOff x="0" y="0"/>
            <a:chExt cx="9144000" cy="1005840"/>
          </a:xfrm>
        </p:grpSpPr>
        <p:sp>
          <p:nvSpPr>
            <p:cNvPr name="Freeform 86" id="86"/>
            <p:cNvSpPr/>
            <p:nvPr/>
          </p:nvSpPr>
          <p:spPr>
            <a:xfrm flipH="false" flipV="false" rot="0">
              <a:off x="0" y="0"/>
              <a:ext cx="9144000" cy="1005840"/>
            </a:xfrm>
            <a:custGeom>
              <a:avLst/>
              <a:gdLst/>
              <a:ahLst/>
              <a:cxnLst/>
              <a:rect r="r" b="b" t="t" l="l"/>
              <a:pathLst>
                <a:path h="1005840" w="9144000">
                  <a:moveTo>
                    <a:pt x="0" y="0"/>
                  </a:moveTo>
                  <a:lnTo>
                    <a:pt x="9144000" y="0"/>
                  </a:lnTo>
                  <a:lnTo>
                    <a:pt x="9144000" y="1005840"/>
                  </a:lnTo>
                  <a:lnTo>
                    <a:pt x="0" y="1005840"/>
                  </a:lnTo>
                  <a:close/>
                </a:path>
              </a:pathLst>
            </a:custGeom>
            <a:blipFill>
              <a:blip r:embed="rId3">
                <a:alphaModFix amt="0"/>
              </a:blip>
              <a:stretch>
                <a:fillRect l="0" t="-127136" r="0" b="-127136"/>
              </a:stretch>
            </a:blipFill>
          </p:spPr>
        </p:sp>
        <p:sp>
          <p:nvSpPr>
            <p:cNvPr name="TextBox 87" id="87"/>
            <p:cNvSpPr txBox="true"/>
            <p:nvPr/>
          </p:nvSpPr>
          <p:spPr>
            <a:xfrm>
              <a:off x="0" y="-38100"/>
              <a:ext cx="9144000" cy="1043940"/>
            </a:xfrm>
            <a:prstGeom prst="rect">
              <a:avLst/>
            </a:prstGeom>
          </p:spPr>
          <p:txBody>
            <a:bodyPr anchor="ctr" rtlCol="false" tIns="0" lIns="0" bIns="0" rIns="0"/>
            <a:lstStyle/>
            <a:p>
              <a:pPr algn="l">
                <a:lnSpc>
                  <a:spcPts val="2070"/>
                </a:lnSpc>
              </a:pPr>
              <a:r>
                <a:rPr lang="en-US" sz="1725">
                  <a:solidFill>
                    <a:srgbClr val="6B7290"/>
                  </a:solidFill>
                  <a:latin typeface="Calibri (MS)"/>
                  <a:ea typeface="Calibri (MS)"/>
                  <a:cs typeface="Calibri (MS)"/>
                  <a:sym typeface="Calibri (MS)"/>
                </a:rPr>
                <a:t>Remove a lead permanently</a:t>
              </a:r>
            </a:p>
          </p:txBody>
        </p:sp>
      </p:grpSp>
      <p:grpSp>
        <p:nvGrpSpPr>
          <p:cNvPr name="Group 88" id="88"/>
          <p:cNvGrpSpPr/>
          <p:nvPr/>
        </p:nvGrpSpPr>
        <p:grpSpPr>
          <a:xfrm rot="0">
            <a:off x="685800" y="9710928"/>
            <a:ext cx="9601200" cy="411480"/>
            <a:chOff x="0" y="0"/>
            <a:chExt cx="12801600" cy="548640"/>
          </a:xfrm>
        </p:grpSpPr>
        <p:sp>
          <p:nvSpPr>
            <p:cNvPr name="Freeform 89" id="89"/>
            <p:cNvSpPr/>
            <p:nvPr/>
          </p:nvSpPr>
          <p:spPr>
            <a:xfrm flipH="false" flipV="false" rot="0">
              <a:off x="0" y="0"/>
              <a:ext cx="12801600" cy="548640"/>
            </a:xfrm>
            <a:custGeom>
              <a:avLst/>
              <a:gdLst/>
              <a:ahLst/>
              <a:cxnLst/>
              <a:rect r="r" b="b" t="t" l="l"/>
              <a:pathLst>
                <a:path h="548640" w="12801600">
                  <a:moveTo>
                    <a:pt x="0" y="0"/>
                  </a:moveTo>
                  <a:lnTo>
                    <a:pt x="12801600" y="0"/>
                  </a:lnTo>
                  <a:lnTo>
                    <a:pt x="12801600" y="548640"/>
                  </a:lnTo>
                  <a:lnTo>
                    <a:pt x="0" y="548640"/>
                  </a:lnTo>
                  <a:close/>
                </a:path>
              </a:pathLst>
            </a:custGeom>
            <a:blipFill>
              <a:blip r:embed="rId3">
                <a:alphaModFix amt="0"/>
              </a:blip>
              <a:stretch>
                <a:fillRect l="0" t="-404650" r="0" b="-404650"/>
              </a:stretch>
            </a:blipFill>
          </p:spPr>
        </p:sp>
        <p:sp>
          <p:nvSpPr>
            <p:cNvPr name="TextBox 90" id="90"/>
            <p:cNvSpPr txBox="true"/>
            <p:nvPr/>
          </p:nvSpPr>
          <p:spPr>
            <a:xfrm>
              <a:off x="0" y="-38100"/>
              <a:ext cx="12801600" cy="586740"/>
            </a:xfrm>
            <a:prstGeom prst="rect">
              <a:avLst/>
            </a:prstGeom>
          </p:spPr>
          <p:txBody>
            <a:bodyPr anchor="ctr" rtlCol="false" tIns="0" lIns="0" bIns="0" rIns="0"/>
            <a:lstStyle/>
            <a:p>
              <a:pPr algn="l">
                <a:lnSpc>
                  <a:spcPts val="1800"/>
                </a:lnSpc>
              </a:pPr>
              <a:r>
                <a:rPr lang="en-US" sz="1500">
                  <a:solidFill>
                    <a:srgbClr val="6B7290"/>
                  </a:solidFill>
                  <a:latin typeface="Calibri (MS)"/>
                  <a:ea typeface="Calibri (MS)"/>
                  <a:cs typeface="Calibri (MS)"/>
                  <a:sym typeface="Calibri (MS)"/>
                </a:rPr>
                <a:t>SalesGenie  |  Module 1 – Prospect CRUD API</a:t>
              </a:r>
            </a:p>
          </p:txBody>
        </p:sp>
      </p:grpSp>
      <p:grpSp>
        <p:nvGrpSpPr>
          <p:cNvPr name="Group 91" id="91"/>
          <p:cNvGrpSpPr/>
          <p:nvPr/>
        </p:nvGrpSpPr>
        <p:grpSpPr>
          <a:xfrm rot="0">
            <a:off x="16911828" y="9710928"/>
            <a:ext cx="685800" cy="411480"/>
            <a:chOff x="0" y="0"/>
            <a:chExt cx="914400" cy="548640"/>
          </a:xfrm>
        </p:grpSpPr>
        <p:sp>
          <p:nvSpPr>
            <p:cNvPr name="Freeform 92" id="92"/>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93" id="93"/>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90"/>
                  </a:solidFill>
                  <a:latin typeface="Calibri (MS)"/>
                  <a:ea typeface="Calibri (MS)"/>
                  <a:cs typeface="Calibri (MS)"/>
                  <a:sym typeface="Calibri (MS)"/>
                </a:rPr>
                <a:t>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15773400" cy="960120"/>
            <a:chOff x="0" y="0"/>
            <a:chExt cx="21031200" cy="1280160"/>
          </a:xfrm>
        </p:grpSpPr>
        <p:sp>
          <p:nvSpPr>
            <p:cNvPr name="Freeform 3" id="3"/>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4" id="4"/>
            <p:cNvSpPr txBox="true"/>
            <p:nvPr/>
          </p:nvSpPr>
          <p:spPr>
            <a:xfrm>
              <a:off x="0" y="-19050"/>
              <a:ext cx="21031200" cy="1299210"/>
            </a:xfrm>
            <a:prstGeom prst="rect">
              <a:avLst/>
            </a:prstGeom>
          </p:spPr>
          <p:txBody>
            <a:bodyPr anchor="ctr" rtlCol="false" tIns="0" lIns="0" bIns="0" rIns="0"/>
            <a:lstStyle/>
            <a:p>
              <a:pPr algn="l">
                <a:lnSpc>
                  <a:spcPts val="5400"/>
                </a:lnSpc>
              </a:pPr>
              <a:r>
                <a:rPr lang="en-US" sz="4500" b="true">
                  <a:solidFill>
                    <a:srgbClr val="1E2761"/>
                  </a:solidFill>
                  <a:latin typeface="Cambria Bold"/>
                  <a:ea typeface="Cambria Bold"/>
                  <a:cs typeface="Cambria Bold"/>
                  <a:sym typeface="Cambria Bold"/>
                </a:rPr>
                <a:t>Sample Request &amp; Response</a:t>
              </a:r>
            </a:p>
          </p:txBody>
        </p:sp>
      </p:grpSp>
      <p:grpSp>
        <p:nvGrpSpPr>
          <p:cNvPr name="Group 5" id="5"/>
          <p:cNvGrpSpPr/>
          <p:nvPr/>
        </p:nvGrpSpPr>
        <p:grpSpPr>
          <a:xfrm rot="0">
            <a:off x="822960" y="1371600"/>
            <a:ext cx="15773400" cy="548640"/>
            <a:chOff x="0" y="0"/>
            <a:chExt cx="21031200" cy="731520"/>
          </a:xfrm>
        </p:grpSpPr>
        <p:sp>
          <p:nvSpPr>
            <p:cNvPr name="Freeform 6" id="6"/>
            <p:cNvSpPr/>
            <p:nvPr/>
          </p:nvSpPr>
          <p:spPr>
            <a:xfrm flipH="false" flipV="false" rot="0">
              <a:off x="0" y="0"/>
              <a:ext cx="21031200" cy="731520"/>
            </a:xfrm>
            <a:custGeom>
              <a:avLst/>
              <a:gdLst/>
              <a:ahLst/>
              <a:cxnLst/>
              <a:rect r="r" b="b" t="t" l="l"/>
              <a:pathLst>
                <a:path h="731520" w="21031200">
                  <a:moveTo>
                    <a:pt x="0" y="0"/>
                  </a:moveTo>
                  <a:lnTo>
                    <a:pt x="21031200" y="0"/>
                  </a:lnTo>
                  <a:lnTo>
                    <a:pt x="21031200" y="731520"/>
                  </a:lnTo>
                  <a:lnTo>
                    <a:pt x="0" y="731520"/>
                  </a:lnTo>
                  <a:close/>
                </a:path>
              </a:pathLst>
            </a:custGeom>
            <a:blipFill>
              <a:blip r:embed="rId3">
                <a:alphaModFix amt="0"/>
              </a:blip>
              <a:stretch>
                <a:fillRect l="0" t="-510194" r="0" b="-510194"/>
              </a:stretch>
            </a:blipFill>
          </p:spPr>
        </p:sp>
        <p:sp>
          <p:nvSpPr>
            <p:cNvPr name="TextBox 7" id="7"/>
            <p:cNvSpPr txBox="true"/>
            <p:nvPr/>
          </p:nvSpPr>
          <p:spPr>
            <a:xfrm>
              <a:off x="0" y="-47625"/>
              <a:ext cx="21031200" cy="779145"/>
            </a:xfrm>
            <a:prstGeom prst="rect">
              <a:avLst/>
            </a:prstGeom>
          </p:spPr>
          <p:txBody>
            <a:bodyPr anchor="ctr" rtlCol="false" tIns="0" lIns="0" bIns="0" rIns="0"/>
            <a:lstStyle/>
            <a:p>
              <a:pPr algn="l">
                <a:lnSpc>
                  <a:spcPts val="2520"/>
                </a:lnSpc>
              </a:pPr>
              <a:r>
                <a:rPr lang="en-US" sz="2100">
                  <a:solidFill>
                    <a:srgbClr val="6B7290"/>
                  </a:solidFill>
                  <a:latin typeface="Calibri (MS)"/>
                  <a:ea typeface="Calibri (MS)"/>
                  <a:cs typeface="Calibri (MS)"/>
                  <a:sym typeface="Calibri (MS)"/>
                </a:rPr>
                <a:t>Create Prospect — POST /leads/</a:t>
              </a:r>
            </a:p>
          </p:txBody>
        </p:sp>
      </p:grpSp>
      <p:grpSp>
        <p:nvGrpSpPr>
          <p:cNvPr name="Group 8" id="8"/>
          <p:cNvGrpSpPr/>
          <p:nvPr/>
        </p:nvGrpSpPr>
        <p:grpSpPr>
          <a:xfrm rot="0">
            <a:off x="822960" y="2400300"/>
            <a:ext cx="8092440" cy="6789420"/>
            <a:chOff x="0" y="0"/>
            <a:chExt cx="10789920" cy="9052560"/>
          </a:xfrm>
        </p:grpSpPr>
        <p:sp>
          <p:nvSpPr>
            <p:cNvPr name="Freeform 9" id="9"/>
            <p:cNvSpPr/>
            <p:nvPr/>
          </p:nvSpPr>
          <p:spPr>
            <a:xfrm flipH="false" flipV="false" rot="0">
              <a:off x="0" y="0"/>
              <a:ext cx="10789920" cy="9052560"/>
            </a:xfrm>
            <a:custGeom>
              <a:avLst/>
              <a:gdLst/>
              <a:ahLst/>
              <a:cxnLst/>
              <a:rect r="r" b="b" t="t" l="l"/>
              <a:pathLst>
                <a:path h="9052560" w="10789920">
                  <a:moveTo>
                    <a:pt x="0" y="182880"/>
                  </a:moveTo>
                  <a:cubicBezTo>
                    <a:pt x="0" y="81915"/>
                    <a:pt x="81915" y="0"/>
                    <a:pt x="182880" y="0"/>
                  </a:cubicBezTo>
                  <a:lnTo>
                    <a:pt x="10607040" y="0"/>
                  </a:lnTo>
                  <a:cubicBezTo>
                    <a:pt x="10708005" y="0"/>
                    <a:pt x="10789920" y="81915"/>
                    <a:pt x="10789920" y="182880"/>
                  </a:cubicBezTo>
                  <a:lnTo>
                    <a:pt x="10789920" y="8869680"/>
                  </a:lnTo>
                  <a:cubicBezTo>
                    <a:pt x="10789920" y="8970645"/>
                    <a:pt x="10708005" y="9052560"/>
                    <a:pt x="10607040" y="9052560"/>
                  </a:cubicBezTo>
                  <a:lnTo>
                    <a:pt x="182880" y="9052560"/>
                  </a:lnTo>
                  <a:cubicBezTo>
                    <a:pt x="81915" y="9052560"/>
                    <a:pt x="0" y="8970645"/>
                    <a:pt x="0" y="8869680"/>
                  </a:cubicBezTo>
                  <a:close/>
                </a:path>
              </a:pathLst>
            </a:custGeom>
            <a:solidFill>
              <a:srgbClr val="141B4D"/>
            </a:solidFill>
          </p:spPr>
        </p:sp>
      </p:grpSp>
      <p:grpSp>
        <p:nvGrpSpPr>
          <p:cNvPr name="Group 10" id="10"/>
          <p:cNvGrpSpPr/>
          <p:nvPr/>
        </p:nvGrpSpPr>
        <p:grpSpPr>
          <a:xfrm rot="0">
            <a:off x="1303020" y="2715768"/>
            <a:ext cx="5486400" cy="480060"/>
            <a:chOff x="0" y="0"/>
            <a:chExt cx="7315200" cy="640080"/>
          </a:xfrm>
        </p:grpSpPr>
        <p:sp>
          <p:nvSpPr>
            <p:cNvPr name="Freeform 11" id="11"/>
            <p:cNvSpPr/>
            <p:nvPr/>
          </p:nvSpPr>
          <p:spPr>
            <a:xfrm flipH="false" flipV="false" rot="0">
              <a:off x="0" y="0"/>
              <a:ext cx="7315200" cy="640080"/>
            </a:xfrm>
            <a:custGeom>
              <a:avLst/>
              <a:gdLst/>
              <a:ahLst/>
              <a:cxnLst/>
              <a:rect r="r" b="b" t="t" l="l"/>
              <a:pathLst>
                <a:path h="640080" w="7315200">
                  <a:moveTo>
                    <a:pt x="0" y="0"/>
                  </a:moveTo>
                  <a:lnTo>
                    <a:pt x="7315200" y="0"/>
                  </a:lnTo>
                  <a:lnTo>
                    <a:pt x="7315200" y="640080"/>
                  </a:lnTo>
                  <a:lnTo>
                    <a:pt x="0" y="640080"/>
                  </a:lnTo>
                  <a:close/>
                </a:path>
              </a:pathLst>
            </a:custGeom>
            <a:blipFill>
              <a:blip r:embed="rId3">
                <a:alphaModFix amt="0"/>
              </a:blip>
              <a:stretch>
                <a:fillRect l="0" t="-172686" r="0" b="-172686"/>
              </a:stretch>
            </a:blipFill>
          </p:spPr>
        </p:sp>
        <p:sp>
          <p:nvSpPr>
            <p:cNvPr name="TextBox 12" id="12"/>
            <p:cNvSpPr txBox="true"/>
            <p:nvPr/>
          </p:nvSpPr>
          <p:spPr>
            <a:xfrm>
              <a:off x="0" y="-38100"/>
              <a:ext cx="7315200" cy="678180"/>
            </a:xfrm>
            <a:prstGeom prst="rect">
              <a:avLst/>
            </a:prstGeom>
          </p:spPr>
          <p:txBody>
            <a:bodyPr anchor="ctr" rtlCol="false" tIns="0" lIns="0" bIns="0" rIns="0"/>
            <a:lstStyle/>
            <a:p>
              <a:pPr algn="l">
                <a:lnSpc>
                  <a:spcPts val="2160"/>
                </a:lnSpc>
              </a:pPr>
              <a:r>
                <a:rPr lang="en-US" b="true" sz="1800" spc="225">
                  <a:solidFill>
                    <a:srgbClr val="3D5AFE"/>
                  </a:solidFill>
                  <a:latin typeface="Calibri (MS) Bold"/>
                  <a:ea typeface="Calibri (MS) Bold"/>
                  <a:cs typeface="Calibri (MS) Bold"/>
                  <a:sym typeface="Calibri (MS) Bold"/>
                </a:rPr>
                <a:t>REQUEST</a:t>
              </a:r>
            </a:p>
          </p:txBody>
        </p:sp>
      </p:grpSp>
      <p:grpSp>
        <p:nvGrpSpPr>
          <p:cNvPr name="Group 13" id="13"/>
          <p:cNvGrpSpPr/>
          <p:nvPr/>
        </p:nvGrpSpPr>
        <p:grpSpPr>
          <a:xfrm rot="0">
            <a:off x="1303020" y="3291840"/>
            <a:ext cx="7132320" cy="5349240"/>
            <a:chOff x="0" y="0"/>
            <a:chExt cx="9509760" cy="7132320"/>
          </a:xfrm>
        </p:grpSpPr>
        <p:sp>
          <p:nvSpPr>
            <p:cNvPr name="Freeform 14" id="14"/>
            <p:cNvSpPr/>
            <p:nvPr/>
          </p:nvSpPr>
          <p:spPr>
            <a:xfrm flipH="false" flipV="false" rot="0">
              <a:off x="0" y="0"/>
              <a:ext cx="9509760" cy="7132320"/>
            </a:xfrm>
            <a:custGeom>
              <a:avLst/>
              <a:gdLst/>
              <a:ahLst/>
              <a:cxnLst/>
              <a:rect r="r" b="b" t="t" l="l"/>
              <a:pathLst>
                <a:path h="7132320" w="9509760">
                  <a:moveTo>
                    <a:pt x="0" y="0"/>
                  </a:moveTo>
                  <a:lnTo>
                    <a:pt x="9509760" y="0"/>
                  </a:lnTo>
                  <a:lnTo>
                    <a:pt x="9509760" y="7132320"/>
                  </a:lnTo>
                  <a:lnTo>
                    <a:pt x="0" y="7132320"/>
                  </a:lnTo>
                  <a:close/>
                </a:path>
              </a:pathLst>
            </a:custGeom>
            <a:blipFill>
              <a:blip r:embed="rId3">
                <a:alphaModFix amt="0"/>
              </a:blip>
              <a:stretch>
                <a:fillRect l="-46227" t="0" r="-46227" b="0"/>
              </a:stretch>
            </a:blipFill>
          </p:spPr>
        </p:sp>
        <p:sp>
          <p:nvSpPr>
            <p:cNvPr name="TextBox 15" id="15"/>
            <p:cNvSpPr txBox="true"/>
            <p:nvPr/>
          </p:nvSpPr>
          <p:spPr>
            <a:xfrm>
              <a:off x="0" y="-66675"/>
              <a:ext cx="9509760" cy="7198995"/>
            </a:xfrm>
            <a:prstGeom prst="rect">
              <a:avLst/>
            </a:prstGeom>
          </p:spPr>
          <p:txBody>
            <a:bodyPr anchor="ctr" rtlCol="false" tIns="0" lIns="0" bIns="0" rIns="0"/>
            <a:lstStyle/>
            <a:p>
              <a:pPr algn="l">
                <a:lnSpc>
                  <a:spcPts val="2850"/>
                </a:lnSpc>
              </a:pPr>
              <a:r>
                <a:rPr lang="en-US" sz="1875">
                  <a:solidFill>
                    <a:srgbClr val="D8DEFA"/>
                  </a:solidFill>
                  <a:latin typeface="Courier New"/>
                  <a:ea typeface="Courier New"/>
                  <a:cs typeface="Courier New"/>
                  <a:sym typeface="Courier New"/>
                </a:rPr>
                <a:t>{</a:t>
              </a:r>
            </a:p>
            <a:p>
              <a:pPr algn="l">
                <a:lnSpc>
                  <a:spcPts val="2850"/>
                </a:lnSpc>
              </a:pPr>
              <a:r>
                <a:rPr lang="en-US" sz="1875">
                  <a:solidFill>
                    <a:srgbClr val="D8DEFA"/>
                  </a:solidFill>
                  <a:latin typeface="Courier New"/>
                  <a:ea typeface="Courier New"/>
                  <a:cs typeface="Courier New"/>
                  <a:sym typeface="Courier New"/>
                </a:rPr>
                <a:t>  "name": "Ravi Kumar",</a:t>
              </a:r>
            </a:p>
            <a:p>
              <a:pPr algn="l">
                <a:lnSpc>
                  <a:spcPts val="2850"/>
                </a:lnSpc>
              </a:pPr>
              <a:r>
                <a:rPr lang="en-US" sz="1875">
                  <a:solidFill>
                    <a:srgbClr val="D8DEFA"/>
                  </a:solidFill>
                  <a:latin typeface="Courier New"/>
                  <a:ea typeface="Courier New"/>
                  <a:cs typeface="Courier New"/>
                  <a:sym typeface="Courier New"/>
                </a:rPr>
                <a:t>  "company": "TechCorp",</a:t>
              </a:r>
            </a:p>
            <a:p>
              <a:pPr algn="l">
                <a:lnSpc>
                  <a:spcPts val="2850"/>
                </a:lnSpc>
              </a:pPr>
              <a:r>
                <a:rPr lang="en-US" sz="1875">
                  <a:solidFill>
                    <a:srgbClr val="D8DEFA"/>
                  </a:solidFill>
                  <a:latin typeface="Courier New"/>
                  <a:ea typeface="Courier New"/>
                  <a:cs typeface="Courier New"/>
                  <a:sym typeface="Courier New"/>
                </a:rPr>
                <a:t>  "email": "ravi@techcorp.com",</a:t>
              </a:r>
            </a:p>
            <a:p>
              <a:pPr algn="l">
                <a:lnSpc>
                  <a:spcPts val="2850"/>
                </a:lnSpc>
              </a:pPr>
              <a:r>
                <a:rPr lang="en-US" sz="1875">
                  <a:solidFill>
                    <a:srgbClr val="D8DEFA"/>
                  </a:solidFill>
                  <a:latin typeface="Courier New"/>
                  <a:ea typeface="Courier New"/>
                  <a:cs typeface="Courier New"/>
                  <a:sym typeface="Courier New"/>
                </a:rPr>
                <a:t>  "phone": "9000000001",</a:t>
              </a:r>
            </a:p>
            <a:p>
              <a:pPr algn="l">
                <a:lnSpc>
                  <a:spcPts val="2850"/>
                </a:lnSpc>
              </a:pPr>
              <a:r>
                <a:rPr lang="en-US" sz="1875">
                  <a:solidFill>
                    <a:srgbClr val="D8DEFA"/>
                  </a:solidFill>
                  <a:latin typeface="Courier New"/>
                  <a:ea typeface="Courier New"/>
                  <a:cs typeface="Courier New"/>
                  <a:sym typeface="Courier New"/>
                </a:rPr>
                <a:t>  "industry": "IT",</a:t>
              </a:r>
            </a:p>
            <a:p>
              <a:pPr algn="l">
                <a:lnSpc>
                  <a:spcPts val="2850"/>
                </a:lnSpc>
              </a:pPr>
              <a:r>
                <a:rPr lang="en-US" sz="1875">
                  <a:solidFill>
                    <a:srgbClr val="D8DEFA"/>
                  </a:solidFill>
                  <a:latin typeface="Courier New"/>
                  <a:ea typeface="Courier New"/>
                  <a:cs typeface="Courier New"/>
                  <a:sym typeface="Courier New"/>
                </a:rPr>
                <a:t>  "status": "New",</a:t>
              </a:r>
            </a:p>
            <a:p>
              <a:pPr algn="l">
                <a:lnSpc>
                  <a:spcPts val="2850"/>
                </a:lnSpc>
              </a:pPr>
              <a:r>
                <a:rPr lang="en-US" sz="1875">
                  <a:solidFill>
                    <a:srgbClr val="D8DEFA"/>
                  </a:solidFill>
                  <a:latin typeface="Courier New"/>
                  <a:ea typeface="Courier New"/>
                  <a:cs typeface="Courier New"/>
                  <a:sym typeface="Courier New"/>
                </a:rPr>
                <a:t>  "notes": "Interested in demo"</a:t>
              </a:r>
            </a:p>
            <a:p>
              <a:pPr algn="l">
                <a:lnSpc>
                  <a:spcPts val="2850"/>
                </a:lnSpc>
              </a:pPr>
              <a:r>
                <a:rPr lang="en-US" sz="1875">
                  <a:solidFill>
                    <a:srgbClr val="D8DEFA"/>
                  </a:solidFill>
                  <a:latin typeface="Courier New"/>
                  <a:ea typeface="Courier New"/>
                  <a:cs typeface="Courier New"/>
                  <a:sym typeface="Courier New"/>
                </a:rPr>
                <a:t>}</a:t>
              </a:r>
            </a:p>
          </p:txBody>
        </p:sp>
      </p:grpSp>
      <p:grpSp>
        <p:nvGrpSpPr>
          <p:cNvPr name="Group 16" id="16"/>
          <p:cNvGrpSpPr/>
          <p:nvPr/>
        </p:nvGrpSpPr>
        <p:grpSpPr>
          <a:xfrm rot="0">
            <a:off x="9326880" y="2400300"/>
            <a:ext cx="8092440" cy="6789420"/>
            <a:chOff x="0" y="0"/>
            <a:chExt cx="10789920" cy="9052560"/>
          </a:xfrm>
        </p:grpSpPr>
        <p:sp>
          <p:nvSpPr>
            <p:cNvPr name="Freeform 17" id="17"/>
            <p:cNvSpPr/>
            <p:nvPr/>
          </p:nvSpPr>
          <p:spPr>
            <a:xfrm flipH="false" flipV="false" rot="0">
              <a:off x="0" y="0"/>
              <a:ext cx="10789920" cy="9052560"/>
            </a:xfrm>
            <a:custGeom>
              <a:avLst/>
              <a:gdLst/>
              <a:ahLst/>
              <a:cxnLst/>
              <a:rect r="r" b="b" t="t" l="l"/>
              <a:pathLst>
                <a:path h="9052560" w="10789920">
                  <a:moveTo>
                    <a:pt x="0" y="182880"/>
                  </a:moveTo>
                  <a:cubicBezTo>
                    <a:pt x="0" y="81915"/>
                    <a:pt x="81915" y="0"/>
                    <a:pt x="182880" y="0"/>
                  </a:cubicBezTo>
                  <a:lnTo>
                    <a:pt x="10607040" y="0"/>
                  </a:lnTo>
                  <a:cubicBezTo>
                    <a:pt x="10708005" y="0"/>
                    <a:pt x="10789920" y="81915"/>
                    <a:pt x="10789920" y="182880"/>
                  </a:cubicBezTo>
                  <a:lnTo>
                    <a:pt x="10789920" y="8869680"/>
                  </a:lnTo>
                  <a:cubicBezTo>
                    <a:pt x="10789920" y="8970645"/>
                    <a:pt x="10708005" y="9052560"/>
                    <a:pt x="10607040" y="9052560"/>
                  </a:cubicBezTo>
                  <a:lnTo>
                    <a:pt x="182880" y="9052560"/>
                  </a:lnTo>
                  <a:cubicBezTo>
                    <a:pt x="81915" y="9052560"/>
                    <a:pt x="0" y="8970645"/>
                    <a:pt x="0" y="8869680"/>
                  </a:cubicBezTo>
                  <a:close/>
                </a:path>
              </a:pathLst>
            </a:custGeom>
            <a:solidFill>
              <a:srgbClr val="13361A"/>
            </a:solidFill>
          </p:spPr>
        </p:sp>
      </p:grpSp>
      <p:grpSp>
        <p:nvGrpSpPr>
          <p:cNvPr name="Group 18" id="18"/>
          <p:cNvGrpSpPr/>
          <p:nvPr/>
        </p:nvGrpSpPr>
        <p:grpSpPr>
          <a:xfrm rot="0">
            <a:off x="9806940" y="2715768"/>
            <a:ext cx="6172200" cy="480060"/>
            <a:chOff x="0" y="0"/>
            <a:chExt cx="8229600" cy="640080"/>
          </a:xfrm>
        </p:grpSpPr>
        <p:sp>
          <p:nvSpPr>
            <p:cNvPr name="Freeform 19" id="19"/>
            <p:cNvSpPr/>
            <p:nvPr/>
          </p:nvSpPr>
          <p:spPr>
            <a:xfrm flipH="false" flipV="false" rot="0">
              <a:off x="0" y="0"/>
              <a:ext cx="8229600" cy="640080"/>
            </a:xfrm>
            <a:custGeom>
              <a:avLst/>
              <a:gdLst/>
              <a:ahLst/>
              <a:cxnLst/>
              <a:rect r="r" b="b" t="t" l="l"/>
              <a:pathLst>
                <a:path h="640080" w="8229600">
                  <a:moveTo>
                    <a:pt x="0" y="0"/>
                  </a:moveTo>
                  <a:lnTo>
                    <a:pt x="8229600" y="0"/>
                  </a:lnTo>
                  <a:lnTo>
                    <a:pt x="8229600" y="640080"/>
                  </a:lnTo>
                  <a:lnTo>
                    <a:pt x="0" y="640080"/>
                  </a:lnTo>
                  <a:close/>
                </a:path>
              </a:pathLst>
            </a:custGeom>
            <a:blipFill>
              <a:blip r:embed="rId3">
                <a:alphaModFix amt="0"/>
              </a:blip>
              <a:stretch>
                <a:fillRect l="0" t="-200521" r="0" b="-200521"/>
              </a:stretch>
            </a:blipFill>
          </p:spPr>
        </p:sp>
        <p:sp>
          <p:nvSpPr>
            <p:cNvPr name="TextBox 20" id="20"/>
            <p:cNvSpPr txBox="true"/>
            <p:nvPr/>
          </p:nvSpPr>
          <p:spPr>
            <a:xfrm>
              <a:off x="0" y="-38100"/>
              <a:ext cx="8229600" cy="678180"/>
            </a:xfrm>
            <a:prstGeom prst="rect">
              <a:avLst/>
            </a:prstGeom>
          </p:spPr>
          <p:txBody>
            <a:bodyPr anchor="ctr" rtlCol="false" tIns="0" lIns="0" bIns="0" rIns="0"/>
            <a:lstStyle/>
            <a:p>
              <a:pPr algn="l">
                <a:lnSpc>
                  <a:spcPts val="2160"/>
                </a:lnSpc>
              </a:pPr>
              <a:r>
                <a:rPr lang="en-US" b="true" sz="1800" spc="149">
                  <a:solidFill>
                    <a:srgbClr val="6FCF7A"/>
                  </a:solidFill>
                  <a:latin typeface="Calibri (MS) Bold"/>
                  <a:ea typeface="Calibri (MS) Bold"/>
                  <a:cs typeface="Calibri (MS) Bold"/>
                  <a:sym typeface="Calibri (MS) Bold"/>
                </a:rPr>
                <a:t>RESPONSE  ·  200 OK</a:t>
              </a:r>
            </a:p>
          </p:txBody>
        </p:sp>
      </p:grpSp>
      <p:grpSp>
        <p:nvGrpSpPr>
          <p:cNvPr name="Group 21" id="21"/>
          <p:cNvGrpSpPr/>
          <p:nvPr/>
        </p:nvGrpSpPr>
        <p:grpSpPr>
          <a:xfrm rot="0">
            <a:off x="9806940" y="3291840"/>
            <a:ext cx="7132320" cy="5623560"/>
            <a:chOff x="0" y="0"/>
            <a:chExt cx="9509760" cy="7498080"/>
          </a:xfrm>
        </p:grpSpPr>
        <p:sp>
          <p:nvSpPr>
            <p:cNvPr name="Freeform 22" id="22"/>
            <p:cNvSpPr/>
            <p:nvPr/>
          </p:nvSpPr>
          <p:spPr>
            <a:xfrm flipH="false" flipV="false" rot="0">
              <a:off x="0" y="0"/>
              <a:ext cx="9509760" cy="7498080"/>
            </a:xfrm>
            <a:custGeom>
              <a:avLst/>
              <a:gdLst/>
              <a:ahLst/>
              <a:cxnLst/>
              <a:rect r="r" b="b" t="t" l="l"/>
              <a:pathLst>
                <a:path h="7498080" w="9509760">
                  <a:moveTo>
                    <a:pt x="0" y="0"/>
                  </a:moveTo>
                  <a:lnTo>
                    <a:pt x="9509760" y="0"/>
                  </a:lnTo>
                  <a:lnTo>
                    <a:pt x="9509760" y="7498080"/>
                  </a:lnTo>
                  <a:lnTo>
                    <a:pt x="0" y="7498080"/>
                  </a:lnTo>
                  <a:close/>
                </a:path>
              </a:pathLst>
            </a:custGeom>
            <a:blipFill>
              <a:blip r:embed="rId3">
                <a:alphaModFix amt="0"/>
              </a:blip>
              <a:stretch>
                <a:fillRect l="-51162" t="0" r="-51162" b="0"/>
              </a:stretch>
            </a:blipFill>
          </p:spPr>
        </p:sp>
        <p:sp>
          <p:nvSpPr>
            <p:cNvPr name="TextBox 23" id="23"/>
            <p:cNvSpPr txBox="true"/>
            <p:nvPr/>
          </p:nvSpPr>
          <p:spPr>
            <a:xfrm>
              <a:off x="0" y="-47625"/>
              <a:ext cx="9509760" cy="7545705"/>
            </a:xfrm>
            <a:prstGeom prst="rect">
              <a:avLst/>
            </a:prstGeom>
          </p:spPr>
          <p:txBody>
            <a:bodyPr anchor="ctr" rtlCol="false" tIns="0" lIns="0" bIns="0" rIns="0"/>
            <a:lstStyle/>
            <a:p>
              <a:pPr algn="l">
                <a:lnSpc>
                  <a:spcPts val="2550"/>
                </a:lnSpc>
              </a:pPr>
              <a:r>
                <a:rPr lang="en-US" sz="1800">
                  <a:solidFill>
                    <a:srgbClr val="CDEFD1"/>
                  </a:solidFill>
                  <a:latin typeface="Courier New"/>
                  <a:ea typeface="Courier New"/>
                  <a:cs typeface="Courier New"/>
                  <a:sym typeface="Courier New"/>
                </a:rPr>
                <a:t>{</a:t>
              </a:r>
            </a:p>
            <a:p>
              <a:pPr algn="l">
                <a:lnSpc>
                  <a:spcPts val="2550"/>
                </a:lnSpc>
              </a:pPr>
              <a:r>
                <a:rPr lang="en-US" sz="1800">
                  <a:solidFill>
                    <a:srgbClr val="CDEFD1"/>
                  </a:solidFill>
                  <a:latin typeface="Courier New"/>
                  <a:ea typeface="Courier New"/>
                  <a:cs typeface="Courier New"/>
                  <a:sym typeface="Courier New"/>
                </a:rPr>
                <a:t>  "id": 12,</a:t>
              </a:r>
            </a:p>
            <a:p>
              <a:pPr algn="l">
                <a:lnSpc>
                  <a:spcPts val="2550"/>
                </a:lnSpc>
              </a:pPr>
              <a:r>
                <a:rPr lang="en-US" sz="1800">
                  <a:solidFill>
                    <a:srgbClr val="CDEFD1"/>
                  </a:solidFill>
                  <a:latin typeface="Courier New"/>
                  <a:ea typeface="Courier New"/>
                  <a:cs typeface="Courier New"/>
                  <a:sym typeface="Courier New"/>
                </a:rPr>
                <a:t>  "name": "Ravi Kumar",</a:t>
              </a:r>
            </a:p>
            <a:p>
              <a:pPr algn="l">
                <a:lnSpc>
                  <a:spcPts val="2550"/>
                </a:lnSpc>
              </a:pPr>
              <a:r>
                <a:rPr lang="en-US" sz="1800">
                  <a:solidFill>
                    <a:srgbClr val="CDEFD1"/>
                  </a:solidFill>
                  <a:latin typeface="Courier New"/>
                  <a:ea typeface="Courier New"/>
                  <a:cs typeface="Courier New"/>
                  <a:sym typeface="Courier New"/>
                </a:rPr>
                <a:t>  "company": "TechCorp",</a:t>
              </a:r>
            </a:p>
            <a:p>
              <a:pPr algn="l">
                <a:lnSpc>
                  <a:spcPts val="2550"/>
                </a:lnSpc>
              </a:pPr>
              <a:r>
                <a:rPr lang="en-US" sz="1800">
                  <a:solidFill>
                    <a:srgbClr val="CDEFD1"/>
                  </a:solidFill>
                  <a:latin typeface="Courier New"/>
                  <a:ea typeface="Courier New"/>
                  <a:cs typeface="Courier New"/>
                  <a:sym typeface="Courier New"/>
                </a:rPr>
                <a:t>  "email": "ravi@techcorp.com",</a:t>
              </a:r>
            </a:p>
            <a:p>
              <a:pPr algn="l">
                <a:lnSpc>
                  <a:spcPts val="2550"/>
                </a:lnSpc>
              </a:pPr>
              <a:r>
                <a:rPr lang="en-US" sz="1800">
                  <a:solidFill>
                    <a:srgbClr val="CDEFD1"/>
                  </a:solidFill>
                  <a:latin typeface="Courier New"/>
                  <a:ea typeface="Courier New"/>
                  <a:cs typeface="Courier New"/>
                  <a:sym typeface="Courier New"/>
                </a:rPr>
                <a:t>  "phone": "9000000001",</a:t>
              </a:r>
            </a:p>
            <a:p>
              <a:pPr algn="l">
                <a:lnSpc>
                  <a:spcPts val="2550"/>
                </a:lnSpc>
              </a:pPr>
              <a:r>
                <a:rPr lang="en-US" sz="1800">
                  <a:solidFill>
                    <a:srgbClr val="CDEFD1"/>
                  </a:solidFill>
                  <a:latin typeface="Courier New"/>
                  <a:ea typeface="Courier New"/>
                  <a:cs typeface="Courier New"/>
                  <a:sym typeface="Courier New"/>
                </a:rPr>
                <a:t>  "industry": "IT",</a:t>
              </a:r>
            </a:p>
            <a:p>
              <a:pPr algn="l">
                <a:lnSpc>
                  <a:spcPts val="2550"/>
                </a:lnSpc>
              </a:pPr>
              <a:r>
                <a:rPr lang="en-US" sz="1800">
                  <a:solidFill>
                    <a:srgbClr val="CDEFD1"/>
                  </a:solidFill>
                  <a:latin typeface="Courier New"/>
                  <a:ea typeface="Courier New"/>
                  <a:cs typeface="Courier New"/>
                  <a:sym typeface="Courier New"/>
                </a:rPr>
                <a:t>  "status": "New",</a:t>
              </a:r>
            </a:p>
            <a:p>
              <a:pPr algn="l">
                <a:lnSpc>
                  <a:spcPts val="2550"/>
                </a:lnSpc>
              </a:pPr>
              <a:r>
                <a:rPr lang="en-US" sz="1800">
                  <a:solidFill>
                    <a:srgbClr val="CDEFD1"/>
                  </a:solidFill>
                  <a:latin typeface="Courier New"/>
                  <a:ea typeface="Courier New"/>
                  <a:cs typeface="Courier New"/>
                  <a:sym typeface="Courier New"/>
                </a:rPr>
                <a:t>  "notes": "Interested in demo",</a:t>
              </a:r>
            </a:p>
            <a:p>
              <a:pPr algn="l">
                <a:lnSpc>
                  <a:spcPts val="2550"/>
                </a:lnSpc>
              </a:pPr>
              <a:r>
                <a:rPr lang="en-US" sz="1800">
                  <a:solidFill>
                    <a:srgbClr val="CDEFD1"/>
                  </a:solidFill>
                  <a:latin typeface="Courier New"/>
                  <a:ea typeface="Courier New"/>
                  <a:cs typeface="Courier New"/>
                  <a:sym typeface="Courier New"/>
                </a:rPr>
                <a:t>  "created_at": "2026-07-23T10:15:00Z"</a:t>
              </a:r>
            </a:p>
            <a:p>
              <a:pPr algn="l">
                <a:lnSpc>
                  <a:spcPts val="2550"/>
                </a:lnSpc>
              </a:pPr>
              <a:r>
                <a:rPr lang="en-US" sz="1800">
                  <a:solidFill>
                    <a:srgbClr val="CDEFD1"/>
                  </a:solidFill>
                  <a:latin typeface="Courier New"/>
                  <a:ea typeface="Courier New"/>
                  <a:cs typeface="Courier New"/>
                  <a:sym typeface="Courier New"/>
                </a:rPr>
                <a:t>}</a:t>
              </a:r>
            </a:p>
          </p:txBody>
        </p:sp>
      </p:grpSp>
      <p:grpSp>
        <p:nvGrpSpPr>
          <p:cNvPr name="Group 24" id="24"/>
          <p:cNvGrpSpPr/>
          <p:nvPr/>
        </p:nvGrpSpPr>
        <p:grpSpPr>
          <a:xfrm rot="0">
            <a:off x="685800" y="9710928"/>
            <a:ext cx="9601200" cy="411480"/>
            <a:chOff x="0" y="0"/>
            <a:chExt cx="12801600" cy="548640"/>
          </a:xfrm>
        </p:grpSpPr>
        <p:sp>
          <p:nvSpPr>
            <p:cNvPr name="Freeform 25" id="25"/>
            <p:cNvSpPr/>
            <p:nvPr/>
          </p:nvSpPr>
          <p:spPr>
            <a:xfrm flipH="false" flipV="false" rot="0">
              <a:off x="0" y="0"/>
              <a:ext cx="12801600" cy="548640"/>
            </a:xfrm>
            <a:custGeom>
              <a:avLst/>
              <a:gdLst/>
              <a:ahLst/>
              <a:cxnLst/>
              <a:rect r="r" b="b" t="t" l="l"/>
              <a:pathLst>
                <a:path h="548640" w="12801600">
                  <a:moveTo>
                    <a:pt x="0" y="0"/>
                  </a:moveTo>
                  <a:lnTo>
                    <a:pt x="12801600" y="0"/>
                  </a:lnTo>
                  <a:lnTo>
                    <a:pt x="12801600" y="548640"/>
                  </a:lnTo>
                  <a:lnTo>
                    <a:pt x="0" y="548640"/>
                  </a:lnTo>
                  <a:close/>
                </a:path>
              </a:pathLst>
            </a:custGeom>
            <a:blipFill>
              <a:blip r:embed="rId3">
                <a:alphaModFix amt="0"/>
              </a:blip>
              <a:stretch>
                <a:fillRect l="0" t="-404650" r="0" b="-404650"/>
              </a:stretch>
            </a:blipFill>
          </p:spPr>
        </p:sp>
        <p:sp>
          <p:nvSpPr>
            <p:cNvPr name="TextBox 26" id="26"/>
            <p:cNvSpPr txBox="true"/>
            <p:nvPr/>
          </p:nvSpPr>
          <p:spPr>
            <a:xfrm>
              <a:off x="0" y="-38100"/>
              <a:ext cx="12801600" cy="586740"/>
            </a:xfrm>
            <a:prstGeom prst="rect">
              <a:avLst/>
            </a:prstGeom>
          </p:spPr>
          <p:txBody>
            <a:bodyPr anchor="ctr" rtlCol="false" tIns="0" lIns="0" bIns="0" rIns="0"/>
            <a:lstStyle/>
            <a:p>
              <a:pPr algn="l">
                <a:lnSpc>
                  <a:spcPts val="1800"/>
                </a:lnSpc>
              </a:pPr>
              <a:r>
                <a:rPr lang="en-US" sz="1500">
                  <a:solidFill>
                    <a:srgbClr val="6B7290"/>
                  </a:solidFill>
                  <a:latin typeface="Calibri (MS)"/>
                  <a:ea typeface="Calibri (MS)"/>
                  <a:cs typeface="Calibri (MS)"/>
                  <a:sym typeface="Calibri (MS)"/>
                </a:rPr>
                <a:t>SalesGenie  |  Module 1 – Prospect CRUD API</a:t>
              </a:r>
            </a:p>
          </p:txBody>
        </p:sp>
      </p:grpSp>
      <p:grpSp>
        <p:nvGrpSpPr>
          <p:cNvPr name="Group 27" id="27"/>
          <p:cNvGrpSpPr/>
          <p:nvPr/>
        </p:nvGrpSpPr>
        <p:grpSpPr>
          <a:xfrm rot="0">
            <a:off x="16911828" y="9710928"/>
            <a:ext cx="685800" cy="411480"/>
            <a:chOff x="0" y="0"/>
            <a:chExt cx="914400" cy="548640"/>
          </a:xfrm>
        </p:grpSpPr>
        <p:sp>
          <p:nvSpPr>
            <p:cNvPr name="Freeform 28" id="2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9" id="29"/>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90"/>
                  </a:solidFill>
                  <a:latin typeface="Calibri (MS)"/>
                  <a:ea typeface="Calibri (MS)"/>
                  <a:cs typeface="Calibri (MS)"/>
                  <a:sym typeface="Calibri (MS)"/>
                </a:rPr>
                <a:t>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15773400" cy="960120"/>
            <a:chOff x="0" y="0"/>
            <a:chExt cx="21031200" cy="1280160"/>
          </a:xfrm>
        </p:grpSpPr>
        <p:sp>
          <p:nvSpPr>
            <p:cNvPr name="Freeform 3" id="3"/>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4" id="4"/>
            <p:cNvSpPr txBox="true"/>
            <p:nvPr/>
          </p:nvSpPr>
          <p:spPr>
            <a:xfrm>
              <a:off x="0" y="-19050"/>
              <a:ext cx="21031200" cy="1299210"/>
            </a:xfrm>
            <a:prstGeom prst="rect">
              <a:avLst/>
            </a:prstGeom>
          </p:spPr>
          <p:txBody>
            <a:bodyPr anchor="ctr" rtlCol="false" tIns="0" lIns="0" bIns="0" rIns="0"/>
            <a:lstStyle/>
            <a:p>
              <a:pPr algn="l">
                <a:lnSpc>
                  <a:spcPts val="5400"/>
                </a:lnSpc>
              </a:pPr>
              <a:r>
                <a:rPr lang="en-US" sz="4500" b="true">
                  <a:solidFill>
                    <a:srgbClr val="1E2761"/>
                  </a:solidFill>
                  <a:latin typeface="Cambria Bold"/>
                  <a:ea typeface="Cambria Bold"/>
                  <a:cs typeface="Cambria Bold"/>
                  <a:sym typeface="Cambria Bold"/>
                </a:rPr>
                <a:t>Project Structure</a:t>
              </a:r>
            </a:p>
          </p:txBody>
        </p:sp>
      </p:grpSp>
      <p:grpSp>
        <p:nvGrpSpPr>
          <p:cNvPr name="Group 5" id="5"/>
          <p:cNvGrpSpPr/>
          <p:nvPr/>
        </p:nvGrpSpPr>
        <p:grpSpPr>
          <a:xfrm rot="0">
            <a:off x="822960" y="1371600"/>
            <a:ext cx="15773400" cy="548640"/>
            <a:chOff x="0" y="0"/>
            <a:chExt cx="21031200" cy="731520"/>
          </a:xfrm>
        </p:grpSpPr>
        <p:sp>
          <p:nvSpPr>
            <p:cNvPr name="Freeform 6" id="6"/>
            <p:cNvSpPr/>
            <p:nvPr/>
          </p:nvSpPr>
          <p:spPr>
            <a:xfrm flipH="false" flipV="false" rot="0">
              <a:off x="0" y="0"/>
              <a:ext cx="21031200" cy="731520"/>
            </a:xfrm>
            <a:custGeom>
              <a:avLst/>
              <a:gdLst/>
              <a:ahLst/>
              <a:cxnLst/>
              <a:rect r="r" b="b" t="t" l="l"/>
              <a:pathLst>
                <a:path h="731520" w="21031200">
                  <a:moveTo>
                    <a:pt x="0" y="0"/>
                  </a:moveTo>
                  <a:lnTo>
                    <a:pt x="21031200" y="0"/>
                  </a:lnTo>
                  <a:lnTo>
                    <a:pt x="21031200" y="731520"/>
                  </a:lnTo>
                  <a:lnTo>
                    <a:pt x="0" y="731520"/>
                  </a:lnTo>
                  <a:close/>
                </a:path>
              </a:pathLst>
            </a:custGeom>
            <a:blipFill>
              <a:blip r:embed="rId3">
                <a:alphaModFix amt="0"/>
              </a:blip>
              <a:stretch>
                <a:fillRect l="0" t="-510194" r="0" b="-510194"/>
              </a:stretch>
            </a:blipFill>
          </p:spPr>
        </p:sp>
        <p:sp>
          <p:nvSpPr>
            <p:cNvPr name="TextBox 7" id="7"/>
            <p:cNvSpPr txBox="true"/>
            <p:nvPr/>
          </p:nvSpPr>
          <p:spPr>
            <a:xfrm>
              <a:off x="0" y="-47625"/>
              <a:ext cx="21031200" cy="779145"/>
            </a:xfrm>
            <a:prstGeom prst="rect">
              <a:avLst/>
            </a:prstGeom>
          </p:spPr>
          <p:txBody>
            <a:bodyPr anchor="ctr" rtlCol="false" tIns="0" lIns="0" bIns="0" rIns="0"/>
            <a:lstStyle/>
            <a:p>
              <a:pPr algn="l">
                <a:lnSpc>
                  <a:spcPts val="2520"/>
                </a:lnSpc>
              </a:pPr>
              <a:r>
                <a:rPr lang="en-US" sz="2100">
                  <a:solidFill>
                    <a:srgbClr val="6B7290"/>
                  </a:solidFill>
                  <a:latin typeface="Calibri (MS)"/>
                  <a:ea typeface="Calibri (MS)"/>
                  <a:cs typeface="Calibri (MS)"/>
                  <a:sym typeface="Calibri (MS)"/>
                </a:rPr>
                <a:t>Backend folder layout</a:t>
              </a:r>
            </a:p>
          </p:txBody>
        </p:sp>
      </p:grpSp>
      <p:grpSp>
        <p:nvGrpSpPr>
          <p:cNvPr name="Group 8" id="8"/>
          <p:cNvGrpSpPr/>
          <p:nvPr/>
        </p:nvGrpSpPr>
        <p:grpSpPr>
          <a:xfrm rot="0">
            <a:off x="822960" y="2400300"/>
            <a:ext cx="8641080" cy="6789420"/>
            <a:chOff x="0" y="0"/>
            <a:chExt cx="11521440" cy="9052560"/>
          </a:xfrm>
        </p:grpSpPr>
        <p:sp>
          <p:nvSpPr>
            <p:cNvPr name="Freeform 9" id="9"/>
            <p:cNvSpPr/>
            <p:nvPr/>
          </p:nvSpPr>
          <p:spPr>
            <a:xfrm flipH="false" flipV="false" rot="0">
              <a:off x="0" y="0"/>
              <a:ext cx="11521440" cy="9052560"/>
            </a:xfrm>
            <a:custGeom>
              <a:avLst/>
              <a:gdLst/>
              <a:ahLst/>
              <a:cxnLst/>
              <a:rect r="r" b="b" t="t" l="l"/>
              <a:pathLst>
                <a:path h="9052560" w="11521440">
                  <a:moveTo>
                    <a:pt x="0" y="182880"/>
                  </a:moveTo>
                  <a:cubicBezTo>
                    <a:pt x="0" y="81915"/>
                    <a:pt x="81915" y="0"/>
                    <a:pt x="182880" y="0"/>
                  </a:cubicBezTo>
                  <a:lnTo>
                    <a:pt x="11338560" y="0"/>
                  </a:lnTo>
                  <a:cubicBezTo>
                    <a:pt x="11439525" y="0"/>
                    <a:pt x="11521440" y="81915"/>
                    <a:pt x="11521440" y="182880"/>
                  </a:cubicBezTo>
                  <a:lnTo>
                    <a:pt x="11521440" y="8869680"/>
                  </a:lnTo>
                  <a:cubicBezTo>
                    <a:pt x="11521440" y="8970645"/>
                    <a:pt x="11439525" y="9052560"/>
                    <a:pt x="11338560" y="9052560"/>
                  </a:cubicBezTo>
                  <a:lnTo>
                    <a:pt x="182880" y="9052560"/>
                  </a:lnTo>
                  <a:cubicBezTo>
                    <a:pt x="81915" y="9052560"/>
                    <a:pt x="0" y="8970645"/>
                    <a:pt x="0" y="8869680"/>
                  </a:cubicBezTo>
                  <a:close/>
                </a:path>
              </a:pathLst>
            </a:custGeom>
            <a:solidFill>
              <a:srgbClr val="141B4D"/>
            </a:solidFill>
          </p:spPr>
        </p:sp>
      </p:grpSp>
      <p:grpSp>
        <p:nvGrpSpPr>
          <p:cNvPr name="Group 10" id="10"/>
          <p:cNvGrpSpPr/>
          <p:nvPr/>
        </p:nvGrpSpPr>
        <p:grpSpPr>
          <a:xfrm rot="0">
            <a:off x="1303020" y="2743200"/>
            <a:ext cx="7818120" cy="6172200"/>
            <a:chOff x="0" y="0"/>
            <a:chExt cx="10424160" cy="8229600"/>
          </a:xfrm>
        </p:grpSpPr>
        <p:sp>
          <p:nvSpPr>
            <p:cNvPr name="Freeform 11" id="11"/>
            <p:cNvSpPr/>
            <p:nvPr/>
          </p:nvSpPr>
          <p:spPr>
            <a:xfrm flipH="false" flipV="false" rot="0">
              <a:off x="0" y="0"/>
              <a:ext cx="10424160" cy="8229600"/>
            </a:xfrm>
            <a:custGeom>
              <a:avLst/>
              <a:gdLst/>
              <a:ahLst/>
              <a:cxnLst/>
              <a:rect r="r" b="b" t="t" l="l"/>
              <a:pathLst>
                <a:path h="8229600" w="10424160">
                  <a:moveTo>
                    <a:pt x="0" y="0"/>
                  </a:moveTo>
                  <a:lnTo>
                    <a:pt x="10424160" y="0"/>
                  </a:lnTo>
                  <a:lnTo>
                    <a:pt x="10424160" y="8229600"/>
                  </a:lnTo>
                  <a:lnTo>
                    <a:pt x="0" y="8229600"/>
                  </a:lnTo>
                  <a:close/>
                </a:path>
              </a:pathLst>
            </a:custGeom>
            <a:blipFill>
              <a:blip r:embed="rId3">
                <a:alphaModFix amt="0"/>
              </a:blip>
              <a:stretch>
                <a:fillRect l="-51292" t="0" r="-51292" b="0"/>
              </a:stretch>
            </a:blipFill>
          </p:spPr>
        </p:sp>
        <p:sp>
          <p:nvSpPr>
            <p:cNvPr name="TextBox 12" id="12"/>
            <p:cNvSpPr txBox="true"/>
            <p:nvPr/>
          </p:nvSpPr>
          <p:spPr>
            <a:xfrm>
              <a:off x="0" y="-38100"/>
              <a:ext cx="10424160" cy="8267700"/>
            </a:xfrm>
            <a:prstGeom prst="rect">
              <a:avLst/>
            </a:prstGeom>
          </p:spPr>
          <p:txBody>
            <a:bodyPr anchor="ctr" rtlCol="false" tIns="0" lIns="0" bIns="0" rIns="0"/>
            <a:lstStyle/>
            <a:p>
              <a:pPr algn="l">
                <a:lnSpc>
                  <a:spcPts val="2550"/>
                </a:lnSpc>
              </a:pPr>
              <a:r>
                <a:rPr lang="en-US" sz="1875">
                  <a:solidFill>
                    <a:srgbClr val="CADCFC"/>
                  </a:solidFill>
                  <a:latin typeface="Courier New"/>
                  <a:ea typeface="Courier New"/>
                  <a:cs typeface="Courier New"/>
                  <a:sym typeface="Courier New"/>
                </a:rPr>
                <a:t>salesgenie/</a:t>
              </a:r>
            </a:p>
            <a:p>
              <a:pPr algn="l">
                <a:lnSpc>
                  <a:spcPts val="2550"/>
                </a:lnSpc>
              </a:pPr>
              <a:r>
                <a:rPr lang="en-US" sz="1875">
                  <a:solidFill>
                    <a:srgbClr val="CADCFC"/>
                  </a:solidFill>
                  <a:latin typeface="Courier New"/>
                  <a:ea typeface="Courier New"/>
                  <a:cs typeface="Courier New"/>
                  <a:sym typeface="Courier New"/>
                </a:rPr>
                <a:t>├── database/</a:t>
              </a:r>
            </a:p>
            <a:p>
              <a:pPr algn="l">
                <a:lnSpc>
                  <a:spcPts val="2550"/>
                </a:lnSpc>
              </a:pPr>
              <a:r>
                <a:rPr lang="en-US" sz="1875">
                  <a:solidFill>
                    <a:srgbClr val="CADCFC"/>
                  </a:solidFill>
                  <a:latin typeface="Courier New"/>
                  <a:ea typeface="Courier New"/>
                  <a:cs typeface="Courier New"/>
                  <a:sym typeface="Courier New"/>
                </a:rPr>
                <a:t>│   ├── __init__.py</a:t>
              </a:r>
            </a:p>
            <a:p>
              <a:pPr algn="l">
                <a:lnSpc>
                  <a:spcPts val="2550"/>
                </a:lnSpc>
              </a:pPr>
              <a:r>
                <a:rPr lang="en-US" sz="1875">
                  <a:solidFill>
                    <a:srgbClr val="CADCFC"/>
                  </a:solidFill>
                  <a:latin typeface="Courier New"/>
                  <a:ea typeface="Courier New"/>
                  <a:cs typeface="Courier New"/>
                  <a:sym typeface="Courier New"/>
                </a:rPr>
                <a:t>│   ├── connection.py</a:t>
              </a:r>
            </a:p>
            <a:p>
              <a:pPr algn="l">
                <a:lnSpc>
                  <a:spcPts val="2550"/>
                </a:lnSpc>
              </a:pPr>
              <a:r>
                <a:rPr lang="en-US" sz="1875">
                  <a:solidFill>
                    <a:srgbClr val="CADCFC"/>
                  </a:solidFill>
                  <a:latin typeface="Courier New"/>
                  <a:ea typeface="Courier New"/>
                  <a:cs typeface="Courier New"/>
                  <a:sym typeface="Courier New"/>
                </a:rPr>
                <a:t>│   └── models.py</a:t>
              </a:r>
            </a:p>
            <a:p>
              <a:pPr algn="l">
                <a:lnSpc>
                  <a:spcPts val="2550"/>
                </a:lnSpc>
              </a:pPr>
              <a:r>
                <a:rPr lang="en-US" sz="1875">
                  <a:solidFill>
                    <a:srgbClr val="CADCFC"/>
                  </a:solidFill>
                  <a:latin typeface="Courier New"/>
                  <a:ea typeface="Courier New"/>
                  <a:cs typeface="Courier New"/>
                  <a:sym typeface="Courier New"/>
                </a:rPr>
                <a:t>│</a:t>
              </a:r>
            </a:p>
            <a:p>
              <a:pPr algn="l">
                <a:lnSpc>
                  <a:spcPts val="2550"/>
                </a:lnSpc>
              </a:pPr>
              <a:r>
                <a:rPr lang="en-US" sz="1875">
                  <a:solidFill>
                    <a:srgbClr val="CADCFC"/>
                  </a:solidFill>
                  <a:latin typeface="Courier New"/>
                  <a:ea typeface="Courier New"/>
                  <a:cs typeface="Courier New"/>
                  <a:sym typeface="Courier New"/>
                </a:rPr>
                <a:t>├── modules/</a:t>
              </a:r>
            </a:p>
            <a:p>
              <a:pPr algn="l">
                <a:lnSpc>
                  <a:spcPts val="2550"/>
                </a:lnSpc>
              </a:pPr>
              <a:r>
                <a:rPr lang="en-US" sz="1875">
                  <a:solidFill>
                    <a:srgbClr val="CADCFC"/>
                  </a:solidFill>
                  <a:latin typeface="Courier New"/>
                  <a:ea typeface="Courier New"/>
                  <a:cs typeface="Courier New"/>
                  <a:sym typeface="Courier New"/>
                </a:rPr>
                <a:t>│   ├── __init__.py</a:t>
              </a:r>
            </a:p>
            <a:p>
              <a:pPr algn="l">
                <a:lnSpc>
                  <a:spcPts val="2550"/>
                </a:lnSpc>
              </a:pPr>
              <a:r>
                <a:rPr lang="en-US" sz="1875">
                  <a:solidFill>
                    <a:srgbClr val="CADCFC"/>
                  </a:solidFill>
                  <a:latin typeface="Courier New"/>
                  <a:ea typeface="Courier New"/>
                  <a:cs typeface="Courier New"/>
                  <a:sym typeface="Courier New"/>
                </a:rPr>
                <a:t>│   ├── module1_leads.py   ← Prospect CRUD</a:t>
              </a:r>
            </a:p>
            <a:p>
              <a:pPr algn="l">
                <a:lnSpc>
                  <a:spcPts val="2550"/>
                </a:lnSpc>
              </a:pPr>
              <a:r>
                <a:rPr lang="en-US" sz="1875">
                  <a:solidFill>
                    <a:srgbClr val="CADCFC"/>
                  </a:solidFill>
                  <a:latin typeface="Courier New"/>
                  <a:ea typeface="Courier New"/>
                  <a:cs typeface="Courier New"/>
                  <a:sym typeface="Courier New"/>
                </a:rPr>
                <a:t>│   ├── module2_analysis.py</a:t>
              </a:r>
            </a:p>
            <a:p>
              <a:pPr algn="l">
                <a:lnSpc>
                  <a:spcPts val="2550"/>
                </a:lnSpc>
              </a:pPr>
              <a:r>
                <a:rPr lang="en-US" sz="1875">
                  <a:solidFill>
                    <a:srgbClr val="CADCFC"/>
                  </a:solidFill>
                  <a:latin typeface="Courier New"/>
                  <a:ea typeface="Courier New"/>
                  <a:cs typeface="Courier New"/>
                  <a:sym typeface="Courier New"/>
                </a:rPr>
                <a:t>│   ├── module3_email.py</a:t>
              </a:r>
            </a:p>
            <a:p>
              <a:pPr algn="l">
                <a:lnSpc>
                  <a:spcPts val="2550"/>
                </a:lnSpc>
              </a:pPr>
              <a:r>
                <a:rPr lang="en-US" sz="1875">
                  <a:solidFill>
                    <a:srgbClr val="CADCFC"/>
                  </a:solidFill>
                  <a:latin typeface="Courier New"/>
                  <a:ea typeface="Courier New"/>
                  <a:cs typeface="Courier New"/>
                  <a:sym typeface="Courier New"/>
                </a:rPr>
                <a:t>│   ├── module4_scoring.py</a:t>
              </a:r>
            </a:p>
            <a:p>
              <a:pPr algn="l">
                <a:lnSpc>
                  <a:spcPts val="2550"/>
                </a:lnSpc>
              </a:pPr>
              <a:r>
                <a:rPr lang="en-US" sz="1875">
                  <a:solidFill>
                    <a:srgbClr val="CADCFC"/>
                  </a:solidFill>
                  <a:latin typeface="Courier New"/>
                  <a:ea typeface="Courier New"/>
                  <a:cs typeface="Courier New"/>
                  <a:sym typeface="Courier New"/>
                </a:rPr>
                <a:t>│   ├── module5_summary.py</a:t>
              </a:r>
            </a:p>
            <a:p>
              <a:pPr algn="l">
                <a:lnSpc>
                  <a:spcPts val="2550"/>
                </a:lnSpc>
              </a:pPr>
              <a:r>
                <a:rPr lang="en-US" sz="1875">
                  <a:solidFill>
                    <a:srgbClr val="CADCFC"/>
                  </a:solidFill>
                  <a:latin typeface="Courier New"/>
                  <a:ea typeface="Courier New"/>
                  <a:cs typeface="Courier New"/>
                  <a:sym typeface="Courier New"/>
                </a:rPr>
                <a:t>│   └── module6_dashboard.py</a:t>
              </a:r>
            </a:p>
            <a:p>
              <a:pPr algn="l">
                <a:lnSpc>
                  <a:spcPts val="2550"/>
                </a:lnSpc>
              </a:pPr>
              <a:r>
                <a:rPr lang="en-US" sz="1875">
                  <a:solidFill>
                    <a:srgbClr val="CADCFC"/>
                  </a:solidFill>
                  <a:latin typeface="Courier New"/>
                  <a:ea typeface="Courier New"/>
                  <a:cs typeface="Courier New"/>
                  <a:sym typeface="Courier New"/>
                </a:rPr>
                <a:t>│</a:t>
              </a:r>
            </a:p>
            <a:p>
              <a:pPr algn="l">
                <a:lnSpc>
                  <a:spcPts val="2550"/>
                </a:lnSpc>
              </a:pPr>
              <a:r>
                <a:rPr lang="en-US" sz="1875">
                  <a:solidFill>
                    <a:srgbClr val="CADCFC"/>
                  </a:solidFill>
                  <a:latin typeface="Courier New"/>
                  <a:ea typeface="Courier New"/>
                  <a:cs typeface="Courier New"/>
                  <a:sym typeface="Courier New"/>
                </a:rPr>
                <a:t>├── .env</a:t>
              </a:r>
            </a:p>
            <a:p>
              <a:pPr algn="l">
                <a:lnSpc>
                  <a:spcPts val="2550"/>
                </a:lnSpc>
              </a:pPr>
              <a:r>
                <a:rPr lang="en-US" sz="1875">
                  <a:solidFill>
                    <a:srgbClr val="CADCFC"/>
                  </a:solidFill>
                  <a:latin typeface="Courier New"/>
                  <a:ea typeface="Courier New"/>
                  <a:cs typeface="Courier New"/>
                  <a:sym typeface="Courier New"/>
                </a:rPr>
                <a:t>├── main.py</a:t>
              </a:r>
            </a:p>
            <a:p>
              <a:pPr algn="l">
                <a:lnSpc>
                  <a:spcPts val="2550"/>
                </a:lnSpc>
              </a:pPr>
              <a:r>
                <a:rPr lang="en-US" sz="1875">
                  <a:solidFill>
                    <a:srgbClr val="CADCFC"/>
                  </a:solidFill>
                  <a:latin typeface="Courier New"/>
                  <a:ea typeface="Courier New"/>
                  <a:cs typeface="Courier New"/>
                  <a:sym typeface="Courier New"/>
                </a:rPr>
                <a:t>├── app.py</a:t>
              </a:r>
            </a:p>
            <a:p>
              <a:pPr algn="l">
                <a:lnSpc>
                  <a:spcPts val="2550"/>
                </a:lnSpc>
              </a:pPr>
              <a:r>
                <a:rPr lang="en-US" sz="1875">
                  <a:solidFill>
                    <a:srgbClr val="CADCFC"/>
                  </a:solidFill>
                  <a:latin typeface="Courier New"/>
                  <a:ea typeface="Courier New"/>
                  <a:cs typeface="Courier New"/>
                  <a:sym typeface="Courier New"/>
                </a:rPr>
                <a:t>└── requirements.txt</a:t>
              </a:r>
            </a:p>
          </p:txBody>
        </p:sp>
      </p:grpSp>
      <p:grpSp>
        <p:nvGrpSpPr>
          <p:cNvPr name="Group 13" id="13"/>
          <p:cNvGrpSpPr/>
          <p:nvPr/>
        </p:nvGrpSpPr>
        <p:grpSpPr>
          <a:xfrm rot="0">
            <a:off x="9944100" y="2400300"/>
            <a:ext cx="7406640" cy="548640"/>
            <a:chOff x="0" y="0"/>
            <a:chExt cx="9875520" cy="731520"/>
          </a:xfrm>
        </p:grpSpPr>
        <p:sp>
          <p:nvSpPr>
            <p:cNvPr name="Freeform 14" id="14"/>
            <p:cNvSpPr/>
            <p:nvPr/>
          </p:nvSpPr>
          <p:spPr>
            <a:xfrm flipH="false" flipV="false" rot="0">
              <a:off x="0" y="0"/>
              <a:ext cx="9875520" cy="731520"/>
            </a:xfrm>
            <a:custGeom>
              <a:avLst/>
              <a:gdLst/>
              <a:ahLst/>
              <a:cxnLst/>
              <a:rect r="r" b="b" t="t" l="l"/>
              <a:pathLst>
                <a:path h="731520" w="9875520">
                  <a:moveTo>
                    <a:pt x="0" y="0"/>
                  </a:moveTo>
                  <a:lnTo>
                    <a:pt x="9875520" y="0"/>
                  </a:lnTo>
                  <a:lnTo>
                    <a:pt x="9875520" y="731520"/>
                  </a:lnTo>
                  <a:lnTo>
                    <a:pt x="0" y="731520"/>
                  </a:lnTo>
                  <a:close/>
                </a:path>
              </a:pathLst>
            </a:custGeom>
            <a:blipFill>
              <a:blip r:embed="rId3">
                <a:alphaModFix amt="0"/>
              </a:blip>
              <a:stretch>
                <a:fillRect l="0" t="-213048" r="0" b="-213048"/>
              </a:stretch>
            </a:blipFill>
          </p:spPr>
        </p:sp>
        <p:sp>
          <p:nvSpPr>
            <p:cNvPr name="TextBox 15" id="15"/>
            <p:cNvSpPr txBox="true"/>
            <p:nvPr/>
          </p:nvSpPr>
          <p:spPr>
            <a:xfrm>
              <a:off x="0" y="-38100"/>
              <a:ext cx="9875520" cy="769620"/>
            </a:xfrm>
            <a:prstGeom prst="rect">
              <a:avLst/>
            </a:prstGeom>
          </p:spPr>
          <p:txBody>
            <a:bodyPr anchor="ctr" rtlCol="false" tIns="0" lIns="0" bIns="0" rIns="0"/>
            <a:lstStyle/>
            <a:p>
              <a:pPr algn="l">
                <a:lnSpc>
                  <a:spcPts val="2879"/>
                </a:lnSpc>
              </a:pPr>
              <a:r>
                <a:rPr lang="en-US" sz="2400" b="true">
                  <a:solidFill>
                    <a:srgbClr val="1E2761"/>
                  </a:solidFill>
                  <a:latin typeface="Calibri (MS) Bold"/>
                  <a:ea typeface="Calibri (MS) Bold"/>
                  <a:cs typeface="Calibri (MS) Bold"/>
                  <a:sym typeface="Calibri (MS) Bold"/>
                </a:rPr>
                <a:t>What Lives Where</a:t>
              </a:r>
            </a:p>
          </p:txBody>
        </p:sp>
      </p:grpSp>
      <p:grpSp>
        <p:nvGrpSpPr>
          <p:cNvPr name="Group 16" id="16"/>
          <p:cNvGrpSpPr/>
          <p:nvPr/>
        </p:nvGrpSpPr>
        <p:grpSpPr>
          <a:xfrm rot="0">
            <a:off x="9944100" y="3223260"/>
            <a:ext cx="7406640" cy="5486400"/>
            <a:chOff x="0" y="0"/>
            <a:chExt cx="9875520" cy="7315200"/>
          </a:xfrm>
        </p:grpSpPr>
        <p:sp>
          <p:nvSpPr>
            <p:cNvPr name="Freeform 17" id="17"/>
            <p:cNvSpPr/>
            <p:nvPr/>
          </p:nvSpPr>
          <p:spPr>
            <a:xfrm flipH="false" flipV="false" rot="0">
              <a:off x="0" y="0"/>
              <a:ext cx="9875520" cy="7315200"/>
            </a:xfrm>
            <a:custGeom>
              <a:avLst/>
              <a:gdLst/>
              <a:ahLst/>
              <a:cxnLst/>
              <a:rect r="r" b="b" t="t" l="l"/>
              <a:pathLst>
                <a:path h="7315200" w="9875520">
                  <a:moveTo>
                    <a:pt x="0" y="0"/>
                  </a:moveTo>
                  <a:lnTo>
                    <a:pt x="9875520" y="0"/>
                  </a:lnTo>
                  <a:lnTo>
                    <a:pt x="9875520" y="7315200"/>
                  </a:lnTo>
                  <a:lnTo>
                    <a:pt x="0" y="7315200"/>
                  </a:lnTo>
                  <a:close/>
                </a:path>
              </a:pathLst>
            </a:custGeom>
            <a:blipFill>
              <a:blip r:embed="rId3">
                <a:alphaModFix amt="0"/>
              </a:blip>
              <a:stretch>
                <a:fillRect l="-45039" t="0" r="-45039" b="0"/>
              </a:stretch>
            </a:blipFill>
          </p:spPr>
        </p:sp>
        <p:sp>
          <p:nvSpPr>
            <p:cNvPr name="TextBox 18" id="18"/>
            <p:cNvSpPr txBox="true"/>
            <p:nvPr/>
          </p:nvSpPr>
          <p:spPr>
            <a:xfrm>
              <a:off x="0" y="-95250"/>
              <a:ext cx="9875520" cy="7410450"/>
            </a:xfrm>
            <a:prstGeom prst="rect">
              <a:avLst/>
            </a:prstGeom>
          </p:spPr>
          <p:txBody>
            <a:bodyPr anchor="ctr" rtlCol="false" tIns="0" lIns="0" bIns="0" rIns="0"/>
            <a:lstStyle/>
            <a:p>
              <a:pPr algn="l" marL="352901" indent="-176451" lvl="1">
                <a:lnSpc>
                  <a:spcPts val="2850"/>
                </a:lnSpc>
                <a:buFont typeface="Arial"/>
                <a:buChar char="•"/>
              </a:pPr>
              <a:r>
                <a:rPr lang="en-US" sz="1950">
                  <a:solidFill>
                    <a:srgbClr val="3A4066"/>
                  </a:solidFill>
                  <a:latin typeface="Calibri (MS)"/>
                  <a:ea typeface="Calibri (MS)"/>
                  <a:cs typeface="Calibri (MS)"/>
                  <a:sym typeface="Calibri (MS)"/>
                </a:rPr>
                <a:t>connection.py — database engine, session factory, and the get_db() dependency used by every endpoint.</a:t>
              </a:r>
            </a:p>
            <a:p>
              <a:pPr algn="l" marL="352901" indent="-176451" lvl="1">
                <a:lnSpc>
                  <a:spcPts val="2850"/>
                </a:lnSpc>
                <a:buFont typeface="Arial"/>
                <a:buChar char="•"/>
              </a:pPr>
              <a:r>
                <a:rPr lang="en-US" sz="1950">
                  <a:solidFill>
                    <a:srgbClr val="3A4066"/>
                  </a:solidFill>
                  <a:latin typeface="Calibri (MS)"/>
                  <a:ea typeface="Calibri (MS)"/>
                  <a:cs typeface="Calibri (MS)"/>
                  <a:sym typeface="Calibri (MS)"/>
                </a:rPr>
                <a:t>models.py — the Lead SQLAlchemy model shared across all modules.</a:t>
              </a:r>
            </a:p>
            <a:p>
              <a:pPr algn="l" marL="352901" indent="-176451" lvl="1">
                <a:lnSpc>
                  <a:spcPts val="2850"/>
                </a:lnSpc>
                <a:buFont typeface="Arial"/>
                <a:buChar char="•"/>
              </a:pPr>
              <a:r>
                <a:rPr lang="en-US" sz="1950">
                  <a:solidFill>
                    <a:srgbClr val="3A4066"/>
                  </a:solidFill>
                  <a:latin typeface="Calibri (MS)"/>
                  <a:ea typeface="Calibri (MS)"/>
                  <a:cs typeface="Calibri (MS)"/>
                  <a:sym typeface="Calibri (MS)"/>
                </a:rPr>
                <a:t>module1_leads.py — Pydantic schemas plus all five CRUD routes for this module.</a:t>
              </a:r>
            </a:p>
            <a:p>
              <a:pPr algn="l" marL="352901" indent="-176451" lvl="1">
                <a:lnSpc>
                  <a:spcPts val="2850"/>
                </a:lnSpc>
                <a:buFont typeface="Arial"/>
                <a:buChar char="•"/>
              </a:pPr>
              <a:r>
                <a:rPr lang="en-US" sz="1950">
                  <a:solidFill>
                    <a:srgbClr val="3A4066"/>
                  </a:solidFill>
                  <a:latin typeface="Calibri (MS)"/>
                  <a:ea typeface="Calibri (MS)"/>
                  <a:cs typeface="Calibri (MS)"/>
                  <a:sym typeface="Calibri (MS)"/>
                </a:rPr>
                <a:t>main.py — creates the FastAPI app, registers routers, and creates tables on startup.</a:t>
              </a:r>
            </a:p>
          </p:txBody>
        </p:sp>
      </p:grpSp>
      <p:grpSp>
        <p:nvGrpSpPr>
          <p:cNvPr name="Group 19" id="19"/>
          <p:cNvGrpSpPr/>
          <p:nvPr/>
        </p:nvGrpSpPr>
        <p:grpSpPr>
          <a:xfrm rot="0">
            <a:off x="685800" y="9710928"/>
            <a:ext cx="9601200" cy="411480"/>
            <a:chOff x="0" y="0"/>
            <a:chExt cx="12801600" cy="548640"/>
          </a:xfrm>
        </p:grpSpPr>
        <p:sp>
          <p:nvSpPr>
            <p:cNvPr name="Freeform 20" id="20"/>
            <p:cNvSpPr/>
            <p:nvPr/>
          </p:nvSpPr>
          <p:spPr>
            <a:xfrm flipH="false" flipV="false" rot="0">
              <a:off x="0" y="0"/>
              <a:ext cx="12801600" cy="548640"/>
            </a:xfrm>
            <a:custGeom>
              <a:avLst/>
              <a:gdLst/>
              <a:ahLst/>
              <a:cxnLst/>
              <a:rect r="r" b="b" t="t" l="l"/>
              <a:pathLst>
                <a:path h="548640" w="12801600">
                  <a:moveTo>
                    <a:pt x="0" y="0"/>
                  </a:moveTo>
                  <a:lnTo>
                    <a:pt x="12801600" y="0"/>
                  </a:lnTo>
                  <a:lnTo>
                    <a:pt x="12801600" y="548640"/>
                  </a:lnTo>
                  <a:lnTo>
                    <a:pt x="0" y="548640"/>
                  </a:lnTo>
                  <a:close/>
                </a:path>
              </a:pathLst>
            </a:custGeom>
            <a:blipFill>
              <a:blip r:embed="rId3">
                <a:alphaModFix amt="0"/>
              </a:blip>
              <a:stretch>
                <a:fillRect l="0" t="-404650" r="0" b="-404650"/>
              </a:stretch>
            </a:blipFill>
          </p:spPr>
        </p:sp>
        <p:sp>
          <p:nvSpPr>
            <p:cNvPr name="TextBox 21" id="21"/>
            <p:cNvSpPr txBox="true"/>
            <p:nvPr/>
          </p:nvSpPr>
          <p:spPr>
            <a:xfrm>
              <a:off x="0" y="-38100"/>
              <a:ext cx="12801600" cy="586740"/>
            </a:xfrm>
            <a:prstGeom prst="rect">
              <a:avLst/>
            </a:prstGeom>
          </p:spPr>
          <p:txBody>
            <a:bodyPr anchor="ctr" rtlCol="false" tIns="0" lIns="0" bIns="0" rIns="0"/>
            <a:lstStyle/>
            <a:p>
              <a:pPr algn="l">
                <a:lnSpc>
                  <a:spcPts val="1800"/>
                </a:lnSpc>
              </a:pPr>
              <a:r>
                <a:rPr lang="en-US" sz="1500">
                  <a:solidFill>
                    <a:srgbClr val="6B7290"/>
                  </a:solidFill>
                  <a:latin typeface="Calibri (MS)"/>
                  <a:ea typeface="Calibri (MS)"/>
                  <a:cs typeface="Calibri (MS)"/>
                  <a:sym typeface="Calibri (MS)"/>
                </a:rPr>
                <a:t>SalesGenie  |  Module 1 – Prospect CRUD API</a:t>
              </a:r>
            </a:p>
          </p:txBody>
        </p:sp>
      </p:grpSp>
      <p:grpSp>
        <p:nvGrpSpPr>
          <p:cNvPr name="Group 22" id="22"/>
          <p:cNvGrpSpPr/>
          <p:nvPr/>
        </p:nvGrpSpPr>
        <p:grpSpPr>
          <a:xfrm rot="0">
            <a:off x="16911828" y="9710928"/>
            <a:ext cx="685800" cy="411480"/>
            <a:chOff x="0" y="0"/>
            <a:chExt cx="914400" cy="548640"/>
          </a:xfrm>
        </p:grpSpPr>
        <p:sp>
          <p:nvSpPr>
            <p:cNvPr name="Freeform 23" id="2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4" id="2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90"/>
                  </a:solidFill>
                  <a:latin typeface="Calibri (MS)"/>
                  <a:ea typeface="Calibri (MS)"/>
                  <a:cs typeface="Calibri (MS)"/>
                  <a:sym typeface="Calibri (MS)"/>
                </a:rPr>
                <a:t>7</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15773400" cy="960120"/>
            <a:chOff x="0" y="0"/>
            <a:chExt cx="21031200" cy="1280160"/>
          </a:xfrm>
        </p:grpSpPr>
        <p:sp>
          <p:nvSpPr>
            <p:cNvPr name="Freeform 3" id="3"/>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4" id="4"/>
            <p:cNvSpPr txBox="true"/>
            <p:nvPr/>
          </p:nvSpPr>
          <p:spPr>
            <a:xfrm>
              <a:off x="0" y="-19050"/>
              <a:ext cx="21031200" cy="1299210"/>
            </a:xfrm>
            <a:prstGeom prst="rect">
              <a:avLst/>
            </a:prstGeom>
          </p:spPr>
          <p:txBody>
            <a:bodyPr anchor="ctr" rtlCol="false" tIns="0" lIns="0" bIns="0" rIns="0"/>
            <a:lstStyle/>
            <a:p>
              <a:pPr algn="l">
                <a:lnSpc>
                  <a:spcPts val="5400"/>
                </a:lnSpc>
              </a:pPr>
              <a:r>
                <a:rPr lang="en-US" sz="4500" b="true">
                  <a:solidFill>
                    <a:srgbClr val="1E2761"/>
                  </a:solidFill>
                  <a:latin typeface="Cambria Bold"/>
                  <a:ea typeface="Cambria Bold"/>
                  <a:cs typeface="Cambria Bold"/>
                  <a:sym typeface="Cambria Bold"/>
                </a:rPr>
                <a:t>Implementation Workflow</a:t>
              </a:r>
            </a:p>
          </p:txBody>
        </p:sp>
      </p:grpSp>
      <p:grpSp>
        <p:nvGrpSpPr>
          <p:cNvPr name="Group 5" id="5"/>
          <p:cNvGrpSpPr/>
          <p:nvPr/>
        </p:nvGrpSpPr>
        <p:grpSpPr>
          <a:xfrm rot="0">
            <a:off x="822960" y="1371600"/>
            <a:ext cx="15773400" cy="548640"/>
            <a:chOff x="0" y="0"/>
            <a:chExt cx="21031200" cy="731520"/>
          </a:xfrm>
        </p:grpSpPr>
        <p:sp>
          <p:nvSpPr>
            <p:cNvPr name="Freeform 6" id="6"/>
            <p:cNvSpPr/>
            <p:nvPr/>
          </p:nvSpPr>
          <p:spPr>
            <a:xfrm flipH="false" flipV="false" rot="0">
              <a:off x="0" y="0"/>
              <a:ext cx="21031200" cy="731520"/>
            </a:xfrm>
            <a:custGeom>
              <a:avLst/>
              <a:gdLst/>
              <a:ahLst/>
              <a:cxnLst/>
              <a:rect r="r" b="b" t="t" l="l"/>
              <a:pathLst>
                <a:path h="731520" w="21031200">
                  <a:moveTo>
                    <a:pt x="0" y="0"/>
                  </a:moveTo>
                  <a:lnTo>
                    <a:pt x="21031200" y="0"/>
                  </a:lnTo>
                  <a:lnTo>
                    <a:pt x="21031200" y="731520"/>
                  </a:lnTo>
                  <a:lnTo>
                    <a:pt x="0" y="731520"/>
                  </a:lnTo>
                  <a:close/>
                </a:path>
              </a:pathLst>
            </a:custGeom>
            <a:blipFill>
              <a:blip r:embed="rId3">
                <a:alphaModFix amt="0"/>
              </a:blip>
              <a:stretch>
                <a:fillRect l="0" t="-510194" r="0" b="-510194"/>
              </a:stretch>
            </a:blipFill>
          </p:spPr>
        </p:sp>
        <p:sp>
          <p:nvSpPr>
            <p:cNvPr name="TextBox 7" id="7"/>
            <p:cNvSpPr txBox="true"/>
            <p:nvPr/>
          </p:nvSpPr>
          <p:spPr>
            <a:xfrm>
              <a:off x="0" y="-47625"/>
              <a:ext cx="21031200" cy="779145"/>
            </a:xfrm>
            <a:prstGeom prst="rect">
              <a:avLst/>
            </a:prstGeom>
          </p:spPr>
          <p:txBody>
            <a:bodyPr anchor="ctr" rtlCol="false" tIns="0" lIns="0" bIns="0" rIns="0"/>
            <a:lstStyle/>
            <a:p>
              <a:pPr algn="l">
                <a:lnSpc>
                  <a:spcPts val="2520"/>
                </a:lnSpc>
              </a:pPr>
              <a:r>
                <a:rPr lang="en-US" sz="2100">
                  <a:solidFill>
                    <a:srgbClr val="6B7290"/>
                  </a:solidFill>
                  <a:latin typeface="Calibri (MS)"/>
                  <a:ea typeface="Calibri (MS)"/>
                  <a:cs typeface="Calibri (MS)"/>
                  <a:sym typeface="Calibri (MS)"/>
                </a:rPr>
                <a:t>How a single request is processed, step by step</a:t>
              </a:r>
            </a:p>
          </p:txBody>
        </p:sp>
      </p:grpSp>
      <p:grpSp>
        <p:nvGrpSpPr>
          <p:cNvPr name="Group 8" id="8"/>
          <p:cNvGrpSpPr/>
          <p:nvPr/>
        </p:nvGrpSpPr>
        <p:grpSpPr>
          <a:xfrm rot="0">
            <a:off x="822960" y="2606040"/>
            <a:ext cx="754380" cy="754380"/>
            <a:chOff x="0" y="0"/>
            <a:chExt cx="1005840" cy="1005840"/>
          </a:xfrm>
        </p:grpSpPr>
        <p:sp>
          <p:nvSpPr>
            <p:cNvPr name="Freeform 9" id="9"/>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E2761"/>
            </a:solidFill>
          </p:spPr>
        </p:sp>
      </p:grpSp>
      <p:grpSp>
        <p:nvGrpSpPr>
          <p:cNvPr name="Group 10" id="10"/>
          <p:cNvGrpSpPr/>
          <p:nvPr/>
        </p:nvGrpSpPr>
        <p:grpSpPr>
          <a:xfrm rot="0">
            <a:off x="822960" y="2606040"/>
            <a:ext cx="754380" cy="754380"/>
            <a:chOff x="0" y="0"/>
            <a:chExt cx="1005840" cy="1005840"/>
          </a:xfrm>
        </p:grpSpPr>
        <p:sp>
          <p:nvSpPr>
            <p:cNvPr name="Freeform 11" id="11"/>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12" id="12"/>
            <p:cNvSpPr txBox="true"/>
            <p:nvPr/>
          </p:nvSpPr>
          <p:spPr>
            <a:xfrm>
              <a:off x="0" y="-57150"/>
              <a:ext cx="1005840" cy="1062990"/>
            </a:xfrm>
            <a:prstGeom prst="rect">
              <a:avLst/>
            </a:prstGeom>
          </p:spPr>
          <p:txBody>
            <a:bodyPr anchor="ctr" rtlCol="false" tIns="0" lIns="0" bIns="0" rIns="0"/>
            <a:lstStyle/>
            <a:p>
              <a:pPr algn="ctr">
                <a:lnSpc>
                  <a:spcPts val="3240"/>
                </a:lnSpc>
              </a:pPr>
              <a:r>
                <a:rPr lang="en-US" sz="2700" b="true">
                  <a:solidFill>
                    <a:srgbClr val="FFFFFF"/>
                  </a:solidFill>
                  <a:latin typeface="Calibri (MS) Bold"/>
                  <a:ea typeface="Calibri (MS) Bold"/>
                  <a:cs typeface="Calibri (MS) Bold"/>
                  <a:sym typeface="Calibri (MS) Bold"/>
                </a:rPr>
                <a:t>1</a:t>
              </a:r>
            </a:p>
          </p:txBody>
        </p:sp>
      </p:grpSp>
      <p:grpSp>
        <p:nvGrpSpPr>
          <p:cNvPr name="Group 13" id="13"/>
          <p:cNvGrpSpPr/>
          <p:nvPr/>
        </p:nvGrpSpPr>
        <p:grpSpPr>
          <a:xfrm rot="0">
            <a:off x="1920240" y="2578608"/>
            <a:ext cx="4389120" cy="754380"/>
            <a:chOff x="0" y="0"/>
            <a:chExt cx="5852160" cy="1005840"/>
          </a:xfrm>
        </p:grpSpPr>
        <p:sp>
          <p:nvSpPr>
            <p:cNvPr name="Freeform 14" id="14"/>
            <p:cNvSpPr/>
            <p:nvPr/>
          </p:nvSpPr>
          <p:spPr>
            <a:xfrm flipH="false" flipV="false" rot="0">
              <a:off x="0" y="0"/>
              <a:ext cx="5852160" cy="1005840"/>
            </a:xfrm>
            <a:custGeom>
              <a:avLst/>
              <a:gdLst/>
              <a:ahLst/>
              <a:cxnLst/>
              <a:rect r="r" b="b" t="t" l="l"/>
              <a:pathLst>
                <a:path h="1005840" w="5852160">
                  <a:moveTo>
                    <a:pt x="0" y="0"/>
                  </a:moveTo>
                  <a:lnTo>
                    <a:pt x="5852160" y="0"/>
                  </a:lnTo>
                  <a:lnTo>
                    <a:pt x="5852160" y="1005840"/>
                  </a:lnTo>
                  <a:lnTo>
                    <a:pt x="0" y="1005840"/>
                  </a:lnTo>
                  <a:close/>
                </a:path>
              </a:pathLst>
            </a:custGeom>
            <a:blipFill>
              <a:blip r:embed="rId3">
                <a:alphaModFix amt="0"/>
              </a:blip>
              <a:stretch>
                <a:fillRect l="0" t="-63367" r="0" b="-63367"/>
              </a:stretch>
            </a:blipFill>
          </p:spPr>
        </p:sp>
        <p:sp>
          <p:nvSpPr>
            <p:cNvPr name="TextBox 15" id="15"/>
            <p:cNvSpPr txBox="true"/>
            <p:nvPr/>
          </p:nvSpPr>
          <p:spPr>
            <a:xfrm>
              <a:off x="0" y="-47625"/>
              <a:ext cx="5852160" cy="1053465"/>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Receive Request</a:t>
              </a:r>
            </a:p>
          </p:txBody>
        </p:sp>
      </p:grpSp>
      <p:grpSp>
        <p:nvGrpSpPr>
          <p:cNvPr name="Group 16" id="16"/>
          <p:cNvGrpSpPr/>
          <p:nvPr/>
        </p:nvGrpSpPr>
        <p:grpSpPr>
          <a:xfrm rot="0">
            <a:off x="6515100" y="2578608"/>
            <a:ext cx="10835640" cy="754380"/>
            <a:chOff x="0" y="0"/>
            <a:chExt cx="14447520" cy="1005840"/>
          </a:xfrm>
        </p:grpSpPr>
        <p:sp>
          <p:nvSpPr>
            <p:cNvPr name="Freeform 17" id="17"/>
            <p:cNvSpPr/>
            <p:nvPr/>
          </p:nvSpPr>
          <p:spPr>
            <a:xfrm flipH="false" flipV="false" rot="0">
              <a:off x="0" y="0"/>
              <a:ext cx="14447520" cy="1005840"/>
            </a:xfrm>
            <a:custGeom>
              <a:avLst/>
              <a:gdLst/>
              <a:ahLst/>
              <a:cxnLst/>
              <a:rect r="r" b="b" t="t" l="l"/>
              <a:pathLst>
                <a:path h="1005840" w="14447520">
                  <a:moveTo>
                    <a:pt x="0" y="0"/>
                  </a:moveTo>
                  <a:lnTo>
                    <a:pt x="14447520" y="0"/>
                  </a:lnTo>
                  <a:lnTo>
                    <a:pt x="14447520" y="1005840"/>
                  </a:lnTo>
                  <a:lnTo>
                    <a:pt x="0" y="1005840"/>
                  </a:lnTo>
                  <a:close/>
                </a:path>
              </a:pathLst>
            </a:custGeom>
            <a:blipFill>
              <a:blip r:embed="rId3">
                <a:alphaModFix amt="0"/>
              </a:blip>
              <a:stretch>
                <a:fillRect l="0" t="-229875" r="0" b="-229875"/>
              </a:stretch>
            </a:blipFill>
          </p:spPr>
        </p:sp>
        <p:sp>
          <p:nvSpPr>
            <p:cNvPr name="TextBox 18" id="18"/>
            <p:cNvSpPr txBox="true"/>
            <p:nvPr/>
          </p:nvSpPr>
          <p:spPr>
            <a:xfrm>
              <a:off x="0" y="-38100"/>
              <a:ext cx="14447520" cy="1043940"/>
            </a:xfrm>
            <a:prstGeom prst="rect">
              <a:avLst/>
            </a:prstGeom>
          </p:spPr>
          <p:txBody>
            <a:bodyPr anchor="ctr" rtlCol="false" tIns="0" lIns="0" bIns="0" rIns="0"/>
            <a:lstStyle/>
            <a:p>
              <a:pPr algn="l">
                <a:lnSpc>
                  <a:spcPts val="2250"/>
                </a:lnSpc>
              </a:pPr>
              <a:r>
                <a:rPr lang="en-US" sz="1875">
                  <a:solidFill>
                    <a:srgbClr val="3A4066"/>
                  </a:solidFill>
                  <a:latin typeface="Calibri (MS)"/>
                  <a:ea typeface="Calibri (MS)"/>
                  <a:cs typeface="Calibri (MS)"/>
                  <a:sym typeface="Calibri (MS)"/>
                </a:rPr>
                <a:t>FastAPI receives the HTTP call and routes it to the matching endpoint function.</a:t>
              </a:r>
            </a:p>
          </p:txBody>
        </p:sp>
      </p:grpSp>
      <p:grpSp>
        <p:nvGrpSpPr>
          <p:cNvPr name="Group 19" id="19"/>
          <p:cNvGrpSpPr/>
          <p:nvPr/>
        </p:nvGrpSpPr>
        <p:grpSpPr>
          <a:xfrm rot="0">
            <a:off x="1185862" y="3346133"/>
            <a:ext cx="28575" cy="508635"/>
            <a:chOff x="0" y="0"/>
            <a:chExt cx="38100" cy="678180"/>
          </a:xfrm>
        </p:grpSpPr>
        <p:sp>
          <p:nvSpPr>
            <p:cNvPr name="Freeform 20" id="20"/>
            <p:cNvSpPr/>
            <p:nvPr/>
          </p:nvSpPr>
          <p:spPr>
            <a:xfrm flipH="false" flipV="false" rot="0">
              <a:off x="0" y="0"/>
              <a:ext cx="38100" cy="678180"/>
            </a:xfrm>
            <a:custGeom>
              <a:avLst/>
              <a:gdLst/>
              <a:ahLst/>
              <a:cxnLst/>
              <a:rect r="r" b="b" t="t" l="l"/>
              <a:pathLst>
                <a:path h="678180" w="38100">
                  <a:moveTo>
                    <a:pt x="0" y="0"/>
                  </a:moveTo>
                  <a:lnTo>
                    <a:pt x="38100" y="678180"/>
                  </a:lnTo>
                </a:path>
              </a:pathLst>
            </a:custGeom>
            <a:blipFill>
              <a:blip r:embed="rId3">
                <a:alphaModFix amt="0"/>
              </a:blip>
              <a:stretch>
                <a:fillRect l="-2233803" t="0" r="-2233803" b="0"/>
              </a:stretch>
            </a:blipFill>
            <a:ln w="28575" cap="sq">
              <a:solidFill>
                <a:srgbClr val="C7CCEE"/>
              </a:solidFill>
              <a:prstDash val="solid"/>
              <a:miter/>
            </a:ln>
          </p:spPr>
        </p:sp>
      </p:grpSp>
      <p:grpSp>
        <p:nvGrpSpPr>
          <p:cNvPr name="Group 21" id="21"/>
          <p:cNvGrpSpPr/>
          <p:nvPr/>
        </p:nvGrpSpPr>
        <p:grpSpPr>
          <a:xfrm rot="0">
            <a:off x="822960" y="3840480"/>
            <a:ext cx="754380" cy="754380"/>
            <a:chOff x="0" y="0"/>
            <a:chExt cx="1005840" cy="1005840"/>
          </a:xfrm>
        </p:grpSpPr>
        <p:sp>
          <p:nvSpPr>
            <p:cNvPr name="Freeform 22" id="22"/>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E2761"/>
            </a:solidFill>
          </p:spPr>
        </p:sp>
      </p:grpSp>
      <p:grpSp>
        <p:nvGrpSpPr>
          <p:cNvPr name="Group 23" id="23"/>
          <p:cNvGrpSpPr/>
          <p:nvPr/>
        </p:nvGrpSpPr>
        <p:grpSpPr>
          <a:xfrm rot="0">
            <a:off x="822960" y="3840480"/>
            <a:ext cx="754380" cy="754380"/>
            <a:chOff x="0" y="0"/>
            <a:chExt cx="1005840" cy="1005840"/>
          </a:xfrm>
        </p:grpSpPr>
        <p:sp>
          <p:nvSpPr>
            <p:cNvPr name="Freeform 24" id="24"/>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25" id="25"/>
            <p:cNvSpPr txBox="true"/>
            <p:nvPr/>
          </p:nvSpPr>
          <p:spPr>
            <a:xfrm>
              <a:off x="0" y="-57150"/>
              <a:ext cx="1005840" cy="1062990"/>
            </a:xfrm>
            <a:prstGeom prst="rect">
              <a:avLst/>
            </a:prstGeom>
          </p:spPr>
          <p:txBody>
            <a:bodyPr anchor="ctr" rtlCol="false" tIns="0" lIns="0" bIns="0" rIns="0"/>
            <a:lstStyle/>
            <a:p>
              <a:pPr algn="ctr">
                <a:lnSpc>
                  <a:spcPts val="3240"/>
                </a:lnSpc>
              </a:pPr>
              <a:r>
                <a:rPr lang="en-US" sz="2700" b="true">
                  <a:solidFill>
                    <a:srgbClr val="FFFFFF"/>
                  </a:solidFill>
                  <a:latin typeface="Calibri (MS) Bold"/>
                  <a:ea typeface="Calibri (MS) Bold"/>
                  <a:cs typeface="Calibri (MS) Bold"/>
                  <a:sym typeface="Calibri (MS) Bold"/>
                </a:rPr>
                <a:t>2</a:t>
              </a:r>
            </a:p>
          </p:txBody>
        </p:sp>
      </p:grpSp>
      <p:grpSp>
        <p:nvGrpSpPr>
          <p:cNvPr name="Group 26" id="26"/>
          <p:cNvGrpSpPr/>
          <p:nvPr/>
        </p:nvGrpSpPr>
        <p:grpSpPr>
          <a:xfrm rot="0">
            <a:off x="1920240" y="3813048"/>
            <a:ext cx="4389120" cy="754380"/>
            <a:chOff x="0" y="0"/>
            <a:chExt cx="5852160" cy="1005840"/>
          </a:xfrm>
        </p:grpSpPr>
        <p:sp>
          <p:nvSpPr>
            <p:cNvPr name="Freeform 27" id="27"/>
            <p:cNvSpPr/>
            <p:nvPr/>
          </p:nvSpPr>
          <p:spPr>
            <a:xfrm flipH="false" flipV="false" rot="0">
              <a:off x="0" y="0"/>
              <a:ext cx="5852160" cy="1005840"/>
            </a:xfrm>
            <a:custGeom>
              <a:avLst/>
              <a:gdLst/>
              <a:ahLst/>
              <a:cxnLst/>
              <a:rect r="r" b="b" t="t" l="l"/>
              <a:pathLst>
                <a:path h="1005840" w="5852160">
                  <a:moveTo>
                    <a:pt x="0" y="0"/>
                  </a:moveTo>
                  <a:lnTo>
                    <a:pt x="5852160" y="0"/>
                  </a:lnTo>
                  <a:lnTo>
                    <a:pt x="5852160" y="1005840"/>
                  </a:lnTo>
                  <a:lnTo>
                    <a:pt x="0" y="1005840"/>
                  </a:lnTo>
                  <a:close/>
                </a:path>
              </a:pathLst>
            </a:custGeom>
            <a:blipFill>
              <a:blip r:embed="rId3">
                <a:alphaModFix amt="0"/>
              </a:blip>
              <a:stretch>
                <a:fillRect l="0" t="-63367" r="0" b="-63367"/>
              </a:stretch>
            </a:blipFill>
          </p:spPr>
        </p:sp>
        <p:sp>
          <p:nvSpPr>
            <p:cNvPr name="TextBox 28" id="28"/>
            <p:cNvSpPr txBox="true"/>
            <p:nvPr/>
          </p:nvSpPr>
          <p:spPr>
            <a:xfrm>
              <a:off x="0" y="-47625"/>
              <a:ext cx="5852160" cy="1053465"/>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Validate with Pydantic</a:t>
              </a:r>
            </a:p>
          </p:txBody>
        </p:sp>
      </p:grpSp>
      <p:grpSp>
        <p:nvGrpSpPr>
          <p:cNvPr name="Group 29" id="29"/>
          <p:cNvGrpSpPr/>
          <p:nvPr/>
        </p:nvGrpSpPr>
        <p:grpSpPr>
          <a:xfrm rot="0">
            <a:off x="6515100" y="3813048"/>
            <a:ext cx="10835640" cy="754380"/>
            <a:chOff x="0" y="0"/>
            <a:chExt cx="14447520" cy="1005840"/>
          </a:xfrm>
        </p:grpSpPr>
        <p:sp>
          <p:nvSpPr>
            <p:cNvPr name="Freeform 30" id="30"/>
            <p:cNvSpPr/>
            <p:nvPr/>
          </p:nvSpPr>
          <p:spPr>
            <a:xfrm flipH="false" flipV="false" rot="0">
              <a:off x="0" y="0"/>
              <a:ext cx="14447520" cy="1005840"/>
            </a:xfrm>
            <a:custGeom>
              <a:avLst/>
              <a:gdLst/>
              <a:ahLst/>
              <a:cxnLst/>
              <a:rect r="r" b="b" t="t" l="l"/>
              <a:pathLst>
                <a:path h="1005840" w="14447520">
                  <a:moveTo>
                    <a:pt x="0" y="0"/>
                  </a:moveTo>
                  <a:lnTo>
                    <a:pt x="14447520" y="0"/>
                  </a:lnTo>
                  <a:lnTo>
                    <a:pt x="14447520" y="1005840"/>
                  </a:lnTo>
                  <a:lnTo>
                    <a:pt x="0" y="1005840"/>
                  </a:lnTo>
                  <a:close/>
                </a:path>
              </a:pathLst>
            </a:custGeom>
            <a:blipFill>
              <a:blip r:embed="rId3">
                <a:alphaModFix amt="0"/>
              </a:blip>
              <a:stretch>
                <a:fillRect l="0" t="-229875" r="0" b="-229875"/>
              </a:stretch>
            </a:blipFill>
          </p:spPr>
        </p:sp>
        <p:sp>
          <p:nvSpPr>
            <p:cNvPr name="TextBox 31" id="31"/>
            <p:cNvSpPr txBox="true"/>
            <p:nvPr/>
          </p:nvSpPr>
          <p:spPr>
            <a:xfrm>
              <a:off x="0" y="-38100"/>
              <a:ext cx="14447520" cy="1043940"/>
            </a:xfrm>
            <a:prstGeom prst="rect">
              <a:avLst/>
            </a:prstGeom>
          </p:spPr>
          <p:txBody>
            <a:bodyPr anchor="ctr" rtlCol="false" tIns="0" lIns="0" bIns="0" rIns="0"/>
            <a:lstStyle/>
            <a:p>
              <a:pPr algn="l">
                <a:lnSpc>
                  <a:spcPts val="2250"/>
                </a:lnSpc>
              </a:pPr>
              <a:r>
                <a:rPr lang="en-US" sz="1875">
                  <a:solidFill>
                    <a:srgbClr val="3A4066"/>
                  </a:solidFill>
                  <a:latin typeface="Calibri (MS)"/>
                  <a:ea typeface="Calibri (MS)"/>
                  <a:cs typeface="Calibri (MS)"/>
                  <a:sym typeface="Calibri (MS)"/>
                </a:rPr>
                <a:t>Incoming JSON is checked against the schema — types, required fields, email format.</a:t>
              </a:r>
            </a:p>
          </p:txBody>
        </p:sp>
      </p:grpSp>
      <p:grpSp>
        <p:nvGrpSpPr>
          <p:cNvPr name="Group 32" id="32"/>
          <p:cNvGrpSpPr/>
          <p:nvPr/>
        </p:nvGrpSpPr>
        <p:grpSpPr>
          <a:xfrm rot="0">
            <a:off x="1185862" y="4580572"/>
            <a:ext cx="28575" cy="508635"/>
            <a:chOff x="0" y="0"/>
            <a:chExt cx="38100" cy="678180"/>
          </a:xfrm>
        </p:grpSpPr>
        <p:sp>
          <p:nvSpPr>
            <p:cNvPr name="Freeform 33" id="33"/>
            <p:cNvSpPr/>
            <p:nvPr/>
          </p:nvSpPr>
          <p:spPr>
            <a:xfrm flipH="false" flipV="false" rot="0">
              <a:off x="0" y="0"/>
              <a:ext cx="38100" cy="678180"/>
            </a:xfrm>
            <a:custGeom>
              <a:avLst/>
              <a:gdLst/>
              <a:ahLst/>
              <a:cxnLst/>
              <a:rect r="r" b="b" t="t" l="l"/>
              <a:pathLst>
                <a:path h="678180" w="38100">
                  <a:moveTo>
                    <a:pt x="0" y="0"/>
                  </a:moveTo>
                  <a:lnTo>
                    <a:pt x="38100" y="678180"/>
                  </a:lnTo>
                </a:path>
              </a:pathLst>
            </a:custGeom>
            <a:blipFill>
              <a:blip r:embed="rId3">
                <a:alphaModFix amt="0"/>
              </a:blip>
              <a:stretch>
                <a:fillRect l="-2233803" t="0" r="-2233803" b="0"/>
              </a:stretch>
            </a:blipFill>
            <a:ln w="28575" cap="sq">
              <a:solidFill>
                <a:srgbClr val="C7CCEE"/>
              </a:solidFill>
              <a:prstDash val="solid"/>
              <a:miter/>
            </a:ln>
          </p:spPr>
        </p:sp>
      </p:grpSp>
      <p:grpSp>
        <p:nvGrpSpPr>
          <p:cNvPr name="Group 34" id="34"/>
          <p:cNvGrpSpPr/>
          <p:nvPr/>
        </p:nvGrpSpPr>
        <p:grpSpPr>
          <a:xfrm rot="0">
            <a:off x="822960" y="5074920"/>
            <a:ext cx="754380" cy="754380"/>
            <a:chOff x="0" y="0"/>
            <a:chExt cx="1005840" cy="1005840"/>
          </a:xfrm>
        </p:grpSpPr>
        <p:sp>
          <p:nvSpPr>
            <p:cNvPr name="Freeform 35" id="35"/>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E2761"/>
            </a:solidFill>
          </p:spPr>
        </p:sp>
      </p:grpSp>
      <p:grpSp>
        <p:nvGrpSpPr>
          <p:cNvPr name="Group 36" id="36"/>
          <p:cNvGrpSpPr/>
          <p:nvPr/>
        </p:nvGrpSpPr>
        <p:grpSpPr>
          <a:xfrm rot="0">
            <a:off x="822960" y="5074920"/>
            <a:ext cx="754380" cy="754380"/>
            <a:chOff x="0" y="0"/>
            <a:chExt cx="1005840" cy="1005840"/>
          </a:xfrm>
        </p:grpSpPr>
        <p:sp>
          <p:nvSpPr>
            <p:cNvPr name="Freeform 37" id="37"/>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38" id="38"/>
            <p:cNvSpPr txBox="true"/>
            <p:nvPr/>
          </p:nvSpPr>
          <p:spPr>
            <a:xfrm>
              <a:off x="0" y="-57150"/>
              <a:ext cx="1005840" cy="1062990"/>
            </a:xfrm>
            <a:prstGeom prst="rect">
              <a:avLst/>
            </a:prstGeom>
          </p:spPr>
          <p:txBody>
            <a:bodyPr anchor="ctr" rtlCol="false" tIns="0" lIns="0" bIns="0" rIns="0"/>
            <a:lstStyle/>
            <a:p>
              <a:pPr algn="ctr">
                <a:lnSpc>
                  <a:spcPts val="3240"/>
                </a:lnSpc>
              </a:pPr>
              <a:r>
                <a:rPr lang="en-US" sz="2700" b="true">
                  <a:solidFill>
                    <a:srgbClr val="FFFFFF"/>
                  </a:solidFill>
                  <a:latin typeface="Calibri (MS) Bold"/>
                  <a:ea typeface="Calibri (MS) Bold"/>
                  <a:cs typeface="Calibri (MS) Bold"/>
                  <a:sym typeface="Calibri (MS) Bold"/>
                </a:rPr>
                <a:t>3</a:t>
              </a:r>
            </a:p>
          </p:txBody>
        </p:sp>
      </p:grpSp>
      <p:grpSp>
        <p:nvGrpSpPr>
          <p:cNvPr name="Group 39" id="39"/>
          <p:cNvGrpSpPr/>
          <p:nvPr/>
        </p:nvGrpSpPr>
        <p:grpSpPr>
          <a:xfrm rot="0">
            <a:off x="1920240" y="5047488"/>
            <a:ext cx="4389120" cy="754380"/>
            <a:chOff x="0" y="0"/>
            <a:chExt cx="5852160" cy="1005840"/>
          </a:xfrm>
        </p:grpSpPr>
        <p:sp>
          <p:nvSpPr>
            <p:cNvPr name="Freeform 40" id="40"/>
            <p:cNvSpPr/>
            <p:nvPr/>
          </p:nvSpPr>
          <p:spPr>
            <a:xfrm flipH="false" flipV="false" rot="0">
              <a:off x="0" y="0"/>
              <a:ext cx="5852160" cy="1005840"/>
            </a:xfrm>
            <a:custGeom>
              <a:avLst/>
              <a:gdLst/>
              <a:ahLst/>
              <a:cxnLst/>
              <a:rect r="r" b="b" t="t" l="l"/>
              <a:pathLst>
                <a:path h="1005840" w="5852160">
                  <a:moveTo>
                    <a:pt x="0" y="0"/>
                  </a:moveTo>
                  <a:lnTo>
                    <a:pt x="5852160" y="0"/>
                  </a:lnTo>
                  <a:lnTo>
                    <a:pt x="5852160" y="1005840"/>
                  </a:lnTo>
                  <a:lnTo>
                    <a:pt x="0" y="1005840"/>
                  </a:lnTo>
                  <a:close/>
                </a:path>
              </a:pathLst>
            </a:custGeom>
            <a:blipFill>
              <a:blip r:embed="rId3">
                <a:alphaModFix amt="0"/>
              </a:blip>
              <a:stretch>
                <a:fillRect l="0" t="-63367" r="0" b="-63367"/>
              </a:stretch>
            </a:blipFill>
          </p:spPr>
        </p:sp>
        <p:sp>
          <p:nvSpPr>
            <p:cNvPr name="TextBox 41" id="41"/>
            <p:cNvSpPr txBox="true"/>
            <p:nvPr/>
          </p:nvSpPr>
          <p:spPr>
            <a:xfrm>
              <a:off x="0" y="-47625"/>
              <a:ext cx="5852160" cy="1053465"/>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Store / Retrieve via SQLAlchemy</a:t>
              </a:r>
            </a:p>
          </p:txBody>
        </p:sp>
      </p:grpSp>
      <p:grpSp>
        <p:nvGrpSpPr>
          <p:cNvPr name="Group 42" id="42"/>
          <p:cNvGrpSpPr/>
          <p:nvPr/>
        </p:nvGrpSpPr>
        <p:grpSpPr>
          <a:xfrm rot="0">
            <a:off x="6515100" y="5047488"/>
            <a:ext cx="10835640" cy="754380"/>
            <a:chOff x="0" y="0"/>
            <a:chExt cx="14447520" cy="1005840"/>
          </a:xfrm>
        </p:grpSpPr>
        <p:sp>
          <p:nvSpPr>
            <p:cNvPr name="Freeform 43" id="43"/>
            <p:cNvSpPr/>
            <p:nvPr/>
          </p:nvSpPr>
          <p:spPr>
            <a:xfrm flipH="false" flipV="false" rot="0">
              <a:off x="0" y="0"/>
              <a:ext cx="14447520" cy="1005840"/>
            </a:xfrm>
            <a:custGeom>
              <a:avLst/>
              <a:gdLst/>
              <a:ahLst/>
              <a:cxnLst/>
              <a:rect r="r" b="b" t="t" l="l"/>
              <a:pathLst>
                <a:path h="1005840" w="14447520">
                  <a:moveTo>
                    <a:pt x="0" y="0"/>
                  </a:moveTo>
                  <a:lnTo>
                    <a:pt x="14447520" y="0"/>
                  </a:lnTo>
                  <a:lnTo>
                    <a:pt x="14447520" y="1005840"/>
                  </a:lnTo>
                  <a:lnTo>
                    <a:pt x="0" y="1005840"/>
                  </a:lnTo>
                  <a:close/>
                </a:path>
              </a:pathLst>
            </a:custGeom>
            <a:blipFill>
              <a:blip r:embed="rId3">
                <a:alphaModFix amt="0"/>
              </a:blip>
              <a:stretch>
                <a:fillRect l="0" t="-229875" r="0" b="-229875"/>
              </a:stretch>
            </a:blipFill>
          </p:spPr>
        </p:sp>
        <p:sp>
          <p:nvSpPr>
            <p:cNvPr name="TextBox 44" id="44"/>
            <p:cNvSpPr txBox="true"/>
            <p:nvPr/>
          </p:nvSpPr>
          <p:spPr>
            <a:xfrm>
              <a:off x="0" y="-38100"/>
              <a:ext cx="14447520" cy="1043940"/>
            </a:xfrm>
            <a:prstGeom prst="rect">
              <a:avLst/>
            </a:prstGeom>
          </p:spPr>
          <p:txBody>
            <a:bodyPr anchor="ctr" rtlCol="false" tIns="0" lIns="0" bIns="0" rIns="0"/>
            <a:lstStyle/>
            <a:p>
              <a:pPr algn="l">
                <a:lnSpc>
                  <a:spcPts val="2250"/>
                </a:lnSpc>
              </a:pPr>
              <a:r>
                <a:rPr lang="en-US" sz="1875">
                  <a:solidFill>
                    <a:srgbClr val="3A4066"/>
                  </a:solidFill>
                  <a:latin typeface="Calibri (MS)"/>
                  <a:ea typeface="Calibri (MS)"/>
                  <a:cs typeface="Calibri (MS)"/>
                  <a:sym typeface="Calibri (MS)"/>
                </a:rPr>
                <a:t>The ORM builds the correct SQL operation from the Lead model.</a:t>
              </a:r>
            </a:p>
          </p:txBody>
        </p:sp>
      </p:grpSp>
      <p:grpSp>
        <p:nvGrpSpPr>
          <p:cNvPr name="Group 45" id="45"/>
          <p:cNvGrpSpPr/>
          <p:nvPr/>
        </p:nvGrpSpPr>
        <p:grpSpPr>
          <a:xfrm rot="0">
            <a:off x="1185862" y="5815012"/>
            <a:ext cx="28575" cy="508635"/>
            <a:chOff x="0" y="0"/>
            <a:chExt cx="38100" cy="678180"/>
          </a:xfrm>
        </p:grpSpPr>
        <p:sp>
          <p:nvSpPr>
            <p:cNvPr name="Freeform 46" id="46"/>
            <p:cNvSpPr/>
            <p:nvPr/>
          </p:nvSpPr>
          <p:spPr>
            <a:xfrm flipH="false" flipV="false" rot="0">
              <a:off x="0" y="0"/>
              <a:ext cx="38100" cy="678180"/>
            </a:xfrm>
            <a:custGeom>
              <a:avLst/>
              <a:gdLst/>
              <a:ahLst/>
              <a:cxnLst/>
              <a:rect r="r" b="b" t="t" l="l"/>
              <a:pathLst>
                <a:path h="678180" w="38100">
                  <a:moveTo>
                    <a:pt x="0" y="0"/>
                  </a:moveTo>
                  <a:lnTo>
                    <a:pt x="38100" y="678180"/>
                  </a:lnTo>
                </a:path>
              </a:pathLst>
            </a:custGeom>
            <a:blipFill>
              <a:blip r:embed="rId3">
                <a:alphaModFix amt="0"/>
              </a:blip>
              <a:stretch>
                <a:fillRect l="-2233803" t="0" r="-2233803" b="0"/>
              </a:stretch>
            </a:blipFill>
            <a:ln w="28575" cap="sq">
              <a:solidFill>
                <a:srgbClr val="C7CCEE"/>
              </a:solidFill>
              <a:prstDash val="solid"/>
              <a:miter/>
            </a:ln>
          </p:spPr>
        </p:sp>
      </p:grpSp>
      <p:grpSp>
        <p:nvGrpSpPr>
          <p:cNvPr name="Group 47" id="47"/>
          <p:cNvGrpSpPr/>
          <p:nvPr/>
        </p:nvGrpSpPr>
        <p:grpSpPr>
          <a:xfrm rot="0">
            <a:off x="822960" y="6309360"/>
            <a:ext cx="754380" cy="754380"/>
            <a:chOff x="0" y="0"/>
            <a:chExt cx="1005840" cy="1005840"/>
          </a:xfrm>
        </p:grpSpPr>
        <p:sp>
          <p:nvSpPr>
            <p:cNvPr name="Freeform 48" id="48"/>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E2761"/>
            </a:solidFill>
          </p:spPr>
        </p:sp>
      </p:grpSp>
      <p:grpSp>
        <p:nvGrpSpPr>
          <p:cNvPr name="Group 49" id="49"/>
          <p:cNvGrpSpPr/>
          <p:nvPr/>
        </p:nvGrpSpPr>
        <p:grpSpPr>
          <a:xfrm rot="0">
            <a:off x="822960" y="6309360"/>
            <a:ext cx="754380" cy="754380"/>
            <a:chOff x="0" y="0"/>
            <a:chExt cx="1005840" cy="1005840"/>
          </a:xfrm>
        </p:grpSpPr>
        <p:sp>
          <p:nvSpPr>
            <p:cNvPr name="Freeform 50" id="50"/>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51" id="51"/>
            <p:cNvSpPr txBox="true"/>
            <p:nvPr/>
          </p:nvSpPr>
          <p:spPr>
            <a:xfrm>
              <a:off x="0" y="-57150"/>
              <a:ext cx="1005840" cy="1062990"/>
            </a:xfrm>
            <a:prstGeom prst="rect">
              <a:avLst/>
            </a:prstGeom>
          </p:spPr>
          <p:txBody>
            <a:bodyPr anchor="ctr" rtlCol="false" tIns="0" lIns="0" bIns="0" rIns="0"/>
            <a:lstStyle/>
            <a:p>
              <a:pPr algn="ctr">
                <a:lnSpc>
                  <a:spcPts val="3240"/>
                </a:lnSpc>
              </a:pPr>
              <a:r>
                <a:rPr lang="en-US" sz="2700" b="true">
                  <a:solidFill>
                    <a:srgbClr val="FFFFFF"/>
                  </a:solidFill>
                  <a:latin typeface="Calibri (MS) Bold"/>
                  <a:ea typeface="Calibri (MS) Bold"/>
                  <a:cs typeface="Calibri (MS) Bold"/>
                  <a:sym typeface="Calibri (MS) Bold"/>
                </a:rPr>
                <a:t>4</a:t>
              </a:r>
            </a:p>
          </p:txBody>
        </p:sp>
      </p:grpSp>
      <p:grpSp>
        <p:nvGrpSpPr>
          <p:cNvPr name="Group 52" id="52"/>
          <p:cNvGrpSpPr/>
          <p:nvPr/>
        </p:nvGrpSpPr>
        <p:grpSpPr>
          <a:xfrm rot="0">
            <a:off x="1920240" y="6281928"/>
            <a:ext cx="4389120" cy="754380"/>
            <a:chOff x="0" y="0"/>
            <a:chExt cx="5852160" cy="1005840"/>
          </a:xfrm>
        </p:grpSpPr>
        <p:sp>
          <p:nvSpPr>
            <p:cNvPr name="Freeform 53" id="53"/>
            <p:cNvSpPr/>
            <p:nvPr/>
          </p:nvSpPr>
          <p:spPr>
            <a:xfrm flipH="false" flipV="false" rot="0">
              <a:off x="0" y="0"/>
              <a:ext cx="5852160" cy="1005840"/>
            </a:xfrm>
            <a:custGeom>
              <a:avLst/>
              <a:gdLst/>
              <a:ahLst/>
              <a:cxnLst/>
              <a:rect r="r" b="b" t="t" l="l"/>
              <a:pathLst>
                <a:path h="1005840" w="5852160">
                  <a:moveTo>
                    <a:pt x="0" y="0"/>
                  </a:moveTo>
                  <a:lnTo>
                    <a:pt x="5852160" y="0"/>
                  </a:lnTo>
                  <a:lnTo>
                    <a:pt x="5852160" y="1005840"/>
                  </a:lnTo>
                  <a:lnTo>
                    <a:pt x="0" y="1005840"/>
                  </a:lnTo>
                  <a:close/>
                </a:path>
              </a:pathLst>
            </a:custGeom>
            <a:blipFill>
              <a:blip r:embed="rId3">
                <a:alphaModFix amt="0"/>
              </a:blip>
              <a:stretch>
                <a:fillRect l="0" t="-63367" r="0" b="-63367"/>
              </a:stretch>
            </a:blipFill>
          </p:spPr>
        </p:sp>
        <p:sp>
          <p:nvSpPr>
            <p:cNvPr name="TextBox 54" id="54"/>
            <p:cNvSpPr txBox="true"/>
            <p:nvPr/>
          </p:nvSpPr>
          <p:spPr>
            <a:xfrm>
              <a:off x="0" y="-47625"/>
              <a:ext cx="5852160" cy="1053465"/>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Commit to PostgreSQL</a:t>
              </a:r>
            </a:p>
          </p:txBody>
        </p:sp>
      </p:grpSp>
      <p:grpSp>
        <p:nvGrpSpPr>
          <p:cNvPr name="Group 55" id="55"/>
          <p:cNvGrpSpPr/>
          <p:nvPr/>
        </p:nvGrpSpPr>
        <p:grpSpPr>
          <a:xfrm rot="0">
            <a:off x="6515100" y="6281928"/>
            <a:ext cx="10835640" cy="754380"/>
            <a:chOff x="0" y="0"/>
            <a:chExt cx="14447520" cy="1005840"/>
          </a:xfrm>
        </p:grpSpPr>
        <p:sp>
          <p:nvSpPr>
            <p:cNvPr name="Freeform 56" id="56"/>
            <p:cNvSpPr/>
            <p:nvPr/>
          </p:nvSpPr>
          <p:spPr>
            <a:xfrm flipH="false" flipV="false" rot="0">
              <a:off x="0" y="0"/>
              <a:ext cx="14447520" cy="1005840"/>
            </a:xfrm>
            <a:custGeom>
              <a:avLst/>
              <a:gdLst/>
              <a:ahLst/>
              <a:cxnLst/>
              <a:rect r="r" b="b" t="t" l="l"/>
              <a:pathLst>
                <a:path h="1005840" w="14447520">
                  <a:moveTo>
                    <a:pt x="0" y="0"/>
                  </a:moveTo>
                  <a:lnTo>
                    <a:pt x="14447520" y="0"/>
                  </a:lnTo>
                  <a:lnTo>
                    <a:pt x="14447520" y="1005840"/>
                  </a:lnTo>
                  <a:lnTo>
                    <a:pt x="0" y="1005840"/>
                  </a:lnTo>
                  <a:close/>
                </a:path>
              </a:pathLst>
            </a:custGeom>
            <a:blipFill>
              <a:blip r:embed="rId3">
                <a:alphaModFix amt="0"/>
              </a:blip>
              <a:stretch>
                <a:fillRect l="0" t="-229875" r="0" b="-229875"/>
              </a:stretch>
            </a:blipFill>
          </p:spPr>
        </p:sp>
        <p:sp>
          <p:nvSpPr>
            <p:cNvPr name="TextBox 57" id="57"/>
            <p:cNvSpPr txBox="true"/>
            <p:nvPr/>
          </p:nvSpPr>
          <p:spPr>
            <a:xfrm>
              <a:off x="0" y="-38100"/>
              <a:ext cx="14447520" cy="1043940"/>
            </a:xfrm>
            <a:prstGeom prst="rect">
              <a:avLst/>
            </a:prstGeom>
          </p:spPr>
          <p:txBody>
            <a:bodyPr anchor="ctr" rtlCol="false" tIns="0" lIns="0" bIns="0" rIns="0"/>
            <a:lstStyle/>
            <a:p>
              <a:pPr algn="l">
                <a:lnSpc>
                  <a:spcPts val="2250"/>
                </a:lnSpc>
              </a:pPr>
              <a:r>
                <a:rPr lang="en-US" sz="1875">
                  <a:solidFill>
                    <a:srgbClr val="3A4066"/>
                  </a:solidFill>
                  <a:latin typeface="Calibri (MS)"/>
                  <a:ea typeface="Calibri (MS)"/>
                  <a:cs typeface="Calibri (MS)"/>
                  <a:sym typeface="Calibri (MS)"/>
                </a:rPr>
                <a:t>Changes are committed to the leads table; the row is refreshed for its generated fields.</a:t>
              </a:r>
            </a:p>
          </p:txBody>
        </p:sp>
      </p:grpSp>
      <p:grpSp>
        <p:nvGrpSpPr>
          <p:cNvPr name="Group 58" id="58"/>
          <p:cNvGrpSpPr/>
          <p:nvPr/>
        </p:nvGrpSpPr>
        <p:grpSpPr>
          <a:xfrm rot="0">
            <a:off x="1185862" y="7049453"/>
            <a:ext cx="28575" cy="508635"/>
            <a:chOff x="0" y="0"/>
            <a:chExt cx="38100" cy="678180"/>
          </a:xfrm>
        </p:grpSpPr>
        <p:sp>
          <p:nvSpPr>
            <p:cNvPr name="Freeform 59" id="59"/>
            <p:cNvSpPr/>
            <p:nvPr/>
          </p:nvSpPr>
          <p:spPr>
            <a:xfrm flipH="false" flipV="false" rot="0">
              <a:off x="0" y="0"/>
              <a:ext cx="38100" cy="678180"/>
            </a:xfrm>
            <a:custGeom>
              <a:avLst/>
              <a:gdLst/>
              <a:ahLst/>
              <a:cxnLst/>
              <a:rect r="r" b="b" t="t" l="l"/>
              <a:pathLst>
                <a:path h="678180" w="38100">
                  <a:moveTo>
                    <a:pt x="0" y="0"/>
                  </a:moveTo>
                  <a:lnTo>
                    <a:pt x="38100" y="678180"/>
                  </a:lnTo>
                </a:path>
              </a:pathLst>
            </a:custGeom>
            <a:blipFill>
              <a:blip r:embed="rId3">
                <a:alphaModFix amt="0"/>
              </a:blip>
              <a:stretch>
                <a:fillRect l="-2233803" t="0" r="-2233803" b="0"/>
              </a:stretch>
            </a:blipFill>
            <a:ln w="28575" cap="sq">
              <a:solidFill>
                <a:srgbClr val="C7CCEE"/>
              </a:solidFill>
              <a:prstDash val="solid"/>
              <a:miter/>
            </a:ln>
          </p:spPr>
        </p:sp>
      </p:grpSp>
      <p:grpSp>
        <p:nvGrpSpPr>
          <p:cNvPr name="Group 60" id="60"/>
          <p:cNvGrpSpPr/>
          <p:nvPr/>
        </p:nvGrpSpPr>
        <p:grpSpPr>
          <a:xfrm rot="0">
            <a:off x="822960" y="7543800"/>
            <a:ext cx="754380" cy="754380"/>
            <a:chOff x="0" y="0"/>
            <a:chExt cx="1005840" cy="1005840"/>
          </a:xfrm>
        </p:grpSpPr>
        <p:sp>
          <p:nvSpPr>
            <p:cNvPr name="Freeform 61" id="61"/>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E7D32"/>
            </a:solidFill>
          </p:spPr>
        </p:sp>
      </p:grpSp>
      <p:grpSp>
        <p:nvGrpSpPr>
          <p:cNvPr name="Group 62" id="62"/>
          <p:cNvGrpSpPr/>
          <p:nvPr/>
        </p:nvGrpSpPr>
        <p:grpSpPr>
          <a:xfrm rot="0">
            <a:off x="822960" y="7543800"/>
            <a:ext cx="754380" cy="754380"/>
            <a:chOff x="0" y="0"/>
            <a:chExt cx="1005840" cy="1005840"/>
          </a:xfrm>
        </p:grpSpPr>
        <p:sp>
          <p:nvSpPr>
            <p:cNvPr name="Freeform 63" id="63"/>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64" id="64"/>
            <p:cNvSpPr txBox="true"/>
            <p:nvPr/>
          </p:nvSpPr>
          <p:spPr>
            <a:xfrm>
              <a:off x="0" y="-57150"/>
              <a:ext cx="1005840" cy="1062990"/>
            </a:xfrm>
            <a:prstGeom prst="rect">
              <a:avLst/>
            </a:prstGeom>
          </p:spPr>
          <p:txBody>
            <a:bodyPr anchor="ctr" rtlCol="false" tIns="0" lIns="0" bIns="0" rIns="0"/>
            <a:lstStyle/>
            <a:p>
              <a:pPr algn="ctr">
                <a:lnSpc>
                  <a:spcPts val="3240"/>
                </a:lnSpc>
              </a:pPr>
              <a:r>
                <a:rPr lang="en-US" sz="2700" b="true">
                  <a:solidFill>
                    <a:srgbClr val="FFFFFF"/>
                  </a:solidFill>
                  <a:latin typeface="Calibri (MS) Bold"/>
                  <a:ea typeface="Calibri (MS) Bold"/>
                  <a:cs typeface="Calibri (MS) Bold"/>
                  <a:sym typeface="Calibri (MS) Bold"/>
                </a:rPr>
                <a:t>5</a:t>
              </a:r>
            </a:p>
          </p:txBody>
        </p:sp>
      </p:grpSp>
      <p:grpSp>
        <p:nvGrpSpPr>
          <p:cNvPr name="Group 65" id="65"/>
          <p:cNvGrpSpPr/>
          <p:nvPr/>
        </p:nvGrpSpPr>
        <p:grpSpPr>
          <a:xfrm rot="0">
            <a:off x="1920240" y="7516368"/>
            <a:ext cx="4389120" cy="754380"/>
            <a:chOff x="0" y="0"/>
            <a:chExt cx="5852160" cy="1005840"/>
          </a:xfrm>
        </p:grpSpPr>
        <p:sp>
          <p:nvSpPr>
            <p:cNvPr name="Freeform 66" id="66"/>
            <p:cNvSpPr/>
            <p:nvPr/>
          </p:nvSpPr>
          <p:spPr>
            <a:xfrm flipH="false" flipV="false" rot="0">
              <a:off x="0" y="0"/>
              <a:ext cx="5852160" cy="1005840"/>
            </a:xfrm>
            <a:custGeom>
              <a:avLst/>
              <a:gdLst/>
              <a:ahLst/>
              <a:cxnLst/>
              <a:rect r="r" b="b" t="t" l="l"/>
              <a:pathLst>
                <a:path h="1005840" w="5852160">
                  <a:moveTo>
                    <a:pt x="0" y="0"/>
                  </a:moveTo>
                  <a:lnTo>
                    <a:pt x="5852160" y="0"/>
                  </a:lnTo>
                  <a:lnTo>
                    <a:pt x="5852160" y="1005840"/>
                  </a:lnTo>
                  <a:lnTo>
                    <a:pt x="0" y="1005840"/>
                  </a:lnTo>
                  <a:close/>
                </a:path>
              </a:pathLst>
            </a:custGeom>
            <a:blipFill>
              <a:blip r:embed="rId3">
                <a:alphaModFix amt="0"/>
              </a:blip>
              <a:stretch>
                <a:fillRect l="0" t="-63367" r="0" b="-63367"/>
              </a:stretch>
            </a:blipFill>
          </p:spPr>
        </p:sp>
        <p:sp>
          <p:nvSpPr>
            <p:cNvPr name="TextBox 67" id="67"/>
            <p:cNvSpPr txBox="true"/>
            <p:nvPr/>
          </p:nvSpPr>
          <p:spPr>
            <a:xfrm>
              <a:off x="0" y="-47625"/>
              <a:ext cx="5852160" cy="1053465"/>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Return JSON Response</a:t>
              </a:r>
            </a:p>
          </p:txBody>
        </p:sp>
      </p:grpSp>
      <p:grpSp>
        <p:nvGrpSpPr>
          <p:cNvPr name="Group 68" id="68"/>
          <p:cNvGrpSpPr/>
          <p:nvPr/>
        </p:nvGrpSpPr>
        <p:grpSpPr>
          <a:xfrm rot="0">
            <a:off x="6515100" y="7516368"/>
            <a:ext cx="10835640" cy="754380"/>
            <a:chOff x="0" y="0"/>
            <a:chExt cx="14447520" cy="1005840"/>
          </a:xfrm>
        </p:grpSpPr>
        <p:sp>
          <p:nvSpPr>
            <p:cNvPr name="Freeform 69" id="69"/>
            <p:cNvSpPr/>
            <p:nvPr/>
          </p:nvSpPr>
          <p:spPr>
            <a:xfrm flipH="false" flipV="false" rot="0">
              <a:off x="0" y="0"/>
              <a:ext cx="14447520" cy="1005840"/>
            </a:xfrm>
            <a:custGeom>
              <a:avLst/>
              <a:gdLst/>
              <a:ahLst/>
              <a:cxnLst/>
              <a:rect r="r" b="b" t="t" l="l"/>
              <a:pathLst>
                <a:path h="1005840" w="14447520">
                  <a:moveTo>
                    <a:pt x="0" y="0"/>
                  </a:moveTo>
                  <a:lnTo>
                    <a:pt x="14447520" y="0"/>
                  </a:lnTo>
                  <a:lnTo>
                    <a:pt x="14447520" y="1005840"/>
                  </a:lnTo>
                  <a:lnTo>
                    <a:pt x="0" y="1005840"/>
                  </a:lnTo>
                  <a:close/>
                </a:path>
              </a:pathLst>
            </a:custGeom>
            <a:blipFill>
              <a:blip r:embed="rId3">
                <a:alphaModFix amt="0"/>
              </a:blip>
              <a:stretch>
                <a:fillRect l="0" t="-229875" r="0" b="-229875"/>
              </a:stretch>
            </a:blipFill>
          </p:spPr>
        </p:sp>
        <p:sp>
          <p:nvSpPr>
            <p:cNvPr name="TextBox 70" id="70"/>
            <p:cNvSpPr txBox="true"/>
            <p:nvPr/>
          </p:nvSpPr>
          <p:spPr>
            <a:xfrm>
              <a:off x="0" y="-38100"/>
              <a:ext cx="14447520" cy="1043940"/>
            </a:xfrm>
            <a:prstGeom prst="rect">
              <a:avLst/>
            </a:prstGeom>
          </p:spPr>
          <p:txBody>
            <a:bodyPr anchor="ctr" rtlCol="false" tIns="0" lIns="0" bIns="0" rIns="0"/>
            <a:lstStyle/>
            <a:p>
              <a:pPr algn="l">
                <a:lnSpc>
                  <a:spcPts val="2250"/>
                </a:lnSpc>
              </a:pPr>
              <a:r>
                <a:rPr lang="en-US" sz="1875">
                  <a:solidFill>
                    <a:srgbClr val="3A4066"/>
                  </a:solidFill>
                  <a:latin typeface="Calibri (MS)"/>
                  <a:ea typeface="Calibri (MS)"/>
                  <a:cs typeface="Calibri (MS)"/>
                  <a:sym typeface="Calibri (MS)"/>
                </a:rPr>
                <a:t>The result is serialized through the response schema and sent back to the client.</a:t>
              </a:r>
            </a:p>
          </p:txBody>
        </p:sp>
      </p:grpSp>
      <p:grpSp>
        <p:nvGrpSpPr>
          <p:cNvPr name="Group 71" id="71"/>
          <p:cNvGrpSpPr/>
          <p:nvPr/>
        </p:nvGrpSpPr>
        <p:grpSpPr>
          <a:xfrm rot="0">
            <a:off x="685800" y="9710928"/>
            <a:ext cx="9601200" cy="411480"/>
            <a:chOff x="0" y="0"/>
            <a:chExt cx="12801600" cy="548640"/>
          </a:xfrm>
        </p:grpSpPr>
        <p:sp>
          <p:nvSpPr>
            <p:cNvPr name="Freeform 72" id="72"/>
            <p:cNvSpPr/>
            <p:nvPr/>
          </p:nvSpPr>
          <p:spPr>
            <a:xfrm flipH="false" flipV="false" rot="0">
              <a:off x="0" y="0"/>
              <a:ext cx="12801600" cy="548640"/>
            </a:xfrm>
            <a:custGeom>
              <a:avLst/>
              <a:gdLst/>
              <a:ahLst/>
              <a:cxnLst/>
              <a:rect r="r" b="b" t="t" l="l"/>
              <a:pathLst>
                <a:path h="548640" w="12801600">
                  <a:moveTo>
                    <a:pt x="0" y="0"/>
                  </a:moveTo>
                  <a:lnTo>
                    <a:pt x="12801600" y="0"/>
                  </a:lnTo>
                  <a:lnTo>
                    <a:pt x="12801600" y="548640"/>
                  </a:lnTo>
                  <a:lnTo>
                    <a:pt x="0" y="548640"/>
                  </a:lnTo>
                  <a:close/>
                </a:path>
              </a:pathLst>
            </a:custGeom>
            <a:blipFill>
              <a:blip r:embed="rId3">
                <a:alphaModFix amt="0"/>
              </a:blip>
              <a:stretch>
                <a:fillRect l="0" t="-404650" r="0" b="-404650"/>
              </a:stretch>
            </a:blipFill>
          </p:spPr>
        </p:sp>
        <p:sp>
          <p:nvSpPr>
            <p:cNvPr name="TextBox 73" id="73"/>
            <p:cNvSpPr txBox="true"/>
            <p:nvPr/>
          </p:nvSpPr>
          <p:spPr>
            <a:xfrm>
              <a:off x="0" y="-38100"/>
              <a:ext cx="12801600" cy="586740"/>
            </a:xfrm>
            <a:prstGeom prst="rect">
              <a:avLst/>
            </a:prstGeom>
          </p:spPr>
          <p:txBody>
            <a:bodyPr anchor="ctr" rtlCol="false" tIns="0" lIns="0" bIns="0" rIns="0"/>
            <a:lstStyle/>
            <a:p>
              <a:pPr algn="l">
                <a:lnSpc>
                  <a:spcPts val="1800"/>
                </a:lnSpc>
              </a:pPr>
              <a:r>
                <a:rPr lang="en-US" sz="1500">
                  <a:solidFill>
                    <a:srgbClr val="6B7290"/>
                  </a:solidFill>
                  <a:latin typeface="Calibri (MS)"/>
                  <a:ea typeface="Calibri (MS)"/>
                  <a:cs typeface="Calibri (MS)"/>
                  <a:sym typeface="Calibri (MS)"/>
                </a:rPr>
                <a:t>SalesGenie  |  Module 1 – Prospect CRUD API</a:t>
              </a:r>
            </a:p>
          </p:txBody>
        </p:sp>
      </p:grpSp>
      <p:grpSp>
        <p:nvGrpSpPr>
          <p:cNvPr name="Group 74" id="74"/>
          <p:cNvGrpSpPr/>
          <p:nvPr/>
        </p:nvGrpSpPr>
        <p:grpSpPr>
          <a:xfrm rot="0">
            <a:off x="16911828" y="9710928"/>
            <a:ext cx="685800" cy="411480"/>
            <a:chOff x="0" y="0"/>
            <a:chExt cx="914400" cy="548640"/>
          </a:xfrm>
        </p:grpSpPr>
        <p:sp>
          <p:nvSpPr>
            <p:cNvPr name="Freeform 75" id="7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76" id="76"/>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90"/>
                  </a:solidFill>
                  <a:latin typeface="Calibri (MS)"/>
                  <a:ea typeface="Calibri (MS)"/>
                  <a:cs typeface="Calibri (MS)"/>
                  <a:sym typeface="Calibri (MS)"/>
                </a:rPr>
                <a:t>8</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15773400" cy="960120"/>
            <a:chOff x="0" y="0"/>
            <a:chExt cx="21031200" cy="1280160"/>
          </a:xfrm>
        </p:grpSpPr>
        <p:sp>
          <p:nvSpPr>
            <p:cNvPr name="Freeform 3" id="3"/>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4" id="4"/>
            <p:cNvSpPr txBox="true"/>
            <p:nvPr/>
          </p:nvSpPr>
          <p:spPr>
            <a:xfrm>
              <a:off x="0" y="-19050"/>
              <a:ext cx="21031200" cy="1299210"/>
            </a:xfrm>
            <a:prstGeom prst="rect">
              <a:avLst/>
            </a:prstGeom>
          </p:spPr>
          <p:txBody>
            <a:bodyPr anchor="ctr" rtlCol="false" tIns="0" lIns="0" bIns="0" rIns="0"/>
            <a:lstStyle/>
            <a:p>
              <a:pPr algn="l">
                <a:lnSpc>
                  <a:spcPts val="5400"/>
                </a:lnSpc>
              </a:pPr>
              <a:r>
                <a:rPr lang="en-US" sz="4500" b="true">
                  <a:solidFill>
                    <a:srgbClr val="1E2761"/>
                  </a:solidFill>
                  <a:latin typeface="Cambria Bold"/>
                  <a:ea typeface="Cambria Bold"/>
                  <a:cs typeface="Cambria Bold"/>
                  <a:sym typeface="Cambria Bold"/>
                </a:rPr>
                <a:t>Challenges &amp; Solutions</a:t>
              </a:r>
            </a:p>
          </p:txBody>
        </p:sp>
      </p:grpSp>
      <p:grpSp>
        <p:nvGrpSpPr>
          <p:cNvPr name="Group 5" id="5"/>
          <p:cNvGrpSpPr/>
          <p:nvPr/>
        </p:nvGrpSpPr>
        <p:grpSpPr>
          <a:xfrm rot="0">
            <a:off x="822960" y="2537460"/>
            <a:ext cx="16596360" cy="1179576"/>
            <a:chOff x="0" y="0"/>
            <a:chExt cx="22128480" cy="1572768"/>
          </a:xfrm>
        </p:grpSpPr>
        <p:sp>
          <p:nvSpPr>
            <p:cNvPr name="Freeform 6" id="6"/>
            <p:cNvSpPr/>
            <p:nvPr/>
          </p:nvSpPr>
          <p:spPr>
            <a:xfrm flipH="false" flipV="false" rot="0">
              <a:off x="0" y="0"/>
              <a:ext cx="22128480" cy="1572768"/>
            </a:xfrm>
            <a:custGeom>
              <a:avLst/>
              <a:gdLst/>
              <a:ahLst/>
              <a:cxnLst/>
              <a:rect r="r" b="b" t="t" l="l"/>
              <a:pathLst>
                <a:path h="1572768" w="22128480">
                  <a:moveTo>
                    <a:pt x="0" y="146304"/>
                  </a:moveTo>
                  <a:cubicBezTo>
                    <a:pt x="0" y="65532"/>
                    <a:pt x="65532" y="0"/>
                    <a:pt x="146304" y="0"/>
                  </a:cubicBezTo>
                  <a:lnTo>
                    <a:pt x="21982176" y="0"/>
                  </a:lnTo>
                  <a:cubicBezTo>
                    <a:pt x="22062948" y="0"/>
                    <a:pt x="22128480" y="65532"/>
                    <a:pt x="22128480" y="146304"/>
                  </a:cubicBezTo>
                  <a:lnTo>
                    <a:pt x="22128480" y="1426464"/>
                  </a:lnTo>
                  <a:cubicBezTo>
                    <a:pt x="22128480" y="1507236"/>
                    <a:pt x="22062948" y="1572768"/>
                    <a:pt x="21982176" y="1572768"/>
                  </a:cubicBezTo>
                  <a:lnTo>
                    <a:pt x="146304" y="1572768"/>
                  </a:lnTo>
                  <a:cubicBezTo>
                    <a:pt x="65532" y="1572768"/>
                    <a:pt x="0" y="1507236"/>
                    <a:pt x="0" y="1426464"/>
                  </a:cubicBezTo>
                  <a:close/>
                </a:path>
              </a:pathLst>
            </a:custGeom>
            <a:solidFill>
              <a:srgbClr val="F4F6FC"/>
            </a:solidFill>
          </p:spPr>
        </p:sp>
      </p:grpSp>
      <p:grpSp>
        <p:nvGrpSpPr>
          <p:cNvPr name="Group 7" id="7"/>
          <p:cNvGrpSpPr/>
          <p:nvPr/>
        </p:nvGrpSpPr>
        <p:grpSpPr>
          <a:xfrm rot="0">
            <a:off x="1097280" y="2715768"/>
            <a:ext cx="822960" cy="822960"/>
            <a:chOff x="0" y="0"/>
            <a:chExt cx="1097280" cy="1097280"/>
          </a:xfrm>
        </p:grpSpPr>
        <p:sp>
          <p:nvSpPr>
            <p:cNvPr name="Freeform 8" id="8"/>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1E2761"/>
            </a:solidFill>
          </p:spPr>
        </p:sp>
      </p:grpSp>
      <p:grpSp>
        <p:nvGrpSpPr>
          <p:cNvPr name="Group 9" id="9"/>
          <p:cNvGrpSpPr/>
          <p:nvPr/>
        </p:nvGrpSpPr>
        <p:grpSpPr>
          <a:xfrm rot="0">
            <a:off x="1097280" y="2715768"/>
            <a:ext cx="822960" cy="822960"/>
            <a:chOff x="0" y="0"/>
            <a:chExt cx="1097280" cy="1097280"/>
          </a:xfrm>
        </p:grpSpPr>
        <p:sp>
          <p:nvSpPr>
            <p:cNvPr name="Freeform 10" id="10"/>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11" id="11"/>
            <p:cNvSpPr txBox="true"/>
            <p:nvPr/>
          </p:nvSpPr>
          <p:spPr>
            <a:xfrm>
              <a:off x="0" y="-38100"/>
              <a:ext cx="1097280" cy="113538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a:t>
              </a:r>
            </a:p>
          </p:txBody>
        </p:sp>
      </p:grpSp>
      <p:grpSp>
        <p:nvGrpSpPr>
          <p:cNvPr name="Group 12" id="12"/>
          <p:cNvGrpSpPr/>
          <p:nvPr/>
        </p:nvGrpSpPr>
        <p:grpSpPr>
          <a:xfrm rot="0">
            <a:off x="2263140" y="2647188"/>
            <a:ext cx="3497580" cy="1042416"/>
            <a:chOff x="0" y="0"/>
            <a:chExt cx="4663440" cy="1389888"/>
          </a:xfrm>
        </p:grpSpPr>
        <p:sp>
          <p:nvSpPr>
            <p:cNvPr name="Freeform 13" id="13"/>
            <p:cNvSpPr/>
            <p:nvPr/>
          </p:nvSpPr>
          <p:spPr>
            <a:xfrm flipH="false" flipV="false" rot="0">
              <a:off x="0" y="0"/>
              <a:ext cx="4663440" cy="1389888"/>
            </a:xfrm>
            <a:custGeom>
              <a:avLst/>
              <a:gdLst/>
              <a:ahLst/>
              <a:cxnLst/>
              <a:rect r="r" b="b" t="t" l="l"/>
              <a:pathLst>
                <a:path h="1389888" w="4663440">
                  <a:moveTo>
                    <a:pt x="0" y="0"/>
                  </a:moveTo>
                  <a:lnTo>
                    <a:pt x="4663440" y="0"/>
                  </a:lnTo>
                  <a:lnTo>
                    <a:pt x="4663440" y="1389888"/>
                  </a:lnTo>
                  <a:lnTo>
                    <a:pt x="0" y="1389888"/>
                  </a:lnTo>
                  <a:close/>
                </a:path>
              </a:pathLst>
            </a:custGeom>
            <a:blipFill>
              <a:blip r:embed="rId3">
                <a:alphaModFix amt="0"/>
              </a:blip>
              <a:stretch>
                <a:fillRect l="0" t="-15377" r="0" b="-15377"/>
              </a:stretch>
            </a:blipFill>
          </p:spPr>
        </p:sp>
        <p:sp>
          <p:nvSpPr>
            <p:cNvPr name="TextBox 14" id="14"/>
            <p:cNvSpPr txBox="true"/>
            <p:nvPr/>
          </p:nvSpPr>
          <p:spPr>
            <a:xfrm>
              <a:off x="0" y="-47625"/>
              <a:ext cx="4663440" cy="1437513"/>
            </a:xfrm>
            <a:prstGeom prst="rect">
              <a:avLst/>
            </a:prstGeom>
          </p:spPr>
          <p:txBody>
            <a:bodyPr anchor="ctr" rtlCol="false" tIns="0" lIns="0" bIns="0" rIns="0"/>
            <a:lstStyle/>
            <a:p>
              <a:pPr algn="l">
                <a:lnSpc>
                  <a:spcPts val="2340"/>
                </a:lnSpc>
              </a:pPr>
              <a:r>
                <a:rPr lang="en-US" sz="1950" b="true">
                  <a:solidFill>
                    <a:srgbClr val="1E2761"/>
                  </a:solidFill>
                  <a:latin typeface="Calibri (MS) Bold"/>
                  <a:ea typeface="Calibri (MS) Bold"/>
                  <a:cs typeface="Calibri (MS) Bold"/>
                  <a:sym typeface="Calibri (MS) Bold"/>
                </a:rPr>
                <a:t>Input Validation</a:t>
              </a:r>
            </a:p>
          </p:txBody>
        </p:sp>
      </p:grpSp>
      <p:grpSp>
        <p:nvGrpSpPr>
          <p:cNvPr name="Group 15" id="15"/>
          <p:cNvGrpSpPr/>
          <p:nvPr/>
        </p:nvGrpSpPr>
        <p:grpSpPr>
          <a:xfrm rot="0">
            <a:off x="5897880" y="2647188"/>
            <a:ext cx="5280660" cy="1042416"/>
            <a:chOff x="0" y="0"/>
            <a:chExt cx="7040880" cy="1389888"/>
          </a:xfrm>
        </p:grpSpPr>
        <p:sp>
          <p:nvSpPr>
            <p:cNvPr name="Freeform 16" id="16"/>
            <p:cNvSpPr/>
            <p:nvPr/>
          </p:nvSpPr>
          <p:spPr>
            <a:xfrm flipH="false" flipV="false" rot="0">
              <a:off x="0" y="0"/>
              <a:ext cx="7040880" cy="1389888"/>
            </a:xfrm>
            <a:custGeom>
              <a:avLst/>
              <a:gdLst/>
              <a:ahLst/>
              <a:cxnLst/>
              <a:rect r="r" b="b" t="t" l="l"/>
              <a:pathLst>
                <a:path h="1389888" w="7040880">
                  <a:moveTo>
                    <a:pt x="0" y="0"/>
                  </a:moveTo>
                  <a:lnTo>
                    <a:pt x="7040880" y="0"/>
                  </a:lnTo>
                  <a:lnTo>
                    <a:pt x="7040880" y="1389888"/>
                  </a:lnTo>
                  <a:lnTo>
                    <a:pt x="0" y="1389888"/>
                  </a:lnTo>
                  <a:close/>
                </a:path>
              </a:pathLst>
            </a:custGeom>
            <a:blipFill>
              <a:blip r:embed="rId3">
                <a:alphaModFix amt="0"/>
              </a:blip>
              <a:stretch>
                <a:fillRect l="0" t="-48707" r="0" b="-48707"/>
              </a:stretch>
            </a:blipFill>
          </p:spPr>
        </p:sp>
        <p:sp>
          <p:nvSpPr>
            <p:cNvPr name="TextBox 17" id="17"/>
            <p:cNvSpPr txBox="true"/>
            <p:nvPr/>
          </p:nvSpPr>
          <p:spPr>
            <a:xfrm>
              <a:off x="0" y="-28575"/>
              <a:ext cx="7040880" cy="1418463"/>
            </a:xfrm>
            <a:prstGeom prst="rect">
              <a:avLst/>
            </a:prstGeom>
          </p:spPr>
          <p:txBody>
            <a:bodyPr anchor="ctr" rtlCol="false" tIns="0" lIns="0" bIns="0" rIns="0"/>
            <a:lstStyle/>
            <a:p>
              <a:pPr algn="l">
                <a:lnSpc>
                  <a:spcPts val="1980"/>
                </a:lnSpc>
              </a:pPr>
              <a:r>
                <a:rPr lang="en-US" sz="1650" i="true">
                  <a:solidFill>
                    <a:srgbClr val="6B7290"/>
                  </a:solidFill>
                  <a:latin typeface="Calibri (MS) Italics"/>
                  <a:ea typeface="Calibri (MS) Italics"/>
                  <a:cs typeface="Calibri (MS) Italics"/>
                  <a:sym typeface="Calibri (MS) Italics"/>
                </a:rPr>
                <a:t>Malformed or incomplete data (e.g. invalid email format)</a:t>
              </a:r>
            </a:p>
          </p:txBody>
        </p:sp>
      </p:grpSp>
      <p:grpSp>
        <p:nvGrpSpPr>
          <p:cNvPr name="Group 18" id="18"/>
          <p:cNvGrpSpPr/>
          <p:nvPr/>
        </p:nvGrpSpPr>
        <p:grpSpPr>
          <a:xfrm rot="0">
            <a:off x="11315700" y="2647188"/>
            <a:ext cx="5829300" cy="1042416"/>
            <a:chOff x="0" y="0"/>
            <a:chExt cx="7772400" cy="1389888"/>
          </a:xfrm>
        </p:grpSpPr>
        <p:sp>
          <p:nvSpPr>
            <p:cNvPr name="Freeform 19" id="19"/>
            <p:cNvSpPr/>
            <p:nvPr/>
          </p:nvSpPr>
          <p:spPr>
            <a:xfrm flipH="false" flipV="false" rot="0">
              <a:off x="0" y="0"/>
              <a:ext cx="7772400" cy="1389888"/>
            </a:xfrm>
            <a:custGeom>
              <a:avLst/>
              <a:gdLst/>
              <a:ahLst/>
              <a:cxnLst/>
              <a:rect r="r" b="b" t="t" l="l"/>
              <a:pathLst>
                <a:path h="1389888" w="7772400">
                  <a:moveTo>
                    <a:pt x="0" y="0"/>
                  </a:moveTo>
                  <a:lnTo>
                    <a:pt x="7772400" y="0"/>
                  </a:lnTo>
                  <a:lnTo>
                    <a:pt x="7772400" y="1389888"/>
                  </a:lnTo>
                  <a:lnTo>
                    <a:pt x="0" y="1389888"/>
                  </a:lnTo>
                  <a:close/>
                </a:path>
              </a:pathLst>
            </a:custGeom>
            <a:blipFill>
              <a:blip r:embed="rId3">
                <a:alphaModFix amt="0"/>
              </a:blip>
              <a:stretch>
                <a:fillRect l="0" t="-58962" r="0" b="-58962"/>
              </a:stretch>
            </a:blipFill>
          </p:spPr>
        </p:sp>
        <p:sp>
          <p:nvSpPr>
            <p:cNvPr name="TextBox 20" id="20"/>
            <p:cNvSpPr txBox="true"/>
            <p:nvPr/>
          </p:nvSpPr>
          <p:spPr>
            <a:xfrm>
              <a:off x="0" y="-28575"/>
              <a:ext cx="7772400" cy="1418463"/>
            </a:xfrm>
            <a:prstGeom prst="rect">
              <a:avLst/>
            </a:prstGeom>
          </p:spPr>
          <p:txBody>
            <a:bodyPr anchor="ctr" rtlCol="false" tIns="0" lIns="0" bIns="0" rIns="0"/>
            <a:lstStyle/>
            <a:p>
              <a:pPr algn="l">
                <a:lnSpc>
                  <a:spcPts val="1980"/>
                </a:lnSpc>
              </a:pPr>
              <a:r>
                <a:rPr lang="en-US" sz="1650">
                  <a:solidFill>
                    <a:srgbClr val="3A4066"/>
                  </a:solidFill>
                  <a:latin typeface="Calibri (MS)"/>
                  <a:ea typeface="Calibri (MS)"/>
                  <a:cs typeface="Calibri (MS)"/>
                  <a:sym typeface="Calibri (MS)"/>
                </a:rPr>
                <a:t>Pydantic schemas (LeadCreate / LeadUpdate) enforce types and formats before data reaches the database.</a:t>
              </a:r>
            </a:p>
          </p:txBody>
        </p:sp>
      </p:grpSp>
      <p:grpSp>
        <p:nvGrpSpPr>
          <p:cNvPr name="Group 21" id="21"/>
          <p:cNvGrpSpPr/>
          <p:nvPr/>
        </p:nvGrpSpPr>
        <p:grpSpPr>
          <a:xfrm rot="0">
            <a:off x="822960" y="3909060"/>
            <a:ext cx="16596360" cy="1179576"/>
            <a:chOff x="0" y="0"/>
            <a:chExt cx="22128480" cy="1572768"/>
          </a:xfrm>
        </p:grpSpPr>
        <p:sp>
          <p:nvSpPr>
            <p:cNvPr name="Freeform 22" id="22"/>
            <p:cNvSpPr/>
            <p:nvPr/>
          </p:nvSpPr>
          <p:spPr>
            <a:xfrm flipH="false" flipV="false" rot="0">
              <a:off x="0" y="0"/>
              <a:ext cx="22128480" cy="1572768"/>
            </a:xfrm>
            <a:custGeom>
              <a:avLst/>
              <a:gdLst/>
              <a:ahLst/>
              <a:cxnLst/>
              <a:rect r="r" b="b" t="t" l="l"/>
              <a:pathLst>
                <a:path h="1572768" w="22128480">
                  <a:moveTo>
                    <a:pt x="0" y="146304"/>
                  </a:moveTo>
                  <a:cubicBezTo>
                    <a:pt x="0" y="65532"/>
                    <a:pt x="65532" y="0"/>
                    <a:pt x="146304" y="0"/>
                  </a:cubicBezTo>
                  <a:lnTo>
                    <a:pt x="21982176" y="0"/>
                  </a:lnTo>
                  <a:cubicBezTo>
                    <a:pt x="22062948" y="0"/>
                    <a:pt x="22128480" y="65532"/>
                    <a:pt x="22128480" y="146304"/>
                  </a:cubicBezTo>
                  <a:lnTo>
                    <a:pt x="22128480" y="1426464"/>
                  </a:lnTo>
                  <a:cubicBezTo>
                    <a:pt x="22128480" y="1507236"/>
                    <a:pt x="22062948" y="1572768"/>
                    <a:pt x="21982176" y="1572768"/>
                  </a:cubicBezTo>
                  <a:lnTo>
                    <a:pt x="146304" y="1572768"/>
                  </a:lnTo>
                  <a:cubicBezTo>
                    <a:pt x="65532" y="1572768"/>
                    <a:pt x="0" y="1507236"/>
                    <a:pt x="0" y="1426464"/>
                  </a:cubicBezTo>
                  <a:close/>
                </a:path>
              </a:pathLst>
            </a:custGeom>
            <a:solidFill>
              <a:srgbClr val="F4F6FC"/>
            </a:solidFill>
          </p:spPr>
        </p:sp>
      </p:grpSp>
      <p:grpSp>
        <p:nvGrpSpPr>
          <p:cNvPr name="Group 23" id="23"/>
          <p:cNvGrpSpPr/>
          <p:nvPr/>
        </p:nvGrpSpPr>
        <p:grpSpPr>
          <a:xfrm rot="0">
            <a:off x="1097280" y="4087368"/>
            <a:ext cx="822960" cy="822960"/>
            <a:chOff x="0" y="0"/>
            <a:chExt cx="1097280" cy="1097280"/>
          </a:xfrm>
        </p:grpSpPr>
        <p:sp>
          <p:nvSpPr>
            <p:cNvPr name="Freeform 24" id="24"/>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1E2761"/>
            </a:solidFill>
          </p:spPr>
        </p:sp>
      </p:grpSp>
      <p:grpSp>
        <p:nvGrpSpPr>
          <p:cNvPr name="Group 25" id="25"/>
          <p:cNvGrpSpPr/>
          <p:nvPr/>
        </p:nvGrpSpPr>
        <p:grpSpPr>
          <a:xfrm rot="0">
            <a:off x="1097280" y="4087368"/>
            <a:ext cx="822960" cy="822960"/>
            <a:chOff x="0" y="0"/>
            <a:chExt cx="1097280" cy="1097280"/>
          </a:xfrm>
        </p:grpSpPr>
        <p:sp>
          <p:nvSpPr>
            <p:cNvPr name="Freeform 26" id="26"/>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27" id="27"/>
            <p:cNvSpPr txBox="true"/>
            <p:nvPr/>
          </p:nvSpPr>
          <p:spPr>
            <a:xfrm>
              <a:off x="0" y="-38100"/>
              <a:ext cx="1097280" cy="113538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a:t>
              </a:r>
            </a:p>
          </p:txBody>
        </p:sp>
      </p:grpSp>
      <p:grpSp>
        <p:nvGrpSpPr>
          <p:cNvPr name="Group 28" id="28"/>
          <p:cNvGrpSpPr/>
          <p:nvPr/>
        </p:nvGrpSpPr>
        <p:grpSpPr>
          <a:xfrm rot="0">
            <a:off x="2263140" y="4018788"/>
            <a:ext cx="3497580" cy="1042416"/>
            <a:chOff x="0" y="0"/>
            <a:chExt cx="4663440" cy="1389888"/>
          </a:xfrm>
        </p:grpSpPr>
        <p:sp>
          <p:nvSpPr>
            <p:cNvPr name="Freeform 29" id="29"/>
            <p:cNvSpPr/>
            <p:nvPr/>
          </p:nvSpPr>
          <p:spPr>
            <a:xfrm flipH="false" flipV="false" rot="0">
              <a:off x="0" y="0"/>
              <a:ext cx="4663440" cy="1389888"/>
            </a:xfrm>
            <a:custGeom>
              <a:avLst/>
              <a:gdLst/>
              <a:ahLst/>
              <a:cxnLst/>
              <a:rect r="r" b="b" t="t" l="l"/>
              <a:pathLst>
                <a:path h="1389888" w="4663440">
                  <a:moveTo>
                    <a:pt x="0" y="0"/>
                  </a:moveTo>
                  <a:lnTo>
                    <a:pt x="4663440" y="0"/>
                  </a:lnTo>
                  <a:lnTo>
                    <a:pt x="4663440" y="1389888"/>
                  </a:lnTo>
                  <a:lnTo>
                    <a:pt x="0" y="1389888"/>
                  </a:lnTo>
                  <a:close/>
                </a:path>
              </a:pathLst>
            </a:custGeom>
            <a:blipFill>
              <a:blip r:embed="rId3">
                <a:alphaModFix amt="0"/>
              </a:blip>
              <a:stretch>
                <a:fillRect l="0" t="-15377" r="0" b="-15377"/>
              </a:stretch>
            </a:blipFill>
          </p:spPr>
        </p:sp>
        <p:sp>
          <p:nvSpPr>
            <p:cNvPr name="TextBox 30" id="30"/>
            <p:cNvSpPr txBox="true"/>
            <p:nvPr/>
          </p:nvSpPr>
          <p:spPr>
            <a:xfrm>
              <a:off x="0" y="-47625"/>
              <a:ext cx="4663440" cy="1437513"/>
            </a:xfrm>
            <a:prstGeom prst="rect">
              <a:avLst/>
            </a:prstGeom>
          </p:spPr>
          <p:txBody>
            <a:bodyPr anchor="ctr" rtlCol="false" tIns="0" lIns="0" bIns="0" rIns="0"/>
            <a:lstStyle/>
            <a:p>
              <a:pPr algn="l">
                <a:lnSpc>
                  <a:spcPts val="2340"/>
                </a:lnSpc>
              </a:pPr>
              <a:r>
                <a:rPr lang="en-US" sz="1950" b="true">
                  <a:solidFill>
                    <a:srgbClr val="1E2761"/>
                  </a:solidFill>
                  <a:latin typeface="Calibri (MS) Bold"/>
                  <a:ea typeface="Calibri (MS) Bold"/>
                  <a:cs typeface="Calibri (MS) Bold"/>
                  <a:sym typeface="Calibri (MS) Bold"/>
                </a:rPr>
                <a:t>Duplicate Data Handling</a:t>
              </a:r>
            </a:p>
          </p:txBody>
        </p:sp>
      </p:grpSp>
      <p:grpSp>
        <p:nvGrpSpPr>
          <p:cNvPr name="Group 31" id="31"/>
          <p:cNvGrpSpPr/>
          <p:nvPr/>
        </p:nvGrpSpPr>
        <p:grpSpPr>
          <a:xfrm rot="0">
            <a:off x="5897880" y="4018788"/>
            <a:ext cx="5280660" cy="1042416"/>
            <a:chOff x="0" y="0"/>
            <a:chExt cx="7040880" cy="1389888"/>
          </a:xfrm>
        </p:grpSpPr>
        <p:sp>
          <p:nvSpPr>
            <p:cNvPr name="Freeform 32" id="32"/>
            <p:cNvSpPr/>
            <p:nvPr/>
          </p:nvSpPr>
          <p:spPr>
            <a:xfrm flipH="false" flipV="false" rot="0">
              <a:off x="0" y="0"/>
              <a:ext cx="7040880" cy="1389888"/>
            </a:xfrm>
            <a:custGeom>
              <a:avLst/>
              <a:gdLst/>
              <a:ahLst/>
              <a:cxnLst/>
              <a:rect r="r" b="b" t="t" l="l"/>
              <a:pathLst>
                <a:path h="1389888" w="7040880">
                  <a:moveTo>
                    <a:pt x="0" y="0"/>
                  </a:moveTo>
                  <a:lnTo>
                    <a:pt x="7040880" y="0"/>
                  </a:lnTo>
                  <a:lnTo>
                    <a:pt x="7040880" y="1389888"/>
                  </a:lnTo>
                  <a:lnTo>
                    <a:pt x="0" y="1389888"/>
                  </a:lnTo>
                  <a:close/>
                </a:path>
              </a:pathLst>
            </a:custGeom>
            <a:blipFill>
              <a:blip r:embed="rId3">
                <a:alphaModFix amt="0"/>
              </a:blip>
              <a:stretch>
                <a:fillRect l="0" t="-48707" r="0" b="-48707"/>
              </a:stretch>
            </a:blipFill>
          </p:spPr>
        </p:sp>
        <p:sp>
          <p:nvSpPr>
            <p:cNvPr name="TextBox 33" id="33"/>
            <p:cNvSpPr txBox="true"/>
            <p:nvPr/>
          </p:nvSpPr>
          <p:spPr>
            <a:xfrm>
              <a:off x="0" y="-28575"/>
              <a:ext cx="7040880" cy="1418463"/>
            </a:xfrm>
            <a:prstGeom prst="rect">
              <a:avLst/>
            </a:prstGeom>
          </p:spPr>
          <p:txBody>
            <a:bodyPr anchor="ctr" rtlCol="false" tIns="0" lIns="0" bIns="0" rIns="0"/>
            <a:lstStyle/>
            <a:p>
              <a:pPr algn="l">
                <a:lnSpc>
                  <a:spcPts val="1980"/>
                </a:lnSpc>
              </a:pPr>
              <a:r>
                <a:rPr lang="en-US" sz="1650" i="true">
                  <a:solidFill>
                    <a:srgbClr val="6B7290"/>
                  </a:solidFill>
                  <a:latin typeface="Calibri (MS) Italics"/>
                  <a:ea typeface="Calibri (MS) Italics"/>
                  <a:cs typeface="Calibri (MS) Italics"/>
                  <a:sym typeface="Calibri (MS) Italics"/>
                </a:rPr>
                <a:t>Same prospect submitted twice with the same email</a:t>
              </a:r>
            </a:p>
          </p:txBody>
        </p:sp>
      </p:grpSp>
      <p:grpSp>
        <p:nvGrpSpPr>
          <p:cNvPr name="Group 34" id="34"/>
          <p:cNvGrpSpPr/>
          <p:nvPr/>
        </p:nvGrpSpPr>
        <p:grpSpPr>
          <a:xfrm rot="0">
            <a:off x="11315700" y="4018788"/>
            <a:ext cx="5829300" cy="1042416"/>
            <a:chOff x="0" y="0"/>
            <a:chExt cx="7772400" cy="1389888"/>
          </a:xfrm>
        </p:grpSpPr>
        <p:sp>
          <p:nvSpPr>
            <p:cNvPr name="Freeform 35" id="35"/>
            <p:cNvSpPr/>
            <p:nvPr/>
          </p:nvSpPr>
          <p:spPr>
            <a:xfrm flipH="false" flipV="false" rot="0">
              <a:off x="0" y="0"/>
              <a:ext cx="7772400" cy="1389888"/>
            </a:xfrm>
            <a:custGeom>
              <a:avLst/>
              <a:gdLst/>
              <a:ahLst/>
              <a:cxnLst/>
              <a:rect r="r" b="b" t="t" l="l"/>
              <a:pathLst>
                <a:path h="1389888" w="7772400">
                  <a:moveTo>
                    <a:pt x="0" y="0"/>
                  </a:moveTo>
                  <a:lnTo>
                    <a:pt x="7772400" y="0"/>
                  </a:lnTo>
                  <a:lnTo>
                    <a:pt x="7772400" y="1389888"/>
                  </a:lnTo>
                  <a:lnTo>
                    <a:pt x="0" y="1389888"/>
                  </a:lnTo>
                  <a:close/>
                </a:path>
              </a:pathLst>
            </a:custGeom>
            <a:blipFill>
              <a:blip r:embed="rId3">
                <a:alphaModFix amt="0"/>
              </a:blip>
              <a:stretch>
                <a:fillRect l="0" t="-58962" r="0" b="-58962"/>
              </a:stretch>
            </a:blipFill>
          </p:spPr>
        </p:sp>
        <p:sp>
          <p:nvSpPr>
            <p:cNvPr name="TextBox 36" id="36"/>
            <p:cNvSpPr txBox="true"/>
            <p:nvPr/>
          </p:nvSpPr>
          <p:spPr>
            <a:xfrm>
              <a:off x="0" y="-28575"/>
              <a:ext cx="7772400" cy="1418463"/>
            </a:xfrm>
            <a:prstGeom prst="rect">
              <a:avLst/>
            </a:prstGeom>
          </p:spPr>
          <p:txBody>
            <a:bodyPr anchor="ctr" rtlCol="false" tIns="0" lIns="0" bIns="0" rIns="0"/>
            <a:lstStyle/>
            <a:p>
              <a:pPr algn="l">
                <a:lnSpc>
                  <a:spcPts val="1980"/>
                </a:lnSpc>
              </a:pPr>
              <a:r>
                <a:rPr lang="en-US" sz="1650">
                  <a:solidFill>
                    <a:srgbClr val="3A4066"/>
                  </a:solidFill>
                  <a:latin typeface="Calibri (MS)"/>
                  <a:ea typeface="Calibri (MS)"/>
                  <a:cs typeface="Calibri (MS)"/>
                  <a:sym typeface="Calibri (MS)"/>
                </a:rPr>
                <a:t>Application-level lookup checks for an existing email on both Create and Update before committing.</a:t>
              </a:r>
            </a:p>
          </p:txBody>
        </p:sp>
      </p:grpSp>
      <p:grpSp>
        <p:nvGrpSpPr>
          <p:cNvPr name="Group 37" id="37"/>
          <p:cNvGrpSpPr/>
          <p:nvPr/>
        </p:nvGrpSpPr>
        <p:grpSpPr>
          <a:xfrm rot="0">
            <a:off x="822960" y="5280660"/>
            <a:ext cx="16596360" cy="1179576"/>
            <a:chOff x="0" y="0"/>
            <a:chExt cx="22128480" cy="1572768"/>
          </a:xfrm>
        </p:grpSpPr>
        <p:sp>
          <p:nvSpPr>
            <p:cNvPr name="Freeform 38" id="38"/>
            <p:cNvSpPr/>
            <p:nvPr/>
          </p:nvSpPr>
          <p:spPr>
            <a:xfrm flipH="false" flipV="false" rot="0">
              <a:off x="0" y="0"/>
              <a:ext cx="22128480" cy="1572768"/>
            </a:xfrm>
            <a:custGeom>
              <a:avLst/>
              <a:gdLst/>
              <a:ahLst/>
              <a:cxnLst/>
              <a:rect r="r" b="b" t="t" l="l"/>
              <a:pathLst>
                <a:path h="1572768" w="22128480">
                  <a:moveTo>
                    <a:pt x="0" y="146304"/>
                  </a:moveTo>
                  <a:cubicBezTo>
                    <a:pt x="0" y="65532"/>
                    <a:pt x="65532" y="0"/>
                    <a:pt x="146304" y="0"/>
                  </a:cubicBezTo>
                  <a:lnTo>
                    <a:pt x="21982176" y="0"/>
                  </a:lnTo>
                  <a:cubicBezTo>
                    <a:pt x="22062948" y="0"/>
                    <a:pt x="22128480" y="65532"/>
                    <a:pt x="22128480" y="146304"/>
                  </a:cubicBezTo>
                  <a:lnTo>
                    <a:pt x="22128480" y="1426464"/>
                  </a:lnTo>
                  <a:cubicBezTo>
                    <a:pt x="22128480" y="1507236"/>
                    <a:pt x="22062948" y="1572768"/>
                    <a:pt x="21982176" y="1572768"/>
                  </a:cubicBezTo>
                  <a:lnTo>
                    <a:pt x="146304" y="1572768"/>
                  </a:lnTo>
                  <a:cubicBezTo>
                    <a:pt x="65532" y="1572768"/>
                    <a:pt x="0" y="1507236"/>
                    <a:pt x="0" y="1426464"/>
                  </a:cubicBezTo>
                  <a:close/>
                </a:path>
              </a:pathLst>
            </a:custGeom>
            <a:solidFill>
              <a:srgbClr val="F4F6FC"/>
            </a:solidFill>
          </p:spPr>
        </p:sp>
      </p:grpSp>
      <p:grpSp>
        <p:nvGrpSpPr>
          <p:cNvPr name="Group 39" id="39"/>
          <p:cNvGrpSpPr/>
          <p:nvPr/>
        </p:nvGrpSpPr>
        <p:grpSpPr>
          <a:xfrm rot="0">
            <a:off x="1097280" y="5458968"/>
            <a:ext cx="822960" cy="822960"/>
            <a:chOff x="0" y="0"/>
            <a:chExt cx="1097280" cy="1097280"/>
          </a:xfrm>
        </p:grpSpPr>
        <p:sp>
          <p:nvSpPr>
            <p:cNvPr name="Freeform 40" id="40"/>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1E2761"/>
            </a:solidFill>
          </p:spPr>
        </p:sp>
      </p:grpSp>
      <p:grpSp>
        <p:nvGrpSpPr>
          <p:cNvPr name="Group 41" id="41"/>
          <p:cNvGrpSpPr/>
          <p:nvPr/>
        </p:nvGrpSpPr>
        <p:grpSpPr>
          <a:xfrm rot="0">
            <a:off x="1097280" y="5458968"/>
            <a:ext cx="822960" cy="822960"/>
            <a:chOff x="0" y="0"/>
            <a:chExt cx="1097280" cy="1097280"/>
          </a:xfrm>
        </p:grpSpPr>
        <p:sp>
          <p:nvSpPr>
            <p:cNvPr name="Freeform 42" id="42"/>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43" id="43"/>
            <p:cNvSpPr txBox="true"/>
            <p:nvPr/>
          </p:nvSpPr>
          <p:spPr>
            <a:xfrm>
              <a:off x="0" y="-38100"/>
              <a:ext cx="1097280" cy="113538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a:t>
              </a:r>
            </a:p>
          </p:txBody>
        </p:sp>
      </p:grpSp>
      <p:grpSp>
        <p:nvGrpSpPr>
          <p:cNvPr name="Group 44" id="44"/>
          <p:cNvGrpSpPr/>
          <p:nvPr/>
        </p:nvGrpSpPr>
        <p:grpSpPr>
          <a:xfrm rot="0">
            <a:off x="2263140" y="5390388"/>
            <a:ext cx="3497580" cy="1042416"/>
            <a:chOff x="0" y="0"/>
            <a:chExt cx="4663440" cy="1389888"/>
          </a:xfrm>
        </p:grpSpPr>
        <p:sp>
          <p:nvSpPr>
            <p:cNvPr name="Freeform 45" id="45"/>
            <p:cNvSpPr/>
            <p:nvPr/>
          </p:nvSpPr>
          <p:spPr>
            <a:xfrm flipH="false" flipV="false" rot="0">
              <a:off x="0" y="0"/>
              <a:ext cx="4663440" cy="1389888"/>
            </a:xfrm>
            <a:custGeom>
              <a:avLst/>
              <a:gdLst/>
              <a:ahLst/>
              <a:cxnLst/>
              <a:rect r="r" b="b" t="t" l="l"/>
              <a:pathLst>
                <a:path h="1389888" w="4663440">
                  <a:moveTo>
                    <a:pt x="0" y="0"/>
                  </a:moveTo>
                  <a:lnTo>
                    <a:pt x="4663440" y="0"/>
                  </a:lnTo>
                  <a:lnTo>
                    <a:pt x="4663440" y="1389888"/>
                  </a:lnTo>
                  <a:lnTo>
                    <a:pt x="0" y="1389888"/>
                  </a:lnTo>
                  <a:close/>
                </a:path>
              </a:pathLst>
            </a:custGeom>
            <a:blipFill>
              <a:blip r:embed="rId3">
                <a:alphaModFix amt="0"/>
              </a:blip>
              <a:stretch>
                <a:fillRect l="0" t="-15377" r="0" b="-15377"/>
              </a:stretch>
            </a:blipFill>
          </p:spPr>
        </p:sp>
        <p:sp>
          <p:nvSpPr>
            <p:cNvPr name="TextBox 46" id="46"/>
            <p:cNvSpPr txBox="true"/>
            <p:nvPr/>
          </p:nvSpPr>
          <p:spPr>
            <a:xfrm>
              <a:off x="0" y="-47625"/>
              <a:ext cx="4663440" cy="1437513"/>
            </a:xfrm>
            <a:prstGeom prst="rect">
              <a:avLst/>
            </a:prstGeom>
          </p:spPr>
          <p:txBody>
            <a:bodyPr anchor="ctr" rtlCol="false" tIns="0" lIns="0" bIns="0" rIns="0"/>
            <a:lstStyle/>
            <a:p>
              <a:pPr algn="l">
                <a:lnSpc>
                  <a:spcPts val="2340"/>
                </a:lnSpc>
              </a:pPr>
              <a:r>
                <a:rPr lang="en-US" sz="1950" b="true">
                  <a:solidFill>
                    <a:srgbClr val="1E2761"/>
                  </a:solidFill>
                  <a:latin typeface="Calibri (MS) Bold"/>
                  <a:ea typeface="Calibri (MS) Bold"/>
                  <a:cs typeface="Calibri (MS) Bold"/>
                  <a:sym typeface="Calibri (MS) Bold"/>
                </a:rPr>
                <a:t>Database Connection</a:t>
              </a:r>
            </a:p>
          </p:txBody>
        </p:sp>
      </p:grpSp>
      <p:grpSp>
        <p:nvGrpSpPr>
          <p:cNvPr name="Group 47" id="47"/>
          <p:cNvGrpSpPr/>
          <p:nvPr/>
        </p:nvGrpSpPr>
        <p:grpSpPr>
          <a:xfrm rot="0">
            <a:off x="5897880" y="5390388"/>
            <a:ext cx="5280660" cy="1042416"/>
            <a:chOff x="0" y="0"/>
            <a:chExt cx="7040880" cy="1389888"/>
          </a:xfrm>
        </p:grpSpPr>
        <p:sp>
          <p:nvSpPr>
            <p:cNvPr name="Freeform 48" id="48"/>
            <p:cNvSpPr/>
            <p:nvPr/>
          </p:nvSpPr>
          <p:spPr>
            <a:xfrm flipH="false" flipV="false" rot="0">
              <a:off x="0" y="0"/>
              <a:ext cx="7040880" cy="1389888"/>
            </a:xfrm>
            <a:custGeom>
              <a:avLst/>
              <a:gdLst/>
              <a:ahLst/>
              <a:cxnLst/>
              <a:rect r="r" b="b" t="t" l="l"/>
              <a:pathLst>
                <a:path h="1389888" w="7040880">
                  <a:moveTo>
                    <a:pt x="0" y="0"/>
                  </a:moveTo>
                  <a:lnTo>
                    <a:pt x="7040880" y="0"/>
                  </a:lnTo>
                  <a:lnTo>
                    <a:pt x="7040880" y="1389888"/>
                  </a:lnTo>
                  <a:lnTo>
                    <a:pt x="0" y="1389888"/>
                  </a:lnTo>
                  <a:close/>
                </a:path>
              </a:pathLst>
            </a:custGeom>
            <a:blipFill>
              <a:blip r:embed="rId3">
                <a:alphaModFix amt="0"/>
              </a:blip>
              <a:stretch>
                <a:fillRect l="0" t="-48707" r="0" b="-48707"/>
              </a:stretch>
            </a:blipFill>
          </p:spPr>
        </p:sp>
        <p:sp>
          <p:nvSpPr>
            <p:cNvPr name="TextBox 49" id="49"/>
            <p:cNvSpPr txBox="true"/>
            <p:nvPr/>
          </p:nvSpPr>
          <p:spPr>
            <a:xfrm>
              <a:off x="0" y="-28575"/>
              <a:ext cx="7040880" cy="1418463"/>
            </a:xfrm>
            <a:prstGeom prst="rect">
              <a:avLst/>
            </a:prstGeom>
          </p:spPr>
          <p:txBody>
            <a:bodyPr anchor="ctr" rtlCol="false" tIns="0" lIns="0" bIns="0" rIns="0"/>
            <a:lstStyle/>
            <a:p>
              <a:pPr algn="l">
                <a:lnSpc>
                  <a:spcPts val="1980"/>
                </a:lnSpc>
              </a:pPr>
              <a:r>
                <a:rPr lang="en-US" sz="1650" i="true">
                  <a:solidFill>
                    <a:srgbClr val="6B7290"/>
                  </a:solidFill>
                  <a:latin typeface="Calibri (MS) Italics"/>
                  <a:ea typeface="Calibri (MS) Italics"/>
                  <a:cs typeface="Calibri (MS) Italics"/>
                  <a:sym typeface="Calibri (MS) Italics"/>
                </a:rPr>
                <a:t>Managing sessions safely across concurrent requests</a:t>
              </a:r>
            </a:p>
          </p:txBody>
        </p:sp>
      </p:grpSp>
      <p:grpSp>
        <p:nvGrpSpPr>
          <p:cNvPr name="Group 50" id="50"/>
          <p:cNvGrpSpPr/>
          <p:nvPr/>
        </p:nvGrpSpPr>
        <p:grpSpPr>
          <a:xfrm rot="0">
            <a:off x="11315700" y="5390388"/>
            <a:ext cx="5829300" cy="1042416"/>
            <a:chOff x="0" y="0"/>
            <a:chExt cx="7772400" cy="1389888"/>
          </a:xfrm>
        </p:grpSpPr>
        <p:sp>
          <p:nvSpPr>
            <p:cNvPr name="Freeform 51" id="51"/>
            <p:cNvSpPr/>
            <p:nvPr/>
          </p:nvSpPr>
          <p:spPr>
            <a:xfrm flipH="false" flipV="false" rot="0">
              <a:off x="0" y="0"/>
              <a:ext cx="7772400" cy="1389888"/>
            </a:xfrm>
            <a:custGeom>
              <a:avLst/>
              <a:gdLst/>
              <a:ahLst/>
              <a:cxnLst/>
              <a:rect r="r" b="b" t="t" l="l"/>
              <a:pathLst>
                <a:path h="1389888" w="7772400">
                  <a:moveTo>
                    <a:pt x="0" y="0"/>
                  </a:moveTo>
                  <a:lnTo>
                    <a:pt x="7772400" y="0"/>
                  </a:lnTo>
                  <a:lnTo>
                    <a:pt x="7772400" y="1389888"/>
                  </a:lnTo>
                  <a:lnTo>
                    <a:pt x="0" y="1389888"/>
                  </a:lnTo>
                  <a:close/>
                </a:path>
              </a:pathLst>
            </a:custGeom>
            <a:blipFill>
              <a:blip r:embed="rId3">
                <a:alphaModFix amt="0"/>
              </a:blip>
              <a:stretch>
                <a:fillRect l="0" t="-58962" r="0" b="-58962"/>
              </a:stretch>
            </a:blipFill>
          </p:spPr>
        </p:sp>
        <p:sp>
          <p:nvSpPr>
            <p:cNvPr name="TextBox 52" id="52"/>
            <p:cNvSpPr txBox="true"/>
            <p:nvPr/>
          </p:nvSpPr>
          <p:spPr>
            <a:xfrm>
              <a:off x="0" y="-28575"/>
              <a:ext cx="7772400" cy="1418463"/>
            </a:xfrm>
            <a:prstGeom prst="rect">
              <a:avLst/>
            </a:prstGeom>
          </p:spPr>
          <p:txBody>
            <a:bodyPr anchor="ctr" rtlCol="false" tIns="0" lIns="0" bIns="0" rIns="0"/>
            <a:lstStyle/>
            <a:p>
              <a:pPr algn="l">
                <a:lnSpc>
                  <a:spcPts val="1980"/>
                </a:lnSpc>
              </a:pPr>
              <a:r>
                <a:rPr lang="en-US" sz="1650">
                  <a:solidFill>
                    <a:srgbClr val="3A4066"/>
                  </a:solidFill>
                  <a:latin typeface="Calibri (MS)"/>
                  <a:ea typeface="Calibri (MS)"/>
                  <a:cs typeface="Calibri (MS)"/>
                  <a:sym typeface="Calibri (MS)"/>
                </a:rPr>
                <a:t>get_db() dependency yields a session per request and guarantees it closes afterward.</a:t>
              </a:r>
            </a:p>
          </p:txBody>
        </p:sp>
      </p:grpSp>
      <p:grpSp>
        <p:nvGrpSpPr>
          <p:cNvPr name="Group 53" id="53"/>
          <p:cNvGrpSpPr/>
          <p:nvPr/>
        </p:nvGrpSpPr>
        <p:grpSpPr>
          <a:xfrm rot="0">
            <a:off x="822960" y="6652260"/>
            <a:ext cx="16596360" cy="1179576"/>
            <a:chOff x="0" y="0"/>
            <a:chExt cx="22128480" cy="1572768"/>
          </a:xfrm>
        </p:grpSpPr>
        <p:sp>
          <p:nvSpPr>
            <p:cNvPr name="Freeform 54" id="54"/>
            <p:cNvSpPr/>
            <p:nvPr/>
          </p:nvSpPr>
          <p:spPr>
            <a:xfrm flipH="false" flipV="false" rot="0">
              <a:off x="0" y="0"/>
              <a:ext cx="22128480" cy="1572768"/>
            </a:xfrm>
            <a:custGeom>
              <a:avLst/>
              <a:gdLst/>
              <a:ahLst/>
              <a:cxnLst/>
              <a:rect r="r" b="b" t="t" l="l"/>
              <a:pathLst>
                <a:path h="1572768" w="22128480">
                  <a:moveTo>
                    <a:pt x="0" y="146304"/>
                  </a:moveTo>
                  <a:cubicBezTo>
                    <a:pt x="0" y="65532"/>
                    <a:pt x="65532" y="0"/>
                    <a:pt x="146304" y="0"/>
                  </a:cubicBezTo>
                  <a:lnTo>
                    <a:pt x="21982176" y="0"/>
                  </a:lnTo>
                  <a:cubicBezTo>
                    <a:pt x="22062948" y="0"/>
                    <a:pt x="22128480" y="65532"/>
                    <a:pt x="22128480" y="146304"/>
                  </a:cubicBezTo>
                  <a:lnTo>
                    <a:pt x="22128480" y="1426464"/>
                  </a:lnTo>
                  <a:cubicBezTo>
                    <a:pt x="22128480" y="1507236"/>
                    <a:pt x="22062948" y="1572768"/>
                    <a:pt x="21982176" y="1572768"/>
                  </a:cubicBezTo>
                  <a:lnTo>
                    <a:pt x="146304" y="1572768"/>
                  </a:lnTo>
                  <a:cubicBezTo>
                    <a:pt x="65532" y="1572768"/>
                    <a:pt x="0" y="1507236"/>
                    <a:pt x="0" y="1426464"/>
                  </a:cubicBezTo>
                  <a:close/>
                </a:path>
              </a:pathLst>
            </a:custGeom>
            <a:solidFill>
              <a:srgbClr val="F4F6FC"/>
            </a:solidFill>
          </p:spPr>
        </p:sp>
      </p:grpSp>
      <p:grpSp>
        <p:nvGrpSpPr>
          <p:cNvPr name="Group 55" id="55"/>
          <p:cNvGrpSpPr/>
          <p:nvPr/>
        </p:nvGrpSpPr>
        <p:grpSpPr>
          <a:xfrm rot="0">
            <a:off x="1097280" y="6830568"/>
            <a:ext cx="822960" cy="822960"/>
            <a:chOff x="0" y="0"/>
            <a:chExt cx="1097280" cy="1097280"/>
          </a:xfrm>
        </p:grpSpPr>
        <p:sp>
          <p:nvSpPr>
            <p:cNvPr name="Freeform 56" id="56"/>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1E2761"/>
            </a:solidFill>
          </p:spPr>
        </p:sp>
      </p:grpSp>
      <p:grpSp>
        <p:nvGrpSpPr>
          <p:cNvPr name="Group 57" id="57"/>
          <p:cNvGrpSpPr/>
          <p:nvPr/>
        </p:nvGrpSpPr>
        <p:grpSpPr>
          <a:xfrm rot="0">
            <a:off x="1097280" y="6830568"/>
            <a:ext cx="822960" cy="822960"/>
            <a:chOff x="0" y="0"/>
            <a:chExt cx="1097280" cy="1097280"/>
          </a:xfrm>
        </p:grpSpPr>
        <p:sp>
          <p:nvSpPr>
            <p:cNvPr name="Freeform 58" id="58"/>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59" id="59"/>
            <p:cNvSpPr txBox="true"/>
            <p:nvPr/>
          </p:nvSpPr>
          <p:spPr>
            <a:xfrm>
              <a:off x="0" y="-38100"/>
              <a:ext cx="1097280" cy="113538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a:t>
              </a:r>
            </a:p>
          </p:txBody>
        </p:sp>
      </p:grpSp>
      <p:grpSp>
        <p:nvGrpSpPr>
          <p:cNvPr name="Group 60" id="60"/>
          <p:cNvGrpSpPr/>
          <p:nvPr/>
        </p:nvGrpSpPr>
        <p:grpSpPr>
          <a:xfrm rot="0">
            <a:off x="2263140" y="6761988"/>
            <a:ext cx="3497580" cy="1042416"/>
            <a:chOff x="0" y="0"/>
            <a:chExt cx="4663440" cy="1389888"/>
          </a:xfrm>
        </p:grpSpPr>
        <p:sp>
          <p:nvSpPr>
            <p:cNvPr name="Freeform 61" id="61"/>
            <p:cNvSpPr/>
            <p:nvPr/>
          </p:nvSpPr>
          <p:spPr>
            <a:xfrm flipH="false" flipV="false" rot="0">
              <a:off x="0" y="0"/>
              <a:ext cx="4663440" cy="1389888"/>
            </a:xfrm>
            <a:custGeom>
              <a:avLst/>
              <a:gdLst/>
              <a:ahLst/>
              <a:cxnLst/>
              <a:rect r="r" b="b" t="t" l="l"/>
              <a:pathLst>
                <a:path h="1389888" w="4663440">
                  <a:moveTo>
                    <a:pt x="0" y="0"/>
                  </a:moveTo>
                  <a:lnTo>
                    <a:pt x="4663440" y="0"/>
                  </a:lnTo>
                  <a:lnTo>
                    <a:pt x="4663440" y="1389888"/>
                  </a:lnTo>
                  <a:lnTo>
                    <a:pt x="0" y="1389888"/>
                  </a:lnTo>
                  <a:close/>
                </a:path>
              </a:pathLst>
            </a:custGeom>
            <a:blipFill>
              <a:blip r:embed="rId3">
                <a:alphaModFix amt="0"/>
              </a:blip>
              <a:stretch>
                <a:fillRect l="0" t="-15377" r="0" b="-15377"/>
              </a:stretch>
            </a:blipFill>
          </p:spPr>
        </p:sp>
        <p:sp>
          <p:nvSpPr>
            <p:cNvPr name="TextBox 62" id="62"/>
            <p:cNvSpPr txBox="true"/>
            <p:nvPr/>
          </p:nvSpPr>
          <p:spPr>
            <a:xfrm>
              <a:off x="0" y="-47625"/>
              <a:ext cx="4663440" cy="1437513"/>
            </a:xfrm>
            <a:prstGeom prst="rect">
              <a:avLst/>
            </a:prstGeom>
          </p:spPr>
          <p:txBody>
            <a:bodyPr anchor="ctr" rtlCol="false" tIns="0" lIns="0" bIns="0" rIns="0"/>
            <a:lstStyle/>
            <a:p>
              <a:pPr algn="l">
                <a:lnSpc>
                  <a:spcPts val="2340"/>
                </a:lnSpc>
              </a:pPr>
              <a:r>
                <a:rPr lang="en-US" sz="1950" b="true">
                  <a:solidFill>
                    <a:srgbClr val="1E2761"/>
                  </a:solidFill>
                  <a:latin typeface="Calibri (MS) Bold"/>
                  <a:ea typeface="Calibri (MS) Bold"/>
                  <a:cs typeface="Calibri (MS) Bold"/>
                  <a:sym typeface="Calibri (MS) Bold"/>
                </a:rPr>
                <a:t>Error Handling</a:t>
              </a:r>
            </a:p>
          </p:txBody>
        </p:sp>
      </p:grpSp>
      <p:grpSp>
        <p:nvGrpSpPr>
          <p:cNvPr name="Group 63" id="63"/>
          <p:cNvGrpSpPr/>
          <p:nvPr/>
        </p:nvGrpSpPr>
        <p:grpSpPr>
          <a:xfrm rot="0">
            <a:off x="5897880" y="6761988"/>
            <a:ext cx="5280660" cy="1042416"/>
            <a:chOff x="0" y="0"/>
            <a:chExt cx="7040880" cy="1389888"/>
          </a:xfrm>
        </p:grpSpPr>
        <p:sp>
          <p:nvSpPr>
            <p:cNvPr name="Freeform 64" id="64"/>
            <p:cNvSpPr/>
            <p:nvPr/>
          </p:nvSpPr>
          <p:spPr>
            <a:xfrm flipH="false" flipV="false" rot="0">
              <a:off x="0" y="0"/>
              <a:ext cx="7040880" cy="1389888"/>
            </a:xfrm>
            <a:custGeom>
              <a:avLst/>
              <a:gdLst/>
              <a:ahLst/>
              <a:cxnLst/>
              <a:rect r="r" b="b" t="t" l="l"/>
              <a:pathLst>
                <a:path h="1389888" w="7040880">
                  <a:moveTo>
                    <a:pt x="0" y="0"/>
                  </a:moveTo>
                  <a:lnTo>
                    <a:pt x="7040880" y="0"/>
                  </a:lnTo>
                  <a:lnTo>
                    <a:pt x="7040880" y="1389888"/>
                  </a:lnTo>
                  <a:lnTo>
                    <a:pt x="0" y="1389888"/>
                  </a:lnTo>
                  <a:close/>
                </a:path>
              </a:pathLst>
            </a:custGeom>
            <a:blipFill>
              <a:blip r:embed="rId3">
                <a:alphaModFix amt="0"/>
              </a:blip>
              <a:stretch>
                <a:fillRect l="0" t="-48707" r="0" b="-48707"/>
              </a:stretch>
            </a:blipFill>
          </p:spPr>
        </p:sp>
        <p:sp>
          <p:nvSpPr>
            <p:cNvPr name="TextBox 65" id="65"/>
            <p:cNvSpPr txBox="true"/>
            <p:nvPr/>
          </p:nvSpPr>
          <p:spPr>
            <a:xfrm>
              <a:off x="0" y="-28575"/>
              <a:ext cx="7040880" cy="1418463"/>
            </a:xfrm>
            <a:prstGeom prst="rect">
              <a:avLst/>
            </a:prstGeom>
          </p:spPr>
          <p:txBody>
            <a:bodyPr anchor="ctr" rtlCol="false" tIns="0" lIns="0" bIns="0" rIns="0"/>
            <a:lstStyle/>
            <a:p>
              <a:pPr algn="l">
                <a:lnSpc>
                  <a:spcPts val="1980"/>
                </a:lnSpc>
              </a:pPr>
              <a:r>
                <a:rPr lang="en-US" sz="1650" i="true">
                  <a:solidFill>
                    <a:srgbClr val="6B7290"/>
                  </a:solidFill>
                  <a:latin typeface="Calibri (MS) Italics"/>
                  <a:ea typeface="Calibri (MS) Italics"/>
                  <a:cs typeface="Calibri (MS) Italics"/>
                  <a:sym typeface="Calibri (MS) Italics"/>
                </a:rPr>
                <a:t>Requests for records that don't exist</a:t>
              </a:r>
            </a:p>
          </p:txBody>
        </p:sp>
      </p:grpSp>
      <p:grpSp>
        <p:nvGrpSpPr>
          <p:cNvPr name="Group 66" id="66"/>
          <p:cNvGrpSpPr/>
          <p:nvPr/>
        </p:nvGrpSpPr>
        <p:grpSpPr>
          <a:xfrm rot="0">
            <a:off x="11315700" y="6761988"/>
            <a:ext cx="5829300" cy="1042416"/>
            <a:chOff x="0" y="0"/>
            <a:chExt cx="7772400" cy="1389888"/>
          </a:xfrm>
        </p:grpSpPr>
        <p:sp>
          <p:nvSpPr>
            <p:cNvPr name="Freeform 67" id="67"/>
            <p:cNvSpPr/>
            <p:nvPr/>
          </p:nvSpPr>
          <p:spPr>
            <a:xfrm flipH="false" flipV="false" rot="0">
              <a:off x="0" y="0"/>
              <a:ext cx="7772400" cy="1389888"/>
            </a:xfrm>
            <a:custGeom>
              <a:avLst/>
              <a:gdLst/>
              <a:ahLst/>
              <a:cxnLst/>
              <a:rect r="r" b="b" t="t" l="l"/>
              <a:pathLst>
                <a:path h="1389888" w="7772400">
                  <a:moveTo>
                    <a:pt x="0" y="0"/>
                  </a:moveTo>
                  <a:lnTo>
                    <a:pt x="7772400" y="0"/>
                  </a:lnTo>
                  <a:lnTo>
                    <a:pt x="7772400" y="1389888"/>
                  </a:lnTo>
                  <a:lnTo>
                    <a:pt x="0" y="1389888"/>
                  </a:lnTo>
                  <a:close/>
                </a:path>
              </a:pathLst>
            </a:custGeom>
            <a:blipFill>
              <a:blip r:embed="rId3">
                <a:alphaModFix amt="0"/>
              </a:blip>
              <a:stretch>
                <a:fillRect l="0" t="-58962" r="0" b="-58962"/>
              </a:stretch>
            </a:blipFill>
          </p:spPr>
        </p:sp>
        <p:sp>
          <p:nvSpPr>
            <p:cNvPr name="TextBox 68" id="68"/>
            <p:cNvSpPr txBox="true"/>
            <p:nvPr/>
          </p:nvSpPr>
          <p:spPr>
            <a:xfrm>
              <a:off x="0" y="-28575"/>
              <a:ext cx="7772400" cy="1418463"/>
            </a:xfrm>
            <a:prstGeom prst="rect">
              <a:avLst/>
            </a:prstGeom>
          </p:spPr>
          <p:txBody>
            <a:bodyPr anchor="ctr" rtlCol="false" tIns="0" lIns="0" bIns="0" rIns="0"/>
            <a:lstStyle/>
            <a:p>
              <a:pPr algn="l">
                <a:lnSpc>
                  <a:spcPts val="1980"/>
                </a:lnSpc>
              </a:pPr>
              <a:r>
                <a:rPr lang="en-US" sz="1650">
                  <a:solidFill>
                    <a:srgbClr val="3A4066"/>
                  </a:solidFill>
                  <a:latin typeface="Calibri (MS)"/>
                  <a:ea typeface="Calibri (MS)"/>
                  <a:cs typeface="Calibri (MS)"/>
                  <a:sym typeface="Calibri (MS)"/>
                </a:rPr>
                <a:t>HTTPException with 404 / 400 status codes and clear, actionable detail messages.</a:t>
              </a:r>
            </a:p>
          </p:txBody>
        </p:sp>
      </p:grpSp>
      <p:grpSp>
        <p:nvGrpSpPr>
          <p:cNvPr name="Group 69" id="69"/>
          <p:cNvGrpSpPr/>
          <p:nvPr/>
        </p:nvGrpSpPr>
        <p:grpSpPr>
          <a:xfrm rot="0">
            <a:off x="822960" y="8023860"/>
            <a:ext cx="16596360" cy="1179576"/>
            <a:chOff x="0" y="0"/>
            <a:chExt cx="22128480" cy="1572768"/>
          </a:xfrm>
        </p:grpSpPr>
        <p:sp>
          <p:nvSpPr>
            <p:cNvPr name="Freeform 70" id="70"/>
            <p:cNvSpPr/>
            <p:nvPr/>
          </p:nvSpPr>
          <p:spPr>
            <a:xfrm flipH="false" flipV="false" rot="0">
              <a:off x="0" y="0"/>
              <a:ext cx="22128480" cy="1572768"/>
            </a:xfrm>
            <a:custGeom>
              <a:avLst/>
              <a:gdLst/>
              <a:ahLst/>
              <a:cxnLst/>
              <a:rect r="r" b="b" t="t" l="l"/>
              <a:pathLst>
                <a:path h="1572768" w="22128480">
                  <a:moveTo>
                    <a:pt x="0" y="146304"/>
                  </a:moveTo>
                  <a:cubicBezTo>
                    <a:pt x="0" y="65532"/>
                    <a:pt x="65532" y="0"/>
                    <a:pt x="146304" y="0"/>
                  </a:cubicBezTo>
                  <a:lnTo>
                    <a:pt x="21982176" y="0"/>
                  </a:lnTo>
                  <a:cubicBezTo>
                    <a:pt x="22062948" y="0"/>
                    <a:pt x="22128480" y="65532"/>
                    <a:pt x="22128480" y="146304"/>
                  </a:cubicBezTo>
                  <a:lnTo>
                    <a:pt x="22128480" y="1426464"/>
                  </a:lnTo>
                  <a:cubicBezTo>
                    <a:pt x="22128480" y="1507236"/>
                    <a:pt x="22062948" y="1572768"/>
                    <a:pt x="21982176" y="1572768"/>
                  </a:cubicBezTo>
                  <a:lnTo>
                    <a:pt x="146304" y="1572768"/>
                  </a:lnTo>
                  <a:cubicBezTo>
                    <a:pt x="65532" y="1572768"/>
                    <a:pt x="0" y="1507236"/>
                    <a:pt x="0" y="1426464"/>
                  </a:cubicBezTo>
                  <a:close/>
                </a:path>
              </a:pathLst>
            </a:custGeom>
            <a:solidFill>
              <a:srgbClr val="F4F6FC"/>
            </a:solidFill>
          </p:spPr>
        </p:sp>
      </p:grpSp>
      <p:grpSp>
        <p:nvGrpSpPr>
          <p:cNvPr name="Group 71" id="71"/>
          <p:cNvGrpSpPr/>
          <p:nvPr/>
        </p:nvGrpSpPr>
        <p:grpSpPr>
          <a:xfrm rot="0">
            <a:off x="1097280" y="8202168"/>
            <a:ext cx="822960" cy="822960"/>
            <a:chOff x="0" y="0"/>
            <a:chExt cx="1097280" cy="1097280"/>
          </a:xfrm>
        </p:grpSpPr>
        <p:sp>
          <p:nvSpPr>
            <p:cNvPr name="Freeform 72" id="72"/>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1E2761"/>
            </a:solidFill>
          </p:spPr>
        </p:sp>
      </p:grpSp>
      <p:grpSp>
        <p:nvGrpSpPr>
          <p:cNvPr name="Group 73" id="73"/>
          <p:cNvGrpSpPr/>
          <p:nvPr/>
        </p:nvGrpSpPr>
        <p:grpSpPr>
          <a:xfrm rot="0">
            <a:off x="1097280" y="8202168"/>
            <a:ext cx="822960" cy="822960"/>
            <a:chOff x="0" y="0"/>
            <a:chExt cx="1097280" cy="1097280"/>
          </a:xfrm>
        </p:grpSpPr>
        <p:sp>
          <p:nvSpPr>
            <p:cNvPr name="Freeform 74" id="74"/>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75" id="75"/>
            <p:cNvSpPr txBox="true"/>
            <p:nvPr/>
          </p:nvSpPr>
          <p:spPr>
            <a:xfrm>
              <a:off x="0" y="-38100"/>
              <a:ext cx="1097280" cy="113538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a:t>
              </a:r>
            </a:p>
          </p:txBody>
        </p:sp>
      </p:grpSp>
      <p:grpSp>
        <p:nvGrpSpPr>
          <p:cNvPr name="Group 76" id="76"/>
          <p:cNvGrpSpPr/>
          <p:nvPr/>
        </p:nvGrpSpPr>
        <p:grpSpPr>
          <a:xfrm rot="0">
            <a:off x="2263140" y="8133588"/>
            <a:ext cx="3497580" cy="1042416"/>
            <a:chOff x="0" y="0"/>
            <a:chExt cx="4663440" cy="1389888"/>
          </a:xfrm>
        </p:grpSpPr>
        <p:sp>
          <p:nvSpPr>
            <p:cNvPr name="Freeform 77" id="77"/>
            <p:cNvSpPr/>
            <p:nvPr/>
          </p:nvSpPr>
          <p:spPr>
            <a:xfrm flipH="false" flipV="false" rot="0">
              <a:off x="0" y="0"/>
              <a:ext cx="4663440" cy="1389888"/>
            </a:xfrm>
            <a:custGeom>
              <a:avLst/>
              <a:gdLst/>
              <a:ahLst/>
              <a:cxnLst/>
              <a:rect r="r" b="b" t="t" l="l"/>
              <a:pathLst>
                <a:path h="1389888" w="4663440">
                  <a:moveTo>
                    <a:pt x="0" y="0"/>
                  </a:moveTo>
                  <a:lnTo>
                    <a:pt x="4663440" y="0"/>
                  </a:lnTo>
                  <a:lnTo>
                    <a:pt x="4663440" y="1389888"/>
                  </a:lnTo>
                  <a:lnTo>
                    <a:pt x="0" y="1389888"/>
                  </a:lnTo>
                  <a:close/>
                </a:path>
              </a:pathLst>
            </a:custGeom>
            <a:blipFill>
              <a:blip r:embed="rId3">
                <a:alphaModFix amt="0"/>
              </a:blip>
              <a:stretch>
                <a:fillRect l="0" t="-15377" r="0" b="-15377"/>
              </a:stretch>
            </a:blipFill>
          </p:spPr>
        </p:sp>
        <p:sp>
          <p:nvSpPr>
            <p:cNvPr name="TextBox 78" id="78"/>
            <p:cNvSpPr txBox="true"/>
            <p:nvPr/>
          </p:nvSpPr>
          <p:spPr>
            <a:xfrm>
              <a:off x="0" y="-47625"/>
              <a:ext cx="4663440" cy="1437513"/>
            </a:xfrm>
            <a:prstGeom prst="rect">
              <a:avLst/>
            </a:prstGeom>
          </p:spPr>
          <p:txBody>
            <a:bodyPr anchor="ctr" rtlCol="false" tIns="0" lIns="0" bIns="0" rIns="0"/>
            <a:lstStyle/>
            <a:p>
              <a:pPr algn="l">
                <a:lnSpc>
                  <a:spcPts val="2340"/>
                </a:lnSpc>
              </a:pPr>
              <a:r>
                <a:rPr lang="en-US" sz="1950" b="true">
                  <a:solidFill>
                    <a:srgbClr val="1E2761"/>
                  </a:solidFill>
                  <a:latin typeface="Calibri (MS) Bold"/>
                  <a:ea typeface="Calibri (MS) Bold"/>
                  <a:cs typeface="Calibri (MS) Bold"/>
                  <a:sym typeface="Calibri (MS) Bold"/>
                </a:rPr>
                <a:t>REST API Design</a:t>
              </a:r>
            </a:p>
          </p:txBody>
        </p:sp>
      </p:grpSp>
      <p:grpSp>
        <p:nvGrpSpPr>
          <p:cNvPr name="Group 79" id="79"/>
          <p:cNvGrpSpPr/>
          <p:nvPr/>
        </p:nvGrpSpPr>
        <p:grpSpPr>
          <a:xfrm rot="0">
            <a:off x="5897880" y="8133588"/>
            <a:ext cx="5280660" cy="1042416"/>
            <a:chOff x="0" y="0"/>
            <a:chExt cx="7040880" cy="1389888"/>
          </a:xfrm>
        </p:grpSpPr>
        <p:sp>
          <p:nvSpPr>
            <p:cNvPr name="Freeform 80" id="80"/>
            <p:cNvSpPr/>
            <p:nvPr/>
          </p:nvSpPr>
          <p:spPr>
            <a:xfrm flipH="false" flipV="false" rot="0">
              <a:off x="0" y="0"/>
              <a:ext cx="7040880" cy="1389888"/>
            </a:xfrm>
            <a:custGeom>
              <a:avLst/>
              <a:gdLst/>
              <a:ahLst/>
              <a:cxnLst/>
              <a:rect r="r" b="b" t="t" l="l"/>
              <a:pathLst>
                <a:path h="1389888" w="7040880">
                  <a:moveTo>
                    <a:pt x="0" y="0"/>
                  </a:moveTo>
                  <a:lnTo>
                    <a:pt x="7040880" y="0"/>
                  </a:lnTo>
                  <a:lnTo>
                    <a:pt x="7040880" y="1389888"/>
                  </a:lnTo>
                  <a:lnTo>
                    <a:pt x="0" y="1389888"/>
                  </a:lnTo>
                  <a:close/>
                </a:path>
              </a:pathLst>
            </a:custGeom>
            <a:blipFill>
              <a:blip r:embed="rId3">
                <a:alphaModFix amt="0"/>
              </a:blip>
              <a:stretch>
                <a:fillRect l="0" t="-48707" r="0" b="-48707"/>
              </a:stretch>
            </a:blipFill>
          </p:spPr>
        </p:sp>
        <p:sp>
          <p:nvSpPr>
            <p:cNvPr name="TextBox 81" id="81"/>
            <p:cNvSpPr txBox="true"/>
            <p:nvPr/>
          </p:nvSpPr>
          <p:spPr>
            <a:xfrm>
              <a:off x="0" y="-28575"/>
              <a:ext cx="7040880" cy="1418463"/>
            </a:xfrm>
            <a:prstGeom prst="rect">
              <a:avLst/>
            </a:prstGeom>
          </p:spPr>
          <p:txBody>
            <a:bodyPr anchor="ctr" rtlCol="false" tIns="0" lIns="0" bIns="0" rIns="0"/>
            <a:lstStyle/>
            <a:p>
              <a:pPr algn="l">
                <a:lnSpc>
                  <a:spcPts val="1980"/>
                </a:lnSpc>
              </a:pPr>
              <a:r>
                <a:rPr lang="en-US" sz="1650" i="true">
                  <a:solidFill>
                    <a:srgbClr val="6B7290"/>
                  </a:solidFill>
                  <a:latin typeface="Calibri (MS) Italics"/>
                  <a:ea typeface="Calibri (MS) Italics"/>
                  <a:cs typeface="Calibri (MS) Italics"/>
                  <a:sym typeface="Calibri (MS) Italics"/>
                </a:rPr>
                <a:t>Keeping endpoints predictable and consistent</a:t>
              </a:r>
            </a:p>
          </p:txBody>
        </p:sp>
      </p:grpSp>
      <p:grpSp>
        <p:nvGrpSpPr>
          <p:cNvPr name="Group 82" id="82"/>
          <p:cNvGrpSpPr/>
          <p:nvPr/>
        </p:nvGrpSpPr>
        <p:grpSpPr>
          <a:xfrm rot="0">
            <a:off x="11315700" y="8133588"/>
            <a:ext cx="5829300" cy="1042416"/>
            <a:chOff x="0" y="0"/>
            <a:chExt cx="7772400" cy="1389888"/>
          </a:xfrm>
        </p:grpSpPr>
        <p:sp>
          <p:nvSpPr>
            <p:cNvPr name="Freeform 83" id="83"/>
            <p:cNvSpPr/>
            <p:nvPr/>
          </p:nvSpPr>
          <p:spPr>
            <a:xfrm flipH="false" flipV="false" rot="0">
              <a:off x="0" y="0"/>
              <a:ext cx="7772400" cy="1389888"/>
            </a:xfrm>
            <a:custGeom>
              <a:avLst/>
              <a:gdLst/>
              <a:ahLst/>
              <a:cxnLst/>
              <a:rect r="r" b="b" t="t" l="l"/>
              <a:pathLst>
                <a:path h="1389888" w="7772400">
                  <a:moveTo>
                    <a:pt x="0" y="0"/>
                  </a:moveTo>
                  <a:lnTo>
                    <a:pt x="7772400" y="0"/>
                  </a:lnTo>
                  <a:lnTo>
                    <a:pt x="7772400" y="1389888"/>
                  </a:lnTo>
                  <a:lnTo>
                    <a:pt x="0" y="1389888"/>
                  </a:lnTo>
                  <a:close/>
                </a:path>
              </a:pathLst>
            </a:custGeom>
            <a:blipFill>
              <a:blip r:embed="rId3">
                <a:alphaModFix amt="0"/>
              </a:blip>
              <a:stretch>
                <a:fillRect l="0" t="-58962" r="0" b="-58962"/>
              </a:stretch>
            </a:blipFill>
          </p:spPr>
        </p:sp>
        <p:sp>
          <p:nvSpPr>
            <p:cNvPr name="TextBox 84" id="84"/>
            <p:cNvSpPr txBox="true"/>
            <p:nvPr/>
          </p:nvSpPr>
          <p:spPr>
            <a:xfrm>
              <a:off x="0" y="-28575"/>
              <a:ext cx="7772400" cy="1418463"/>
            </a:xfrm>
            <a:prstGeom prst="rect">
              <a:avLst/>
            </a:prstGeom>
          </p:spPr>
          <p:txBody>
            <a:bodyPr anchor="ctr" rtlCol="false" tIns="0" lIns="0" bIns="0" rIns="0"/>
            <a:lstStyle/>
            <a:p>
              <a:pPr algn="l">
                <a:lnSpc>
                  <a:spcPts val="1980"/>
                </a:lnSpc>
              </a:pPr>
              <a:r>
                <a:rPr lang="en-US" sz="1650">
                  <a:solidFill>
                    <a:srgbClr val="3A4066"/>
                  </a:solidFill>
                  <a:latin typeface="Calibri (MS)"/>
                  <a:ea typeface="Calibri (MS)"/>
                  <a:cs typeface="Calibri (MS)"/>
                  <a:sym typeface="Calibri (MS)"/>
                </a:rPr>
                <a:t>A single APIRouter with a /leads prefix and uniform verb-to-action mapping (GET, POST, PUT, DELETE).</a:t>
              </a:r>
            </a:p>
          </p:txBody>
        </p:sp>
      </p:grpSp>
      <p:grpSp>
        <p:nvGrpSpPr>
          <p:cNvPr name="Group 85" id="85"/>
          <p:cNvGrpSpPr/>
          <p:nvPr/>
        </p:nvGrpSpPr>
        <p:grpSpPr>
          <a:xfrm rot="0">
            <a:off x="685800" y="9710928"/>
            <a:ext cx="9601200" cy="411480"/>
            <a:chOff x="0" y="0"/>
            <a:chExt cx="12801600" cy="548640"/>
          </a:xfrm>
        </p:grpSpPr>
        <p:sp>
          <p:nvSpPr>
            <p:cNvPr name="Freeform 86" id="86"/>
            <p:cNvSpPr/>
            <p:nvPr/>
          </p:nvSpPr>
          <p:spPr>
            <a:xfrm flipH="false" flipV="false" rot="0">
              <a:off x="0" y="0"/>
              <a:ext cx="12801600" cy="548640"/>
            </a:xfrm>
            <a:custGeom>
              <a:avLst/>
              <a:gdLst/>
              <a:ahLst/>
              <a:cxnLst/>
              <a:rect r="r" b="b" t="t" l="l"/>
              <a:pathLst>
                <a:path h="548640" w="12801600">
                  <a:moveTo>
                    <a:pt x="0" y="0"/>
                  </a:moveTo>
                  <a:lnTo>
                    <a:pt x="12801600" y="0"/>
                  </a:lnTo>
                  <a:lnTo>
                    <a:pt x="12801600" y="548640"/>
                  </a:lnTo>
                  <a:lnTo>
                    <a:pt x="0" y="548640"/>
                  </a:lnTo>
                  <a:close/>
                </a:path>
              </a:pathLst>
            </a:custGeom>
            <a:blipFill>
              <a:blip r:embed="rId3">
                <a:alphaModFix amt="0"/>
              </a:blip>
              <a:stretch>
                <a:fillRect l="0" t="-404650" r="0" b="-404650"/>
              </a:stretch>
            </a:blipFill>
          </p:spPr>
        </p:sp>
        <p:sp>
          <p:nvSpPr>
            <p:cNvPr name="TextBox 87" id="87"/>
            <p:cNvSpPr txBox="true"/>
            <p:nvPr/>
          </p:nvSpPr>
          <p:spPr>
            <a:xfrm>
              <a:off x="0" y="-38100"/>
              <a:ext cx="12801600" cy="586740"/>
            </a:xfrm>
            <a:prstGeom prst="rect">
              <a:avLst/>
            </a:prstGeom>
          </p:spPr>
          <p:txBody>
            <a:bodyPr anchor="ctr" rtlCol="false" tIns="0" lIns="0" bIns="0" rIns="0"/>
            <a:lstStyle/>
            <a:p>
              <a:pPr algn="l">
                <a:lnSpc>
                  <a:spcPts val="1800"/>
                </a:lnSpc>
              </a:pPr>
              <a:r>
                <a:rPr lang="en-US" sz="1500">
                  <a:solidFill>
                    <a:srgbClr val="6B7290"/>
                  </a:solidFill>
                  <a:latin typeface="Calibri (MS)"/>
                  <a:ea typeface="Calibri (MS)"/>
                  <a:cs typeface="Calibri (MS)"/>
                  <a:sym typeface="Calibri (MS)"/>
                </a:rPr>
                <a:t>SalesGenie  |  Module 1 – Prospect CRUD API</a:t>
              </a:r>
            </a:p>
          </p:txBody>
        </p:sp>
      </p:grpSp>
      <p:grpSp>
        <p:nvGrpSpPr>
          <p:cNvPr name="Group 88" id="88"/>
          <p:cNvGrpSpPr/>
          <p:nvPr/>
        </p:nvGrpSpPr>
        <p:grpSpPr>
          <a:xfrm rot="0">
            <a:off x="16911828" y="9710928"/>
            <a:ext cx="685800" cy="411480"/>
            <a:chOff x="0" y="0"/>
            <a:chExt cx="914400" cy="548640"/>
          </a:xfrm>
        </p:grpSpPr>
        <p:sp>
          <p:nvSpPr>
            <p:cNvPr name="Freeform 89" id="8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90" id="9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90"/>
                  </a:solidFill>
                  <a:latin typeface="Calibri (MS)"/>
                  <a:ea typeface="Calibri (MS)"/>
                  <a:cs typeface="Calibri (MS)"/>
                  <a:sym typeface="Calibri (MS)"/>
                </a:rPr>
                <a:t>9</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1B4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3428" cy="10287000"/>
            <a:chOff x="0" y="0"/>
            <a:chExt cx="24377904" cy="13716000"/>
          </a:xfrm>
        </p:grpSpPr>
        <p:sp>
          <p:nvSpPr>
            <p:cNvPr name="Freeform 3" id="3"/>
            <p:cNvSpPr/>
            <p:nvPr/>
          </p:nvSpPr>
          <p:spPr>
            <a:xfrm flipH="false" flipV="false" rot="0">
              <a:off x="0" y="0"/>
              <a:ext cx="24377904" cy="13716000"/>
            </a:xfrm>
            <a:custGeom>
              <a:avLst/>
              <a:gdLst/>
              <a:ahLst/>
              <a:cxnLst/>
              <a:rect r="r" b="b" t="t" l="l"/>
              <a:pathLst>
                <a:path h="13716000" w="24377904">
                  <a:moveTo>
                    <a:pt x="0" y="0"/>
                  </a:moveTo>
                  <a:lnTo>
                    <a:pt x="24377904" y="0"/>
                  </a:lnTo>
                  <a:lnTo>
                    <a:pt x="24377904" y="13716000"/>
                  </a:lnTo>
                  <a:lnTo>
                    <a:pt x="0" y="13716000"/>
                  </a:lnTo>
                  <a:close/>
                </a:path>
              </a:pathLst>
            </a:custGeom>
            <a:solidFill>
              <a:srgbClr val="141B4D"/>
            </a:solidFill>
          </p:spPr>
        </p:sp>
      </p:grpSp>
      <p:grpSp>
        <p:nvGrpSpPr>
          <p:cNvPr name="Group 4" id="4"/>
          <p:cNvGrpSpPr/>
          <p:nvPr/>
        </p:nvGrpSpPr>
        <p:grpSpPr>
          <a:xfrm rot="0">
            <a:off x="-2743200" y="6172200"/>
            <a:ext cx="8229600" cy="8229600"/>
            <a:chOff x="0" y="0"/>
            <a:chExt cx="10972800" cy="10972800"/>
          </a:xfrm>
        </p:grpSpPr>
        <p:sp>
          <p:nvSpPr>
            <p:cNvPr name="Freeform 5" id="5"/>
            <p:cNvSpPr/>
            <p:nvPr/>
          </p:nvSpPr>
          <p:spPr>
            <a:xfrm flipH="false" flipV="false" rot="0">
              <a:off x="0" y="0"/>
              <a:ext cx="10972800" cy="10972800"/>
            </a:xfrm>
            <a:custGeom>
              <a:avLst/>
              <a:gdLst/>
              <a:ahLst/>
              <a:cxnLst/>
              <a:rect r="r" b="b" t="t" l="l"/>
              <a:pathLst>
                <a:path h="10972800" w="10972800">
                  <a:moveTo>
                    <a:pt x="0" y="5486400"/>
                  </a:moveTo>
                  <a:cubicBezTo>
                    <a:pt x="0" y="2456307"/>
                    <a:pt x="2456307" y="0"/>
                    <a:pt x="5486400" y="0"/>
                  </a:cubicBezTo>
                  <a:cubicBezTo>
                    <a:pt x="8516493" y="0"/>
                    <a:pt x="10972800" y="2456307"/>
                    <a:pt x="10972800" y="5486400"/>
                  </a:cubicBezTo>
                  <a:cubicBezTo>
                    <a:pt x="10972800" y="8516493"/>
                    <a:pt x="8516493" y="10972800"/>
                    <a:pt x="5486400" y="10972800"/>
                  </a:cubicBezTo>
                  <a:cubicBezTo>
                    <a:pt x="2456307" y="10972800"/>
                    <a:pt x="0" y="8516493"/>
                    <a:pt x="0" y="5486400"/>
                  </a:cubicBezTo>
                  <a:close/>
                </a:path>
              </a:pathLst>
            </a:custGeom>
            <a:solidFill>
              <a:srgbClr val="1E2761"/>
            </a:solidFill>
          </p:spPr>
        </p:sp>
      </p:grpSp>
      <p:grpSp>
        <p:nvGrpSpPr>
          <p:cNvPr name="Group 6" id="6"/>
          <p:cNvGrpSpPr/>
          <p:nvPr/>
        </p:nvGrpSpPr>
        <p:grpSpPr>
          <a:xfrm rot="0">
            <a:off x="960120" y="822960"/>
            <a:ext cx="10972800" cy="1097280"/>
            <a:chOff x="0" y="0"/>
            <a:chExt cx="14630400" cy="1463040"/>
          </a:xfrm>
        </p:grpSpPr>
        <p:sp>
          <p:nvSpPr>
            <p:cNvPr name="Freeform 7" id="7"/>
            <p:cNvSpPr/>
            <p:nvPr/>
          </p:nvSpPr>
          <p:spPr>
            <a:xfrm flipH="false" flipV="false" rot="0">
              <a:off x="0" y="0"/>
              <a:ext cx="14630400" cy="1463040"/>
            </a:xfrm>
            <a:custGeom>
              <a:avLst/>
              <a:gdLst/>
              <a:ahLst/>
              <a:cxnLst/>
              <a:rect r="r" b="b" t="t" l="l"/>
              <a:pathLst>
                <a:path h="1463040" w="14630400">
                  <a:moveTo>
                    <a:pt x="0" y="0"/>
                  </a:moveTo>
                  <a:lnTo>
                    <a:pt x="14630400" y="0"/>
                  </a:lnTo>
                  <a:lnTo>
                    <a:pt x="14630400" y="1463040"/>
                  </a:lnTo>
                  <a:lnTo>
                    <a:pt x="0" y="1463040"/>
                  </a:lnTo>
                  <a:close/>
                </a:path>
              </a:pathLst>
            </a:custGeom>
            <a:blipFill>
              <a:blip r:embed="rId3">
                <a:alphaModFix amt="0"/>
              </a:blip>
              <a:stretch>
                <a:fillRect l="0" t="-144850" r="0" b="-144850"/>
              </a:stretch>
            </a:blipFill>
          </p:spPr>
        </p:sp>
        <p:sp>
          <p:nvSpPr>
            <p:cNvPr name="TextBox 8" id="8"/>
            <p:cNvSpPr txBox="true"/>
            <p:nvPr/>
          </p:nvSpPr>
          <p:spPr>
            <a:xfrm>
              <a:off x="0" y="-9525"/>
              <a:ext cx="14630400" cy="1472565"/>
            </a:xfrm>
            <a:prstGeom prst="rect">
              <a:avLst/>
            </a:prstGeom>
          </p:spPr>
          <p:txBody>
            <a:bodyPr anchor="ctr" rtlCol="false" tIns="0" lIns="0" bIns="0" rIns="0"/>
            <a:lstStyle/>
            <a:p>
              <a:pPr algn="l">
                <a:lnSpc>
                  <a:spcPts val="6120"/>
                </a:lnSpc>
              </a:pPr>
              <a:r>
                <a:rPr lang="en-US" sz="5100" b="true">
                  <a:solidFill>
                    <a:srgbClr val="FFFFFF"/>
                  </a:solidFill>
                  <a:latin typeface="Cambria Bold"/>
                  <a:ea typeface="Cambria Bold"/>
                  <a:cs typeface="Cambria Bold"/>
                  <a:sym typeface="Cambria Bold"/>
                </a:rPr>
                <a:t>Outcome</a:t>
              </a:r>
            </a:p>
          </p:txBody>
        </p:sp>
      </p:grpSp>
      <p:grpSp>
        <p:nvGrpSpPr>
          <p:cNvPr name="Group 9" id="9"/>
          <p:cNvGrpSpPr/>
          <p:nvPr/>
        </p:nvGrpSpPr>
        <p:grpSpPr>
          <a:xfrm rot="0">
            <a:off x="960120" y="2743200"/>
            <a:ext cx="891540" cy="891540"/>
            <a:chOff x="0" y="0"/>
            <a:chExt cx="1188720" cy="1188720"/>
          </a:xfrm>
        </p:grpSpPr>
        <p:sp>
          <p:nvSpPr>
            <p:cNvPr name="Freeform 10" id="10"/>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2E7D32"/>
            </a:solidFill>
          </p:spPr>
        </p:sp>
      </p:grpSp>
      <p:grpSp>
        <p:nvGrpSpPr>
          <p:cNvPr name="Group 11" id="11"/>
          <p:cNvGrpSpPr/>
          <p:nvPr/>
        </p:nvGrpSpPr>
        <p:grpSpPr>
          <a:xfrm rot="0">
            <a:off x="960120" y="2743200"/>
            <a:ext cx="891540" cy="891540"/>
            <a:chOff x="0" y="0"/>
            <a:chExt cx="1188720" cy="1188720"/>
          </a:xfrm>
        </p:grpSpPr>
        <p:sp>
          <p:nvSpPr>
            <p:cNvPr name="Freeform 12" id="12"/>
            <p:cNvSpPr/>
            <p:nvPr/>
          </p:nvSpPr>
          <p:spPr>
            <a:xfrm flipH="false" flipV="false" rot="0">
              <a:off x="0" y="0"/>
              <a:ext cx="1188720" cy="1188720"/>
            </a:xfrm>
            <a:custGeom>
              <a:avLst/>
              <a:gdLst/>
              <a:ahLst/>
              <a:cxnLst/>
              <a:rect r="r" b="b" t="t" l="l"/>
              <a:pathLst>
                <a:path h="1188720" w="1188720">
                  <a:moveTo>
                    <a:pt x="0" y="0"/>
                  </a:moveTo>
                  <a:lnTo>
                    <a:pt x="1188720" y="0"/>
                  </a:lnTo>
                  <a:lnTo>
                    <a:pt x="1188720" y="1188720"/>
                  </a:lnTo>
                  <a:lnTo>
                    <a:pt x="0" y="1188720"/>
                  </a:lnTo>
                  <a:close/>
                </a:path>
              </a:pathLst>
            </a:custGeom>
            <a:blipFill>
              <a:blip r:embed="rId3">
                <a:alphaModFix amt="0"/>
              </a:blip>
              <a:stretch>
                <a:fillRect l="-78303" t="0" r="-78303" b="0"/>
              </a:stretch>
            </a:blipFill>
          </p:spPr>
        </p:sp>
        <p:sp>
          <p:nvSpPr>
            <p:cNvPr name="TextBox 13" id="13"/>
            <p:cNvSpPr txBox="true"/>
            <p:nvPr/>
          </p:nvSpPr>
          <p:spPr>
            <a:xfrm>
              <a:off x="0" y="-66675"/>
              <a:ext cx="1188720" cy="1255395"/>
            </a:xfrm>
            <a:prstGeom prst="rect">
              <a:avLst/>
            </a:prstGeom>
          </p:spPr>
          <p:txBody>
            <a:bodyPr anchor="ctr" rtlCol="false" tIns="0" lIns="0" bIns="0" rIns="0"/>
            <a:lstStyle/>
            <a:p>
              <a:pPr algn="ctr">
                <a:lnSpc>
                  <a:spcPts val="3960"/>
                </a:lnSpc>
              </a:pPr>
              <a:r>
                <a:rPr lang="en-US" sz="3300" b="true">
                  <a:solidFill>
                    <a:srgbClr val="FFFFFF"/>
                  </a:solidFill>
                  <a:latin typeface="Calibri (MS) Bold"/>
                  <a:ea typeface="Calibri (MS) Bold"/>
                  <a:cs typeface="Calibri (MS) Bold"/>
                  <a:sym typeface="Calibri (MS) Bold"/>
                </a:rPr>
                <a:t>✓</a:t>
              </a:r>
            </a:p>
          </p:txBody>
        </p:sp>
      </p:grpSp>
      <p:grpSp>
        <p:nvGrpSpPr>
          <p:cNvPr name="Group 14" id="14"/>
          <p:cNvGrpSpPr/>
          <p:nvPr/>
        </p:nvGrpSpPr>
        <p:grpSpPr>
          <a:xfrm rot="0">
            <a:off x="2194560" y="2674620"/>
            <a:ext cx="14401800" cy="685800"/>
            <a:chOff x="0" y="0"/>
            <a:chExt cx="19202400" cy="914400"/>
          </a:xfrm>
        </p:grpSpPr>
        <p:sp>
          <p:nvSpPr>
            <p:cNvPr name="Freeform 15" id="15"/>
            <p:cNvSpPr/>
            <p:nvPr/>
          </p:nvSpPr>
          <p:spPr>
            <a:xfrm flipH="false" flipV="false" rot="0">
              <a:off x="0" y="0"/>
              <a:ext cx="19202400" cy="914400"/>
            </a:xfrm>
            <a:custGeom>
              <a:avLst/>
              <a:gdLst/>
              <a:ahLst/>
              <a:cxnLst/>
              <a:rect r="r" b="b" t="t" l="l"/>
              <a:pathLst>
                <a:path h="914400" w="19202400">
                  <a:moveTo>
                    <a:pt x="0" y="0"/>
                  </a:moveTo>
                  <a:lnTo>
                    <a:pt x="19202400" y="0"/>
                  </a:lnTo>
                  <a:lnTo>
                    <a:pt x="19202400" y="914400"/>
                  </a:lnTo>
                  <a:lnTo>
                    <a:pt x="0" y="914400"/>
                  </a:lnTo>
                  <a:close/>
                </a:path>
              </a:pathLst>
            </a:custGeom>
            <a:blipFill>
              <a:blip r:embed="rId3">
                <a:alphaModFix amt="0"/>
              </a:blip>
              <a:stretch>
                <a:fillRect l="0" t="-359185" r="0" b="-359185"/>
              </a:stretch>
            </a:blipFill>
          </p:spPr>
        </p:sp>
        <p:sp>
          <p:nvSpPr>
            <p:cNvPr name="TextBox 16" id="16"/>
            <p:cNvSpPr txBox="true"/>
            <p:nvPr/>
          </p:nvSpPr>
          <p:spPr>
            <a:xfrm>
              <a:off x="0" y="-57150"/>
              <a:ext cx="19202400" cy="971550"/>
            </a:xfrm>
            <a:prstGeom prst="rect">
              <a:avLst/>
            </a:prstGeom>
          </p:spPr>
          <p:txBody>
            <a:bodyPr anchor="ctr" rtlCol="false" tIns="0" lIns="0" bIns="0" rIns="0"/>
            <a:lstStyle/>
            <a:p>
              <a:pPr algn="l">
                <a:lnSpc>
                  <a:spcPts val="3240"/>
                </a:lnSpc>
              </a:pPr>
              <a:r>
                <a:rPr lang="en-US" sz="2700" b="true">
                  <a:solidFill>
                    <a:srgbClr val="FFFFFF"/>
                  </a:solidFill>
                  <a:latin typeface="Calibri (MS) Bold"/>
                  <a:ea typeface="Calibri (MS) Bold"/>
                  <a:cs typeface="Calibri (MS) Bold"/>
                  <a:sym typeface="Calibri (MS) Bold"/>
                </a:rPr>
                <a:t>Prospect CRUD Module Completed</a:t>
              </a:r>
            </a:p>
          </p:txBody>
        </p:sp>
      </p:grpSp>
      <p:grpSp>
        <p:nvGrpSpPr>
          <p:cNvPr name="Group 17" id="17"/>
          <p:cNvGrpSpPr/>
          <p:nvPr/>
        </p:nvGrpSpPr>
        <p:grpSpPr>
          <a:xfrm rot="0">
            <a:off x="2194560" y="3360420"/>
            <a:ext cx="14401800" cy="685800"/>
            <a:chOff x="0" y="0"/>
            <a:chExt cx="19202400" cy="914400"/>
          </a:xfrm>
        </p:grpSpPr>
        <p:sp>
          <p:nvSpPr>
            <p:cNvPr name="Freeform 18" id="18"/>
            <p:cNvSpPr/>
            <p:nvPr/>
          </p:nvSpPr>
          <p:spPr>
            <a:xfrm flipH="false" flipV="false" rot="0">
              <a:off x="0" y="0"/>
              <a:ext cx="19202400" cy="914400"/>
            </a:xfrm>
            <a:custGeom>
              <a:avLst/>
              <a:gdLst/>
              <a:ahLst/>
              <a:cxnLst/>
              <a:rect r="r" b="b" t="t" l="l"/>
              <a:pathLst>
                <a:path h="914400" w="19202400">
                  <a:moveTo>
                    <a:pt x="0" y="0"/>
                  </a:moveTo>
                  <a:lnTo>
                    <a:pt x="19202400" y="0"/>
                  </a:lnTo>
                  <a:lnTo>
                    <a:pt x="19202400" y="914400"/>
                  </a:lnTo>
                  <a:lnTo>
                    <a:pt x="0" y="914400"/>
                  </a:lnTo>
                  <a:close/>
                </a:path>
              </a:pathLst>
            </a:custGeom>
            <a:blipFill>
              <a:blip r:embed="rId3">
                <a:alphaModFix amt="0"/>
              </a:blip>
              <a:stretch>
                <a:fillRect l="0" t="-359185" r="0" b="-359185"/>
              </a:stretch>
            </a:blipFill>
          </p:spPr>
        </p:sp>
        <p:sp>
          <p:nvSpPr>
            <p:cNvPr name="TextBox 19" id="19"/>
            <p:cNvSpPr txBox="true"/>
            <p:nvPr/>
          </p:nvSpPr>
          <p:spPr>
            <a:xfrm>
              <a:off x="0" y="-47625"/>
              <a:ext cx="19202400" cy="962025"/>
            </a:xfrm>
            <a:prstGeom prst="rect">
              <a:avLst/>
            </a:prstGeom>
          </p:spPr>
          <p:txBody>
            <a:bodyPr anchor="ctr" rtlCol="false" tIns="0" lIns="0" bIns="0" rIns="0"/>
            <a:lstStyle/>
            <a:p>
              <a:pPr algn="l">
                <a:lnSpc>
                  <a:spcPts val="2340"/>
                </a:lnSpc>
              </a:pPr>
              <a:r>
                <a:rPr lang="en-US" sz="1950">
                  <a:solidFill>
                    <a:srgbClr val="AAB3E8"/>
                  </a:solidFill>
                  <a:latin typeface="Calibri (MS)"/>
                  <a:ea typeface="Calibri (MS)"/>
                  <a:cs typeface="Calibri (MS)"/>
                  <a:sym typeface="Calibri (MS)"/>
                </a:rPr>
                <a:t>All five endpoints implemented, integrated with PostgreSQL via SQLAlchemy.</a:t>
              </a:r>
            </a:p>
          </p:txBody>
        </p:sp>
      </p:grpSp>
      <p:grpSp>
        <p:nvGrpSpPr>
          <p:cNvPr name="Group 20" id="20"/>
          <p:cNvGrpSpPr/>
          <p:nvPr/>
        </p:nvGrpSpPr>
        <p:grpSpPr>
          <a:xfrm rot="0">
            <a:off x="960120" y="4594860"/>
            <a:ext cx="891540" cy="891540"/>
            <a:chOff x="0" y="0"/>
            <a:chExt cx="1188720" cy="1188720"/>
          </a:xfrm>
        </p:grpSpPr>
        <p:sp>
          <p:nvSpPr>
            <p:cNvPr name="Freeform 21" id="21"/>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2E7D32"/>
            </a:solidFill>
          </p:spPr>
        </p:sp>
      </p:grpSp>
      <p:grpSp>
        <p:nvGrpSpPr>
          <p:cNvPr name="Group 22" id="22"/>
          <p:cNvGrpSpPr/>
          <p:nvPr/>
        </p:nvGrpSpPr>
        <p:grpSpPr>
          <a:xfrm rot="0">
            <a:off x="960120" y="4594860"/>
            <a:ext cx="891540" cy="891540"/>
            <a:chOff x="0" y="0"/>
            <a:chExt cx="1188720" cy="1188720"/>
          </a:xfrm>
        </p:grpSpPr>
        <p:sp>
          <p:nvSpPr>
            <p:cNvPr name="Freeform 23" id="23"/>
            <p:cNvSpPr/>
            <p:nvPr/>
          </p:nvSpPr>
          <p:spPr>
            <a:xfrm flipH="false" flipV="false" rot="0">
              <a:off x="0" y="0"/>
              <a:ext cx="1188720" cy="1188720"/>
            </a:xfrm>
            <a:custGeom>
              <a:avLst/>
              <a:gdLst/>
              <a:ahLst/>
              <a:cxnLst/>
              <a:rect r="r" b="b" t="t" l="l"/>
              <a:pathLst>
                <a:path h="1188720" w="1188720">
                  <a:moveTo>
                    <a:pt x="0" y="0"/>
                  </a:moveTo>
                  <a:lnTo>
                    <a:pt x="1188720" y="0"/>
                  </a:lnTo>
                  <a:lnTo>
                    <a:pt x="1188720" y="1188720"/>
                  </a:lnTo>
                  <a:lnTo>
                    <a:pt x="0" y="1188720"/>
                  </a:lnTo>
                  <a:close/>
                </a:path>
              </a:pathLst>
            </a:custGeom>
            <a:blipFill>
              <a:blip r:embed="rId3">
                <a:alphaModFix amt="0"/>
              </a:blip>
              <a:stretch>
                <a:fillRect l="-78303" t="0" r="-78303" b="0"/>
              </a:stretch>
            </a:blipFill>
          </p:spPr>
        </p:sp>
        <p:sp>
          <p:nvSpPr>
            <p:cNvPr name="TextBox 24" id="24"/>
            <p:cNvSpPr txBox="true"/>
            <p:nvPr/>
          </p:nvSpPr>
          <p:spPr>
            <a:xfrm>
              <a:off x="0" y="-66675"/>
              <a:ext cx="1188720" cy="1255395"/>
            </a:xfrm>
            <a:prstGeom prst="rect">
              <a:avLst/>
            </a:prstGeom>
          </p:spPr>
          <p:txBody>
            <a:bodyPr anchor="ctr" rtlCol="false" tIns="0" lIns="0" bIns="0" rIns="0"/>
            <a:lstStyle/>
            <a:p>
              <a:pPr algn="ctr">
                <a:lnSpc>
                  <a:spcPts val="3960"/>
                </a:lnSpc>
              </a:pPr>
              <a:r>
                <a:rPr lang="en-US" sz="3300" b="true">
                  <a:solidFill>
                    <a:srgbClr val="FFFFFF"/>
                  </a:solidFill>
                  <a:latin typeface="Calibri (MS) Bold"/>
                  <a:ea typeface="Calibri (MS) Bold"/>
                  <a:cs typeface="Calibri (MS) Bold"/>
                  <a:sym typeface="Calibri (MS) Bold"/>
                </a:rPr>
                <a:t>✓</a:t>
              </a:r>
            </a:p>
          </p:txBody>
        </p:sp>
      </p:grpSp>
      <p:grpSp>
        <p:nvGrpSpPr>
          <p:cNvPr name="Group 25" id="25"/>
          <p:cNvGrpSpPr/>
          <p:nvPr/>
        </p:nvGrpSpPr>
        <p:grpSpPr>
          <a:xfrm rot="0">
            <a:off x="2194560" y="4526280"/>
            <a:ext cx="14401800" cy="685800"/>
            <a:chOff x="0" y="0"/>
            <a:chExt cx="19202400" cy="914400"/>
          </a:xfrm>
        </p:grpSpPr>
        <p:sp>
          <p:nvSpPr>
            <p:cNvPr name="Freeform 26" id="26"/>
            <p:cNvSpPr/>
            <p:nvPr/>
          </p:nvSpPr>
          <p:spPr>
            <a:xfrm flipH="false" flipV="false" rot="0">
              <a:off x="0" y="0"/>
              <a:ext cx="19202400" cy="914400"/>
            </a:xfrm>
            <a:custGeom>
              <a:avLst/>
              <a:gdLst/>
              <a:ahLst/>
              <a:cxnLst/>
              <a:rect r="r" b="b" t="t" l="l"/>
              <a:pathLst>
                <a:path h="914400" w="19202400">
                  <a:moveTo>
                    <a:pt x="0" y="0"/>
                  </a:moveTo>
                  <a:lnTo>
                    <a:pt x="19202400" y="0"/>
                  </a:lnTo>
                  <a:lnTo>
                    <a:pt x="19202400" y="914400"/>
                  </a:lnTo>
                  <a:lnTo>
                    <a:pt x="0" y="914400"/>
                  </a:lnTo>
                  <a:close/>
                </a:path>
              </a:pathLst>
            </a:custGeom>
            <a:blipFill>
              <a:blip r:embed="rId3">
                <a:alphaModFix amt="0"/>
              </a:blip>
              <a:stretch>
                <a:fillRect l="0" t="-359185" r="0" b="-359185"/>
              </a:stretch>
            </a:blipFill>
          </p:spPr>
        </p:sp>
        <p:sp>
          <p:nvSpPr>
            <p:cNvPr name="TextBox 27" id="27"/>
            <p:cNvSpPr txBox="true"/>
            <p:nvPr/>
          </p:nvSpPr>
          <p:spPr>
            <a:xfrm>
              <a:off x="0" y="-57150"/>
              <a:ext cx="19202400" cy="971550"/>
            </a:xfrm>
            <a:prstGeom prst="rect">
              <a:avLst/>
            </a:prstGeom>
          </p:spPr>
          <p:txBody>
            <a:bodyPr anchor="ctr" rtlCol="false" tIns="0" lIns="0" bIns="0" rIns="0"/>
            <a:lstStyle/>
            <a:p>
              <a:pPr algn="l">
                <a:lnSpc>
                  <a:spcPts val="3240"/>
                </a:lnSpc>
              </a:pPr>
              <a:r>
                <a:rPr lang="en-US" sz="2700" b="true">
                  <a:solidFill>
                    <a:srgbClr val="FFFFFF"/>
                  </a:solidFill>
                  <a:latin typeface="Calibri (MS) Bold"/>
                  <a:ea typeface="Calibri (MS) Bold"/>
                  <a:cs typeface="Calibri (MS) Bold"/>
                  <a:sym typeface="Calibri (MS) Bold"/>
                </a:rPr>
                <a:t>REST APIs Tested Successfully</a:t>
              </a:r>
            </a:p>
          </p:txBody>
        </p:sp>
      </p:grpSp>
      <p:grpSp>
        <p:nvGrpSpPr>
          <p:cNvPr name="Group 28" id="28"/>
          <p:cNvGrpSpPr/>
          <p:nvPr/>
        </p:nvGrpSpPr>
        <p:grpSpPr>
          <a:xfrm rot="0">
            <a:off x="2194560" y="5212080"/>
            <a:ext cx="14401800" cy="685800"/>
            <a:chOff x="0" y="0"/>
            <a:chExt cx="19202400" cy="914400"/>
          </a:xfrm>
        </p:grpSpPr>
        <p:sp>
          <p:nvSpPr>
            <p:cNvPr name="Freeform 29" id="29"/>
            <p:cNvSpPr/>
            <p:nvPr/>
          </p:nvSpPr>
          <p:spPr>
            <a:xfrm flipH="false" flipV="false" rot="0">
              <a:off x="0" y="0"/>
              <a:ext cx="19202400" cy="914400"/>
            </a:xfrm>
            <a:custGeom>
              <a:avLst/>
              <a:gdLst/>
              <a:ahLst/>
              <a:cxnLst/>
              <a:rect r="r" b="b" t="t" l="l"/>
              <a:pathLst>
                <a:path h="914400" w="19202400">
                  <a:moveTo>
                    <a:pt x="0" y="0"/>
                  </a:moveTo>
                  <a:lnTo>
                    <a:pt x="19202400" y="0"/>
                  </a:lnTo>
                  <a:lnTo>
                    <a:pt x="19202400" y="914400"/>
                  </a:lnTo>
                  <a:lnTo>
                    <a:pt x="0" y="914400"/>
                  </a:lnTo>
                  <a:close/>
                </a:path>
              </a:pathLst>
            </a:custGeom>
            <a:blipFill>
              <a:blip r:embed="rId3">
                <a:alphaModFix amt="0"/>
              </a:blip>
              <a:stretch>
                <a:fillRect l="0" t="-359185" r="0" b="-359185"/>
              </a:stretch>
            </a:blipFill>
          </p:spPr>
        </p:sp>
        <p:sp>
          <p:nvSpPr>
            <p:cNvPr name="TextBox 30" id="30"/>
            <p:cNvSpPr txBox="true"/>
            <p:nvPr/>
          </p:nvSpPr>
          <p:spPr>
            <a:xfrm>
              <a:off x="0" y="-47625"/>
              <a:ext cx="19202400" cy="962025"/>
            </a:xfrm>
            <a:prstGeom prst="rect">
              <a:avLst/>
            </a:prstGeom>
          </p:spPr>
          <p:txBody>
            <a:bodyPr anchor="ctr" rtlCol="false" tIns="0" lIns="0" bIns="0" rIns="0"/>
            <a:lstStyle/>
            <a:p>
              <a:pPr algn="l">
                <a:lnSpc>
                  <a:spcPts val="2340"/>
                </a:lnSpc>
              </a:pPr>
              <a:r>
                <a:rPr lang="en-US" sz="1950">
                  <a:solidFill>
                    <a:srgbClr val="AAB3E8"/>
                  </a:solidFill>
                  <a:latin typeface="Calibri (MS)"/>
                  <a:ea typeface="Calibri (MS)"/>
                  <a:cs typeface="Calibri (MS)"/>
                  <a:sym typeface="Calibri (MS)"/>
                </a:rPr>
                <a:t>Verified end-to-end through Swagger UI, including duplicate-email edge cases.</a:t>
              </a:r>
            </a:p>
          </p:txBody>
        </p:sp>
      </p:grpSp>
      <p:grpSp>
        <p:nvGrpSpPr>
          <p:cNvPr name="Group 31" id="31"/>
          <p:cNvGrpSpPr/>
          <p:nvPr/>
        </p:nvGrpSpPr>
        <p:grpSpPr>
          <a:xfrm rot="0">
            <a:off x="960120" y="6446520"/>
            <a:ext cx="891540" cy="891540"/>
            <a:chOff x="0" y="0"/>
            <a:chExt cx="1188720" cy="1188720"/>
          </a:xfrm>
        </p:grpSpPr>
        <p:sp>
          <p:nvSpPr>
            <p:cNvPr name="Freeform 32" id="32"/>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3D5AFE"/>
            </a:solidFill>
          </p:spPr>
        </p:sp>
      </p:grpSp>
      <p:grpSp>
        <p:nvGrpSpPr>
          <p:cNvPr name="Group 33" id="33"/>
          <p:cNvGrpSpPr/>
          <p:nvPr/>
        </p:nvGrpSpPr>
        <p:grpSpPr>
          <a:xfrm rot="0">
            <a:off x="960120" y="6446520"/>
            <a:ext cx="891540" cy="891540"/>
            <a:chOff x="0" y="0"/>
            <a:chExt cx="1188720" cy="1188720"/>
          </a:xfrm>
        </p:grpSpPr>
        <p:sp>
          <p:nvSpPr>
            <p:cNvPr name="Freeform 34" id="34"/>
            <p:cNvSpPr/>
            <p:nvPr/>
          </p:nvSpPr>
          <p:spPr>
            <a:xfrm flipH="false" flipV="false" rot="0">
              <a:off x="0" y="0"/>
              <a:ext cx="1188720" cy="1188720"/>
            </a:xfrm>
            <a:custGeom>
              <a:avLst/>
              <a:gdLst/>
              <a:ahLst/>
              <a:cxnLst/>
              <a:rect r="r" b="b" t="t" l="l"/>
              <a:pathLst>
                <a:path h="1188720" w="1188720">
                  <a:moveTo>
                    <a:pt x="0" y="0"/>
                  </a:moveTo>
                  <a:lnTo>
                    <a:pt x="1188720" y="0"/>
                  </a:lnTo>
                  <a:lnTo>
                    <a:pt x="1188720" y="1188720"/>
                  </a:lnTo>
                  <a:lnTo>
                    <a:pt x="0" y="1188720"/>
                  </a:lnTo>
                  <a:close/>
                </a:path>
              </a:pathLst>
            </a:custGeom>
            <a:blipFill>
              <a:blip r:embed="rId3">
                <a:alphaModFix amt="0"/>
              </a:blip>
              <a:stretch>
                <a:fillRect l="-78303" t="0" r="-78303" b="0"/>
              </a:stretch>
            </a:blipFill>
          </p:spPr>
        </p:sp>
        <p:sp>
          <p:nvSpPr>
            <p:cNvPr name="TextBox 35" id="35"/>
            <p:cNvSpPr txBox="true"/>
            <p:nvPr/>
          </p:nvSpPr>
          <p:spPr>
            <a:xfrm>
              <a:off x="0" y="-66675"/>
              <a:ext cx="1188720" cy="1255395"/>
            </a:xfrm>
            <a:prstGeom prst="rect">
              <a:avLst/>
            </a:prstGeom>
          </p:spPr>
          <p:txBody>
            <a:bodyPr anchor="ctr" rtlCol="false" tIns="0" lIns="0" bIns="0" rIns="0"/>
            <a:lstStyle/>
            <a:p>
              <a:pPr algn="ctr">
                <a:lnSpc>
                  <a:spcPts val="3960"/>
                </a:lnSpc>
              </a:pPr>
              <a:r>
                <a:rPr lang="en-US" sz="3300" b="true">
                  <a:solidFill>
                    <a:srgbClr val="FFFFFF"/>
                  </a:solidFill>
                  <a:latin typeface="Calibri (MS) Bold"/>
                  <a:ea typeface="Calibri (MS) Bold"/>
                  <a:cs typeface="Calibri (MS) Bold"/>
                  <a:sym typeface="Calibri (MS) Bold"/>
                </a:rPr>
                <a:t>→</a:t>
              </a:r>
            </a:p>
          </p:txBody>
        </p:sp>
      </p:grpSp>
      <p:grpSp>
        <p:nvGrpSpPr>
          <p:cNvPr name="Group 36" id="36"/>
          <p:cNvGrpSpPr/>
          <p:nvPr/>
        </p:nvGrpSpPr>
        <p:grpSpPr>
          <a:xfrm rot="0">
            <a:off x="2194560" y="6377940"/>
            <a:ext cx="14401800" cy="685800"/>
            <a:chOff x="0" y="0"/>
            <a:chExt cx="19202400" cy="914400"/>
          </a:xfrm>
        </p:grpSpPr>
        <p:sp>
          <p:nvSpPr>
            <p:cNvPr name="Freeform 37" id="37"/>
            <p:cNvSpPr/>
            <p:nvPr/>
          </p:nvSpPr>
          <p:spPr>
            <a:xfrm flipH="false" flipV="false" rot="0">
              <a:off x="0" y="0"/>
              <a:ext cx="19202400" cy="914400"/>
            </a:xfrm>
            <a:custGeom>
              <a:avLst/>
              <a:gdLst/>
              <a:ahLst/>
              <a:cxnLst/>
              <a:rect r="r" b="b" t="t" l="l"/>
              <a:pathLst>
                <a:path h="914400" w="19202400">
                  <a:moveTo>
                    <a:pt x="0" y="0"/>
                  </a:moveTo>
                  <a:lnTo>
                    <a:pt x="19202400" y="0"/>
                  </a:lnTo>
                  <a:lnTo>
                    <a:pt x="19202400" y="914400"/>
                  </a:lnTo>
                  <a:lnTo>
                    <a:pt x="0" y="914400"/>
                  </a:lnTo>
                  <a:close/>
                </a:path>
              </a:pathLst>
            </a:custGeom>
            <a:blipFill>
              <a:blip r:embed="rId3">
                <a:alphaModFix amt="0"/>
              </a:blip>
              <a:stretch>
                <a:fillRect l="0" t="-359185" r="0" b="-359185"/>
              </a:stretch>
            </a:blipFill>
          </p:spPr>
        </p:sp>
        <p:sp>
          <p:nvSpPr>
            <p:cNvPr name="TextBox 38" id="38"/>
            <p:cNvSpPr txBox="true"/>
            <p:nvPr/>
          </p:nvSpPr>
          <p:spPr>
            <a:xfrm>
              <a:off x="0" y="-57150"/>
              <a:ext cx="19202400" cy="971550"/>
            </a:xfrm>
            <a:prstGeom prst="rect">
              <a:avLst/>
            </a:prstGeom>
          </p:spPr>
          <p:txBody>
            <a:bodyPr anchor="ctr" rtlCol="false" tIns="0" lIns="0" bIns="0" rIns="0"/>
            <a:lstStyle/>
            <a:p>
              <a:pPr algn="l">
                <a:lnSpc>
                  <a:spcPts val="3240"/>
                </a:lnSpc>
              </a:pPr>
              <a:r>
                <a:rPr lang="en-US" sz="2700" b="true">
                  <a:solidFill>
                    <a:srgbClr val="FFFFFF"/>
                  </a:solidFill>
                  <a:latin typeface="Calibri (MS) Bold"/>
                  <a:ea typeface="Calibri (MS) Bold"/>
                  <a:cs typeface="Calibri (MS) Bold"/>
                  <a:sym typeface="Calibri (MS) Bold"/>
                </a:rPr>
                <a:t>Ready for Lead Import Module</a:t>
              </a:r>
            </a:p>
          </p:txBody>
        </p:sp>
      </p:grpSp>
      <p:grpSp>
        <p:nvGrpSpPr>
          <p:cNvPr name="Group 39" id="39"/>
          <p:cNvGrpSpPr/>
          <p:nvPr/>
        </p:nvGrpSpPr>
        <p:grpSpPr>
          <a:xfrm rot="0">
            <a:off x="2194560" y="7063740"/>
            <a:ext cx="14401800" cy="685800"/>
            <a:chOff x="0" y="0"/>
            <a:chExt cx="19202400" cy="914400"/>
          </a:xfrm>
        </p:grpSpPr>
        <p:sp>
          <p:nvSpPr>
            <p:cNvPr name="Freeform 40" id="40"/>
            <p:cNvSpPr/>
            <p:nvPr/>
          </p:nvSpPr>
          <p:spPr>
            <a:xfrm flipH="false" flipV="false" rot="0">
              <a:off x="0" y="0"/>
              <a:ext cx="19202400" cy="914400"/>
            </a:xfrm>
            <a:custGeom>
              <a:avLst/>
              <a:gdLst/>
              <a:ahLst/>
              <a:cxnLst/>
              <a:rect r="r" b="b" t="t" l="l"/>
              <a:pathLst>
                <a:path h="914400" w="19202400">
                  <a:moveTo>
                    <a:pt x="0" y="0"/>
                  </a:moveTo>
                  <a:lnTo>
                    <a:pt x="19202400" y="0"/>
                  </a:lnTo>
                  <a:lnTo>
                    <a:pt x="19202400" y="914400"/>
                  </a:lnTo>
                  <a:lnTo>
                    <a:pt x="0" y="914400"/>
                  </a:lnTo>
                  <a:close/>
                </a:path>
              </a:pathLst>
            </a:custGeom>
            <a:blipFill>
              <a:blip r:embed="rId3">
                <a:alphaModFix amt="0"/>
              </a:blip>
              <a:stretch>
                <a:fillRect l="0" t="-359185" r="0" b="-359185"/>
              </a:stretch>
            </a:blipFill>
          </p:spPr>
        </p:sp>
        <p:sp>
          <p:nvSpPr>
            <p:cNvPr name="TextBox 41" id="41"/>
            <p:cNvSpPr txBox="true"/>
            <p:nvPr/>
          </p:nvSpPr>
          <p:spPr>
            <a:xfrm>
              <a:off x="0" y="-47625"/>
              <a:ext cx="19202400" cy="962025"/>
            </a:xfrm>
            <a:prstGeom prst="rect">
              <a:avLst/>
            </a:prstGeom>
          </p:spPr>
          <p:txBody>
            <a:bodyPr anchor="ctr" rtlCol="false" tIns="0" lIns="0" bIns="0" rIns="0"/>
            <a:lstStyle/>
            <a:p>
              <a:pPr algn="l">
                <a:lnSpc>
                  <a:spcPts val="2340"/>
                </a:lnSpc>
              </a:pPr>
              <a:r>
                <a:rPr lang="en-US" sz="1950">
                  <a:solidFill>
                    <a:srgbClr val="AAB3E8"/>
                  </a:solidFill>
                  <a:latin typeface="Calibri (MS)"/>
                  <a:ea typeface="Calibri (MS)"/>
                  <a:cs typeface="Calibri (MS)"/>
                  <a:sym typeface="Calibri (MS)"/>
                </a:rPr>
                <a:t>CSV bulk upload with duplicate detection is built on top of this same foundation.</a:t>
              </a:r>
            </a:p>
          </p:txBody>
        </p:sp>
      </p:grpSp>
      <p:grpSp>
        <p:nvGrpSpPr>
          <p:cNvPr name="Group 42" id="42"/>
          <p:cNvGrpSpPr/>
          <p:nvPr/>
        </p:nvGrpSpPr>
        <p:grpSpPr>
          <a:xfrm rot="0">
            <a:off x="685800" y="9710928"/>
            <a:ext cx="9601200" cy="411480"/>
            <a:chOff x="0" y="0"/>
            <a:chExt cx="12801600" cy="548640"/>
          </a:xfrm>
        </p:grpSpPr>
        <p:sp>
          <p:nvSpPr>
            <p:cNvPr name="Freeform 43" id="43"/>
            <p:cNvSpPr/>
            <p:nvPr/>
          </p:nvSpPr>
          <p:spPr>
            <a:xfrm flipH="false" flipV="false" rot="0">
              <a:off x="0" y="0"/>
              <a:ext cx="12801600" cy="548640"/>
            </a:xfrm>
            <a:custGeom>
              <a:avLst/>
              <a:gdLst/>
              <a:ahLst/>
              <a:cxnLst/>
              <a:rect r="r" b="b" t="t" l="l"/>
              <a:pathLst>
                <a:path h="548640" w="12801600">
                  <a:moveTo>
                    <a:pt x="0" y="0"/>
                  </a:moveTo>
                  <a:lnTo>
                    <a:pt x="12801600" y="0"/>
                  </a:lnTo>
                  <a:lnTo>
                    <a:pt x="12801600" y="548640"/>
                  </a:lnTo>
                  <a:lnTo>
                    <a:pt x="0" y="548640"/>
                  </a:lnTo>
                  <a:close/>
                </a:path>
              </a:pathLst>
            </a:custGeom>
            <a:blipFill>
              <a:blip r:embed="rId3">
                <a:alphaModFix amt="0"/>
              </a:blip>
              <a:stretch>
                <a:fillRect l="0" t="-404650" r="0" b="-404650"/>
              </a:stretch>
            </a:blipFill>
          </p:spPr>
        </p:sp>
        <p:sp>
          <p:nvSpPr>
            <p:cNvPr name="TextBox 44" id="44"/>
            <p:cNvSpPr txBox="true"/>
            <p:nvPr/>
          </p:nvSpPr>
          <p:spPr>
            <a:xfrm>
              <a:off x="0" y="-38100"/>
              <a:ext cx="12801600" cy="586740"/>
            </a:xfrm>
            <a:prstGeom prst="rect">
              <a:avLst/>
            </a:prstGeom>
          </p:spPr>
          <p:txBody>
            <a:bodyPr anchor="ctr" rtlCol="false" tIns="0" lIns="0" bIns="0" rIns="0"/>
            <a:lstStyle/>
            <a:p>
              <a:pPr algn="l">
                <a:lnSpc>
                  <a:spcPts val="1800"/>
                </a:lnSpc>
              </a:pPr>
              <a:r>
                <a:rPr lang="en-US" sz="1500">
                  <a:solidFill>
                    <a:srgbClr val="8B93C9"/>
                  </a:solidFill>
                  <a:latin typeface="Calibri (MS)"/>
                  <a:ea typeface="Calibri (MS)"/>
                  <a:cs typeface="Calibri (MS)"/>
                  <a:sym typeface="Calibri (MS)"/>
                </a:rPr>
                <a:t>SalesGenie  |  Module 1 – Prospect CRUD API</a:t>
              </a:r>
            </a:p>
          </p:txBody>
        </p:sp>
      </p:grpSp>
      <p:grpSp>
        <p:nvGrpSpPr>
          <p:cNvPr name="Group 45" id="45"/>
          <p:cNvGrpSpPr/>
          <p:nvPr/>
        </p:nvGrpSpPr>
        <p:grpSpPr>
          <a:xfrm rot="0">
            <a:off x="16911828" y="9710928"/>
            <a:ext cx="685800" cy="411480"/>
            <a:chOff x="0" y="0"/>
            <a:chExt cx="914400" cy="548640"/>
          </a:xfrm>
        </p:grpSpPr>
        <p:sp>
          <p:nvSpPr>
            <p:cNvPr name="Freeform 46" id="4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47" id="47"/>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8B93C9"/>
                  </a:solidFill>
                  <a:latin typeface="Calibri (MS)"/>
                  <a:ea typeface="Calibri (MS)"/>
                  <a:cs typeface="Calibri (MS)"/>
                  <a:sym typeface="Calibri (MS)"/>
                </a:rPr>
                <a:t>10</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41B4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3428" cy="10287000"/>
            <a:chOff x="0" y="0"/>
            <a:chExt cx="24377904" cy="13716000"/>
          </a:xfrm>
        </p:grpSpPr>
        <p:sp>
          <p:nvSpPr>
            <p:cNvPr name="Freeform 3" id="3"/>
            <p:cNvSpPr/>
            <p:nvPr/>
          </p:nvSpPr>
          <p:spPr>
            <a:xfrm flipH="false" flipV="false" rot="0">
              <a:off x="0" y="0"/>
              <a:ext cx="24377904" cy="13716000"/>
            </a:xfrm>
            <a:custGeom>
              <a:avLst/>
              <a:gdLst/>
              <a:ahLst/>
              <a:cxnLst/>
              <a:rect r="r" b="b" t="t" l="l"/>
              <a:pathLst>
                <a:path h="13716000" w="24377904">
                  <a:moveTo>
                    <a:pt x="0" y="0"/>
                  </a:moveTo>
                  <a:lnTo>
                    <a:pt x="24377904" y="0"/>
                  </a:lnTo>
                  <a:lnTo>
                    <a:pt x="24377904" y="13716000"/>
                  </a:lnTo>
                  <a:lnTo>
                    <a:pt x="0" y="13716000"/>
                  </a:lnTo>
                  <a:close/>
                </a:path>
              </a:pathLst>
            </a:custGeom>
            <a:solidFill>
              <a:srgbClr val="141B4D"/>
            </a:solidFill>
          </p:spPr>
        </p:sp>
      </p:grpSp>
      <p:grpSp>
        <p:nvGrpSpPr>
          <p:cNvPr name="Group 4" id="4"/>
          <p:cNvGrpSpPr/>
          <p:nvPr/>
        </p:nvGrpSpPr>
        <p:grpSpPr>
          <a:xfrm rot="0">
            <a:off x="13167360" y="-3017520"/>
            <a:ext cx="8229600" cy="8229600"/>
            <a:chOff x="0" y="0"/>
            <a:chExt cx="10972800" cy="10972800"/>
          </a:xfrm>
        </p:grpSpPr>
        <p:sp>
          <p:nvSpPr>
            <p:cNvPr name="Freeform 5" id="5"/>
            <p:cNvSpPr/>
            <p:nvPr/>
          </p:nvSpPr>
          <p:spPr>
            <a:xfrm flipH="false" flipV="false" rot="0">
              <a:off x="0" y="0"/>
              <a:ext cx="10972800" cy="10972800"/>
            </a:xfrm>
            <a:custGeom>
              <a:avLst/>
              <a:gdLst/>
              <a:ahLst/>
              <a:cxnLst/>
              <a:rect r="r" b="b" t="t" l="l"/>
              <a:pathLst>
                <a:path h="10972800" w="10972800">
                  <a:moveTo>
                    <a:pt x="0" y="5486400"/>
                  </a:moveTo>
                  <a:cubicBezTo>
                    <a:pt x="0" y="2456307"/>
                    <a:pt x="2456307" y="0"/>
                    <a:pt x="5486400" y="0"/>
                  </a:cubicBezTo>
                  <a:cubicBezTo>
                    <a:pt x="8516493" y="0"/>
                    <a:pt x="10972800" y="2456307"/>
                    <a:pt x="10972800" y="5486400"/>
                  </a:cubicBezTo>
                  <a:cubicBezTo>
                    <a:pt x="10972800" y="8516493"/>
                    <a:pt x="8516493" y="10972800"/>
                    <a:pt x="5486400" y="10972800"/>
                  </a:cubicBezTo>
                  <a:cubicBezTo>
                    <a:pt x="2456307" y="10972800"/>
                    <a:pt x="0" y="8516493"/>
                    <a:pt x="0" y="5486400"/>
                  </a:cubicBezTo>
                  <a:close/>
                </a:path>
              </a:pathLst>
            </a:custGeom>
            <a:solidFill>
              <a:srgbClr val="1E2761"/>
            </a:solidFill>
          </p:spPr>
        </p:sp>
      </p:grpSp>
      <p:grpSp>
        <p:nvGrpSpPr>
          <p:cNvPr name="Group 6" id="6"/>
          <p:cNvGrpSpPr/>
          <p:nvPr/>
        </p:nvGrpSpPr>
        <p:grpSpPr>
          <a:xfrm rot="0">
            <a:off x="960120" y="3977640"/>
            <a:ext cx="13716000" cy="1508760"/>
            <a:chOff x="0" y="0"/>
            <a:chExt cx="18288000" cy="2011680"/>
          </a:xfrm>
        </p:grpSpPr>
        <p:sp>
          <p:nvSpPr>
            <p:cNvPr name="Freeform 7" id="7"/>
            <p:cNvSpPr/>
            <p:nvPr/>
          </p:nvSpPr>
          <p:spPr>
            <a:xfrm flipH="false" flipV="false" rot="0">
              <a:off x="0" y="0"/>
              <a:ext cx="18288000" cy="2011680"/>
            </a:xfrm>
            <a:custGeom>
              <a:avLst/>
              <a:gdLst/>
              <a:ahLst/>
              <a:cxnLst/>
              <a:rect r="r" b="b" t="t" l="l"/>
              <a:pathLst>
                <a:path h="2011680" w="18288000">
                  <a:moveTo>
                    <a:pt x="0" y="0"/>
                  </a:moveTo>
                  <a:lnTo>
                    <a:pt x="18288000" y="0"/>
                  </a:lnTo>
                  <a:lnTo>
                    <a:pt x="18288000" y="2011680"/>
                  </a:lnTo>
                  <a:lnTo>
                    <a:pt x="0" y="2011680"/>
                  </a:lnTo>
                  <a:close/>
                </a:path>
              </a:pathLst>
            </a:custGeom>
            <a:blipFill>
              <a:blip r:embed="rId3">
                <a:alphaModFix amt="0"/>
              </a:blip>
              <a:stretch>
                <a:fillRect l="0" t="-127136" r="0" b="-127136"/>
              </a:stretch>
            </a:blipFill>
          </p:spPr>
        </p:sp>
        <p:sp>
          <p:nvSpPr>
            <p:cNvPr name="TextBox 8" id="8"/>
            <p:cNvSpPr txBox="true"/>
            <p:nvPr/>
          </p:nvSpPr>
          <p:spPr>
            <a:xfrm>
              <a:off x="0" y="-19050"/>
              <a:ext cx="18288000" cy="2030730"/>
            </a:xfrm>
            <a:prstGeom prst="rect">
              <a:avLst/>
            </a:prstGeom>
          </p:spPr>
          <p:txBody>
            <a:bodyPr anchor="ctr" rtlCol="false" tIns="0" lIns="0" bIns="0" rIns="0"/>
            <a:lstStyle/>
            <a:p>
              <a:pPr algn="l">
                <a:lnSpc>
                  <a:spcPts val="7920"/>
                </a:lnSpc>
              </a:pPr>
              <a:r>
                <a:rPr lang="en-US" sz="6600" b="true">
                  <a:solidFill>
                    <a:srgbClr val="FFFFFF"/>
                  </a:solidFill>
                  <a:latin typeface="Cambria Bold"/>
                  <a:ea typeface="Cambria Bold"/>
                  <a:cs typeface="Cambria Bold"/>
                  <a:sym typeface="Cambria Bold"/>
                </a:rPr>
                <a:t>Thank You</a:t>
              </a:r>
            </a:p>
          </p:txBody>
        </p:sp>
      </p:grpSp>
      <p:grpSp>
        <p:nvGrpSpPr>
          <p:cNvPr name="Group 9" id="9"/>
          <p:cNvGrpSpPr/>
          <p:nvPr/>
        </p:nvGrpSpPr>
        <p:grpSpPr>
          <a:xfrm rot="0">
            <a:off x="936307" y="6422708"/>
            <a:ext cx="3065145" cy="47625"/>
            <a:chOff x="0" y="0"/>
            <a:chExt cx="4086860" cy="63500"/>
          </a:xfrm>
        </p:grpSpPr>
        <p:sp>
          <p:nvSpPr>
            <p:cNvPr name="Freeform 10" id="10"/>
            <p:cNvSpPr/>
            <p:nvPr/>
          </p:nvSpPr>
          <p:spPr>
            <a:xfrm flipH="false" flipV="false" rot="0">
              <a:off x="0" y="0"/>
              <a:ext cx="4086860" cy="63500"/>
            </a:xfrm>
            <a:custGeom>
              <a:avLst/>
              <a:gdLst/>
              <a:ahLst/>
              <a:cxnLst/>
              <a:rect r="r" b="b" t="t" l="l"/>
              <a:pathLst>
                <a:path h="63500" w="4086860">
                  <a:moveTo>
                    <a:pt x="0" y="0"/>
                  </a:moveTo>
                  <a:lnTo>
                    <a:pt x="4086860" y="63500"/>
                  </a:lnTo>
                </a:path>
              </a:pathLst>
            </a:custGeom>
            <a:blipFill>
              <a:blip r:embed="rId3">
                <a:alphaModFix amt="0"/>
              </a:blip>
              <a:stretch>
                <a:fillRect l="0" t="-1204057" r="0" b="-1204057"/>
              </a:stretch>
            </a:blipFill>
            <a:ln w="47625" cap="sq">
              <a:solidFill>
                <a:srgbClr val="3D5AFE"/>
              </a:solidFill>
              <a:prstDash val="solid"/>
              <a:miter/>
            </a:ln>
          </p:spPr>
        </p:sp>
      </p:grpSp>
      <p:grpSp>
        <p:nvGrpSpPr>
          <p:cNvPr name="Group 11" id="11"/>
          <p:cNvGrpSpPr/>
          <p:nvPr/>
        </p:nvGrpSpPr>
        <p:grpSpPr>
          <a:xfrm rot="0">
            <a:off x="960120" y="6789420"/>
            <a:ext cx="10972800" cy="548640"/>
            <a:chOff x="0" y="0"/>
            <a:chExt cx="14630400" cy="731520"/>
          </a:xfrm>
        </p:grpSpPr>
        <p:sp>
          <p:nvSpPr>
            <p:cNvPr name="Freeform 12" id="12"/>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3">
                <a:alphaModFix amt="0"/>
              </a:blip>
              <a:stretch>
                <a:fillRect l="0" t="-339700" r="0" b="-339700"/>
              </a:stretch>
            </a:blipFill>
          </p:spPr>
        </p:sp>
        <p:sp>
          <p:nvSpPr>
            <p:cNvPr name="TextBox 13" id="13"/>
            <p:cNvSpPr txBox="true"/>
            <p:nvPr/>
          </p:nvSpPr>
          <p:spPr>
            <a:xfrm>
              <a:off x="0" y="-47625"/>
              <a:ext cx="14630400" cy="779145"/>
            </a:xfrm>
            <a:prstGeom prst="rect">
              <a:avLst/>
            </a:prstGeom>
          </p:spPr>
          <p:txBody>
            <a:bodyPr anchor="ctr" rtlCol="false" tIns="0" lIns="0" bIns="0" rIns="0"/>
            <a:lstStyle/>
            <a:p>
              <a:pPr algn="l">
                <a:lnSpc>
                  <a:spcPts val="2340"/>
                </a:lnSpc>
              </a:pPr>
              <a:r>
                <a:rPr lang="en-US" sz="1950">
                  <a:solidFill>
                    <a:srgbClr val="8B93C9"/>
                  </a:solidFill>
                  <a:latin typeface="Calibri (MS)"/>
                  <a:ea typeface="Calibri (MS)"/>
                  <a:cs typeface="Calibri (MS)"/>
                  <a:sym typeface="Calibri (MS)"/>
                </a:rPr>
                <a:t>Backend Developer  ·  SalesGenie AI</a:t>
              </a:r>
            </a:p>
          </p:txBody>
        </p:sp>
      </p:grpSp>
      <p:grpSp>
        <p:nvGrpSpPr>
          <p:cNvPr name="Group 14" id="14"/>
          <p:cNvGrpSpPr/>
          <p:nvPr/>
        </p:nvGrpSpPr>
        <p:grpSpPr>
          <a:xfrm rot="0">
            <a:off x="685800" y="9710928"/>
            <a:ext cx="9601200" cy="411480"/>
            <a:chOff x="0" y="0"/>
            <a:chExt cx="12801600" cy="548640"/>
          </a:xfrm>
        </p:grpSpPr>
        <p:sp>
          <p:nvSpPr>
            <p:cNvPr name="Freeform 15" id="15"/>
            <p:cNvSpPr/>
            <p:nvPr/>
          </p:nvSpPr>
          <p:spPr>
            <a:xfrm flipH="false" flipV="false" rot="0">
              <a:off x="0" y="0"/>
              <a:ext cx="12801600" cy="548640"/>
            </a:xfrm>
            <a:custGeom>
              <a:avLst/>
              <a:gdLst/>
              <a:ahLst/>
              <a:cxnLst/>
              <a:rect r="r" b="b" t="t" l="l"/>
              <a:pathLst>
                <a:path h="548640" w="12801600">
                  <a:moveTo>
                    <a:pt x="0" y="0"/>
                  </a:moveTo>
                  <a:lnTo>
                    <a:pt x="12801600" y="0"/>
                  </a:lnTo>
                  <a:lnTo>
                    <a:pt x="12801600" y="548640"/>
                  </a:lnTo>
                  <a:lnTo>
                    <a:pt x="0" y="548640"/>
                  </a:lnTo>
                  <a:close/>
                </a:path>
              </a:pathLst>
            </a:custGeom>
            <a:blipFill>
              <a:blip r:embed="rId3">
                <a:alphaModFix amt="0"/>
              </a:blip>
              <a:stretch>
                <a:fillRect l="0" t="-404650" r="0" b="-404650"/>
              </a:stretch>
            </a:blipFill>
          </p:spPr>
        </p:sp>
        <p:sp>
          <p:nvSpPr>
            <p:cNvPr name="TextBox 16" id="16"/>
            <p:cNvSpPr txBox="true"/>
            <p:nvPr/>
          </p:nvSpPr>
          <p:spPr>
            <a:xfrm>
              <a:off x="0" y="-38100"/>
              <a:ext cx="12801600" cy="586740"/>
            </a:xfrm>
            <a:prstGeom prst="rect">
              <a:avLst/>
            </a:prstGeom>
          </p:spPr>
          <p:txBody>
            <a:bodyPr anchor="ctr" rtlCol="false" tIns="0" lIns="0" bIns="0" rIns="0"/>
            <a:lstStyle/>
            <a:p>
              <a:pPr algn="l">
                <a:lnSpc>
                  <a:spcPts val="1800"/>
                </a:lnSpc>
              </a:pPr>
              <a:r>
                <a:rPr lang="en-US" sz="1500">
                  <a:solidFill>
                    <a:srgbClr val="8B93C9"/>
                  </a:solidFill>
                  <a:latin typeface="Calibri (MS)"/>
                  <a:ea typeface="Calibri (MS)"/>
                  <a:cs typeface="Calibri (MS)"/>
                  <a:sym typeface="Calibri (MS)"/>
                </a:rPr>
                <a:t>SalesGenie  |  Module 1 – Prospect CRUD API</a:t>
              </a:r>
            </a:p>
          </p:txBody>
        </p:sp>
      </p:grpSp>
      <p:grpSp>
        <p:nvGrpSpPr>
          <p:cNvPr name="Group 17" id="17"/>
          <p:cNvGrpSpPr/>
          <p:nvPr/>
        </p:nvGrpSpPr>
        <p:grpSpPr>
          <a:xfrm rot="0">
            <a:off x="16911828" y="9710928"/>
            <a:ext cx="685800" cy="411480"/>
            <a:chOff x="0" y="0"/>
            <a:chExt cx="914400" cy="548640"/>
          </a:xfrm>
        </p:grpSpPr>
        <p:sp>
          <p:nvSpPr>
            <p:cNvPr name="Freeform 18" id="1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9" id="19"/>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8B93C9"/>
                  </a:solidFill>
                  <a:latin typeface="Calibri (MS)"/>
                  <a:ea typeface="Calibri (MS)"/>
                  <a:cs typeface="Calibri (MS)"/>
                  <a:sym typeface="Calibri (MS)"/>
                </a:rPr>
                <a:t>11</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DAHQLMsNAaU</dc:identifier>
  <dcterms:modified xsi:type="dcterms:W3CDTF">2011-08-01T06:04:30Z</dcterms:modified>
  <cp:revision>1</cp:revision>
  <dc:title>SalesGenie_Day7_Module1_CRUD.pptx</dc:title>
</cp:coreProperties>
</file>